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AND STATUS
This replaces the previous recommendation to move Nexus into Geo Rep-managed AWS. The current decision is whether to retain Meridian-led development and operational control in a dedicated Johannesburg-based cloud environment. Meridian reports that a new dedicated account has been created. The platform name in the latest message is ambiguous; an Azure-versus-Google Cloud clarification has been requested. This presentation therefore uses a platform-neutral Johannesburg logical architecture. It does not certify resource locations, production migration, access configuration or recovery readiness. A cloud account itself is not a region setting. No cloud infrastructure is changed by creating this presentation.
BUSINESS CASE
Meridian is a sales and merchandising company. Its primary outcomes are effective store visits, reliable ordering, shelf availability, evidence of execution and client trust. Approximately 1,000 users includes field staff, managers, directors, BI, administrators and authorised external client viewers; it does not mean 1,000 simultaneous users or paid Geo Rep seats. Establish each role count before licensing and load estimates. The recommendation is to own the differentiated product and use managed services, not to build every component or operate physical infrastructure. Ownership benefits depend on Meridian-controlled repositories, employment/contractor IP terms, data rights, corporate billing and tested exports. There is no claim of guaranteed savings or faster delivery.
NEXUS AND ITS DATA
Nexus includes Insights, Stock Fix, Time &amp; Attendance, Call Cycle, orders, automation, Resources and staff chat. Client access is limited to explicitly authorised dashboards; staff chat must not be opened to external clients. The architecture separates operational data, analytical history and files. Retailer sell-out and inventory used by Insights are not Geo Rep rep-captured order transactions. Preserve source dates, product/store identifiers, history and reconciliation. Catalyst is an external AWS supplier per Meridian's brief; its API remains pending. Its exact infrastructure and commercial terms have not been independently reviewed. Geo Rep remains an external AWS service supplier per the brief. A supplier using AWS does not by itself require Nexus to use the same cloud; assess secure API access, transfer charges and latency.
JOHANNESBURG IMPLEMENTATION CHECK
Azure South Africa North is Johannesburg [1]. Cloud Firestore supports africa-south1, Johannesburg; a provisioned database location cannot simply be edited [2]. These are alternative implementation references, not two approved hosting platforms. Nexus's existing Firebase integration is not automatically converted by opening an Azure account: identity/claims, Firestore queries and rules, Storage permissions, functions, workers, schedules and data pipelines require a separately scoped migration and equivalent controls. If the new environment is Google Cloud/Firebase, validate service-by-service locations and undertake a controlled data/application cutover as needed. Confirm managed-service availability, backup placement, identity processing and external AI/API flows before a residency statement. Select implementation services only after platform confirmation.
FIELD AND FUTURE CAPABILITY
Geo Rep publicly describes field sales, tasks, forms and offline capability [3]; the supplied pitch proposes white-labelling, hosting, support and Catalyst replacement. Those are supplier claims and proposals, not verified entitlements or delivery guarantees. Retain proven existing field tools while piloting Nexus mobile ordering. Require offline drafts, reliable queues, explicit acceptance, duplicate prevention and permission enforcement. Extend existing AI carefully; image recognition and WhatsApp are roadmap items, not asserted completed capabilities. Downstream fulfilment and task write-back require authorised APIs and acceptance testing; inbound arrows do not certify those permissions. Do not put upstream supplier availability in every dashboard request's critical path: ingest and validate data with visible freshness.
REFERENCES (accessed 9 September 2026)
[1] Azure region list: https://learn.microsoft.com/en-us/azure/reliability/regions-list
[2] Firestore locations: https://firebase.google.com/docs/firestore/locations
[3] Geo Rep product features: https://georep.com/product-features/
Meridian-provided Geo_Rep_Meridian_Partnership.pptx, slides 4, 6, 15, 16, 17 and 20. Supplier claims including certification, SSO, API coverage, timeline and service continuity require evidence and contractual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METHOD
This is a strategic pre-control assessment of in-house expansion, not a penetration test, infrastructure audit or assertion that every listed control is absent. High means a plausible control failure could materially affect field operations, commercially sensitive client data, payroll/attendance evidence, order integrity or service continuity. Medium is a proposed residual target after controls are implemented and tested, not an automatic downgrade. A formal risk workshop should score likelihood and impact using Meridian's risk appetite, evidence and named accountable owners. Legal and security specialists should validate obligations and contracts.
1. KEY-PERSON DEPENDENCY
A developer or administrator absence, departure or unavailable credentials must not stop releases or recovery. Require at least two authorised people who can deploy and restore, documented setup and incident runbooks, corporate-owned repositories/accounts, peer review and regular handover rehearsals. Do not count one person using AI assistance as a second operational resource. The Director owns product and architectural accountability; that does not mean the Director alone provides engineering, QA and round-the-clock cover. Agree service hours and escalation; a two-person team alone does not establish sustainable 24/7 support.
2. CLIENT / STAFF DATA
Risks include cross-client report access, excessive administrator permissions, leaked credentials and inappropriate use of location or photographs. Test client/store/resource authorisation at the server and data layer, including exports, jobs, chat-derived tasks and AI retrieval. Require privileged MFA, prompt offboarding, narrowly scoped workload identities, protected secrets, log access review, retention schedules and device-loss procedures. Client staff should only see explicitly authorised data. Local hosting is not automatic POPIA compliance: the Information Regulator describes security safeguards and continuing responsibilities around compromises [5]. Review operator terms, notices, purposes, sensitive-data handling and external processing with Meridian's Information Officer.
3. CONTINUITY AND MIGRATION
A new account alone is not a tested production environment. Segregate development/test/production, review deployments, run automated access/data-contract/UI tests, monitor job failures and detect silent stale data. Backups need protected versions and a demonstrated restore; replicated production data is not a substitute for recovery from accidental deletion or corruption. Set business-approved recovery time and data-loss objectives, test a regional-outage scenario and ensure the chosen backup/failover placement is permitted by Meridian's residency policy. Multiple zones inside one region do not remove a whole-region risk. This Johannesburg design does not claim a second recovery region has been approved. Until regional recovery is proven, maintain a documented field/manual contingency. Gate cutover on identity, permissions, data totals, schedules, worker completion and rollback tests.
4. FIELD RELIABILITY
Field network quality, battery, device storage and upload size may dominate user experience. Local hosting does not prove the application is fast. Pilot representative devices and weak networks, app restarts and a full offline shift. Test durable capture, replay, conflict resolution and duplicate-safe order submission; a captured draft must not be shown as a fulfilled or accepted order. Validate prices/products at submission. Measure p95 response time against an agreed device/network profile and load-test expected simultaneous use, not the total registered-user count. Confirm mobile security policies and device support before scale.
5. SUPPLIER AND DATA DEPENDENCY
In-house code does not remove Geo Rep, Catalyst, retailer access or SharePoint dependency. Require contractually defined fields, export rights, API limits, change notice, incident escalation and source cadence. Monitor and reconcile feeds, retain raw lineage and distinguish order capture from retailer sales. Catalyst API access is pending. Replace retailer connectors only after authorised access, parallel-run totals, replay/recovery and operational ownership are accepted. No verified supplier performance or SLA comparison is available.
6. AI AND COSTS
Treat retrieved documents, images and chat as untrusted content, never as instructions granting access or initiating orders. Enforce user/client permissions before retrieval, redact unnecessary personal data, prohibit secret disclosure, log authorised tool use and obtain human confirmation for consequential tasks, orders and external messages. Preserve the current Gemini Flash constraint unless Meridian changes it; verify the selected model's service availability and data-processing terms separately. IR needs retailer/SKU validation data, accuracy thresholds and human review. WhatsApp requires verified identity, permitted messaging, retention and escalation. Cost exposure includes analytics scans, chat listeners, photo retention, failed retries, token use and messaging. Budget alerts alone should not be treated as enforced hard spending limits.
SOURCES
[4] Microsoft shared-responsibility guidance: https://learn.microsoft.com/en-us/azure/security/fundamentals/shared-responsibility
[5] Information Regulator POPIA guidance: https://inforegulator.org.za/popia/
These sources inform the control model; risk ratings, proposed owners and acceptance tests are Meridian-specific recommendations rather than external certifications.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RECOMMENDATION
Keep Meridian Nexus product ownership, code, data rights, cloud billing, domains and release acceptance under Meridian control. Prefer Meridian-led development with bounded specialist support for cloud operations, security and recovery. This is not a recommendation for a single developer to build and support every feature, nor for replacing useful suppliers immediately. In-house-only delivery is viable only with properly funded capacity and coverage. Geo Rep-led delivery remains an alternative if internal staffing or operational acceptance fails and the supplier can meet contractual, technical and exit requirements. The assessment is qualitative; no supplier quote, independently verified performance benchmark or audited SLA supports a cheapest/fastest claim.
WHAT TO APPROVE
CEO/MD: operating model, executive sponsor, budget authority and risk appetite. Software and AI Director: roadmap, architecture, release acceptance, supplier boundaries and measurable outcomes. Fund a named engineering deputy plus agreed QA and cloud/security support. IT/security: privileged access, monitoring, incident response and restore ownership. Field Ops and BI: field acceptance, data definitions and reconciliation. Finance: full-cost model and monthly review. Information Officer: privacy, operator arrangements, retention and cross-border processing review. Meridian-owned accounts need corporate recovery contacts and separately controlled emergency access, not personal-account dependence.
COST METHOD
The headline is a constant-monthly illustration, not a vendor quotation or a forecast bill. Full 36-month total cost is once-off setup/migration/testing plus the sum of actual monthly costs for internal staff, contracted support, cloud environments, storage/backups, transfer, software licences, external API/retailer feeds, devices and connectivity, AI tokens, image analysis, messaging, training and exit. Use the monthly shorthand only after selecting a representative operating profile; a final model must allow growth, annual increases, peak workloads and tax/FX. Do not double-count existing salaries as both cash outlay and opportunity cost: show incremental cash spend and fully loaded economic cost separately. Unchanged Geo Rep/Catalyst fees remain in both options unless a verified commercial agreement removes them. Check whether a managed vendor fee already includes cloud hosting and support.
BUDGET INPUTS NEEDED
Obtain internal loaded labour rates and available capacity; support coverage/retainer; cloud service and region selections; daily active and concurrent users; visits/orders per day; photo count, size and retention; analytics history/scans; API quotas and transfer; AI questions/tokens; image-recognition workload and WhatsApp volumes. Model low/base/peak usage. The official calculators [6,7] generate assumption-based estimates, not approved supplier prices. No service-specific ZAR bill is asserted because the platform and workload remain unconfirmed. Arithmetic sensitivity: every R10,000 of recurring monthly difference is R360,000 over 36 months, before escalation, tax and discounting. No guaranteed ROI or cost reduction is claimed.
BENEFIT MEASUREMENT
Baseline cost per active field user, cost per accepted order, time spent on administration, successful scheduled visits, time from issue to Stock Fix closure, feed freshness and client reporting accuracy. Compare actual before/after outcomes. Lower licensing or quicker bespoke changes are potential benefits only if internal development and support costs do not exceed them. Local hosting may reduce one component of latency but must be measured alongside device and mobile-network performance.
90-DAY ASSURANCE PLAN
These are proposed time boxes after staffing and budget approval, not a promise to finish migration, mobile ordering, IR or WhatsApp in 90 days. Days 0-30: confirm the cloud platform and service locations; inventory dependencies; establish corporate account ownership, two-person cover, test/production separation, MFA, logs, costs, backup and restoration evidence. Define recovery and field-performance acceptance criteria with the business. Days 31-60: representative field pilot across users/devices/coverage conditions; validate identity/client isolation, complete-day/monthly report lineage, retail sales reconciliation, API permissions and idempotent order processing; prove rollback. Days 61-90: expand only where acceptance passes. Delay rollout where gaps persist and keep the working service available. Stage mobile/IR/AI/WhatsApp separately, with explicit privacy, accuracy, cost and human-approval gates.
NO-GO / FALLBACK
Do not cut over if client isolation fails, accepted orders can be lost/duplicated, data does not reconcile, restore/rollback is unproven, source rights are missing or support ownership is unclear. If Meridian cannot fund adequate cover, buy scoped managed support or consider a supplier-led model under an agreed SLA. Geo Rep and Catalyst must not be decommissioned merely because a new cloud account exists. Any provider-operated arrangement must protect Meridian's source/data ownership, administrative visibility, bounded access, export and exit rights.
SOURCES
[6] Azure pricing calculator: https://azure.microsoft.com/en-us/pricing/calculator/
[7] Google Cloud pricing calculator: https://cloud.google.com/products/calculator
Meridian-provided Geo Rep partnership pitch: named-resource, hosting and replacement proposals, not commercial commitments. This brief updates the 8 September field-operations deck and makes no application or infrastructure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learn.microsoft.com/en-us/azure/reliability/regions-list" TargetMode="External"/><Relationship Id="rId3" Type="http://schemas.openxmlformats.org/officeDocument/2006/relationships/hyperlink" Target="https://firebase.google.com/docs/firestore/locations" TargetMode="External"/><Relationship Id="rId4" Type="http://schemas.openxmlformats.org/officeDocument/2006/relationships/hyperlink" Target="https://georep.com/product-features/" TargetMode="External"/><Relationship Id="rId1" Type="http://schemas.openxmlformats.org/officeDocument/2006/relationships/image" Target="../media/image-1-1.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learn.microsoft.com/en-us/azure/security/fundamentals/shared-responsibility" TargetMode="External"/><Relationship Id="rId3" Type="http://schemas.openxmlformats.org/officeDocument/2006/relationships/hyperlink" Target="https://inforegulator.org.za/popia/" TargetMode="External"/><Relationship Id="rId1" Type="http://schemas.openxmlformats.org/officeDocument/2006/relationships/image" Target="../media/image-2-1.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en-us/pricing/calculator/" TargetMode="External"/><Relationship Id="rId3" Type="http://schemas.openxmlformats.org/officeDocument/2006/relationships/hyperlink" Target="https://cloud.google.com/products/calculator" TargetMode="External"/><Relationship Id="rId1" Type="http://schemas.openxmlformats.org/officeDocument/2006/relationships/image" Target="../media/image-3-1.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30936"/>
          </a:xfrm>
          <a:prstGeom prst="rect">
            <a:avLst/>
          </a:prstGeom>
          <a:solidFill>
            <a:srgbClr val="08253D"/>
          </a:solidFill>
          <a:ln w="8890">
            <a:solidFill>
              <a:srgbClr val="08253D"/>
            </a:solidFill>
            <a:prstDash val="solid"/>
          </a:ln>
        </p:spPr>
      </p:sp>
      <p:sp>
        <p:nvSpPr>
          <p:cNvPr id="3" name="Shape 1"/>
          <p:cNvSpPr/>
          <p:nvPr/>
        </p:nvSpPr>
        <p:spPr>
          <a:xfrm>
            <a:off x="0" y="630936"/>
            <a:ext cx="12191695" cy="41148"/>
          </a:xfrm>
          <a:prstGeom prst="rect">
            <a:avLst/>
          </a:prstGeom>
          <a:solidFill>
            <a:srgbClr val="ED6B14"/>
          </a:solidFill>
          <a:ln w="8890">
            <a:solidFill>
              <a:srgbClr val="ED6B14"/>
            </a:solidFill>
            <a:prstDash val="solid"/>
          </a:ln>
        </p:spPr>
      </p:sp>
      <p:pic>
        <p:nvPicPr>
          <p:cNvPr id="4" name="Image 0" descr="C:\Users\PC\MeridianNexus\public\assets\callcycle\meridian.png">    </p:cNvPr>
          <p:cNvPicPr>
            <a:picLocks noChangeAspect="1"/>
          </p:cNvPicPr>
          <p:nvPr/>
        </p:nvPicPr>
        <p:blipFill>
          <a:blip r:embed="rId1"/>
          <a:stretch>
            <a:fillRect/>
          </a:stretch>
        </p:blipFill>
        <p:spPr>
          <a:xfrm>
            <a:off x="429768" y="91440"/>
            <a:ext cx="1280160" cy="438912"/>
          </a:xfrm>
          <a:prstGeom prst="rect">
            <a:avLst/>
          </a:prstGeom>
        </p:spPr>
      </p:pic>
      <p:sp>
        <p:nvSpPr>
          <p:cNvPr id="5" name="Text 2"/>
          <p:cNvSpPr/>
          <p:nvPr/>
        </p:nvSpPr>
        <p:spPr>
          <a:xfrm>
            <a:off x="2148840" y="219456"/>
            <a:ext cx="5779008" cy="201168"/>
          </a:xfrm>
          <a:prstGeom prst="rect">
            <a:avLst/>
          </a:prstGeom>
          <a:noFill/>
          <a:ln/>
        </p:spPr>
        <p:txBody>
          <a:bodyPr wrap="square" lIns="0" tIns="0" rIns="0" bIns="0" rtlCol="0" anchor="t"/>
          <a:lstStyle/>
          <a:p>
            <a:pPr indent="0" marL="0">
              <a:buNone/>
            </a:pPr>
            <a:r>
              <a:rPr lang="en-US" sz="1120" b="1" dirty="0">
                <a:solidFill>
                  <a:srgbClr val="FFFFFF"/>
                </a:solidFill>
                <a:latin typeface="Arial" pitchFamily="34" charset="0"/>
                <a:ea typeface="Arial" pitchFamily="34" charset="-122"/>
                <a:cs typeface="Arial" pitchFamily="34" charset="-120"/>
              </a:rPr>
              <a:t>NEXUS  /  OWNERSHIP &amp; FIELD OPERATIONS</a:t>
            </a:r>
            <a:endParaRPr lang="en-US" sz="1120" dirty="0"/>
          </a:p>
        </p:txBody>
      </p:sp>
      <p:sp>
        <p:nvSpPr>
          <p:cNvPr id="6" name="Text 3"/>
          <p:cNvSpPr/>
          <p:nvPr/>
        </p:nvSpPr>
        <p:spPr>
          <a:xfrm>
            <a:off x="8339328" y="219456"/>
            <a:ext cx="3401568" cy="201168"/>
          </a:xfrm>
          <a:prstGeom prst="rect">
            <a:avLst/>
          </a:prstGeom>
          <a:noFill/>
          <a:ln/>
        </p:spPr>
        <p:txBody>
          <a:bodyPr wrap="square" lIns="0" tIns="0" rIns="0" bIns="0" rtlCol="0" anchor="t"/>
          <a:lstStyle/>
          <a:p>
            <a:pPr algn="r" indent="0" marL="0">
              <a:buNone/>
            </a:pPr>
            <a:r>
              <a:rPr lang="en-US" sz="1040" dirty="0">
                <a:solidFill>
                  <a:srgbClr val="D8E5ED"/>
                </a:solidFill>
                <a:latin typeface="Arial" pitchFamily="34" charset="0"/>
                <a:ea typeface="Arial" pitchFamily="34" charset="-122"/>
                <a:cs typeface="Arial" pitchFamily="34" charset="-120"/>
              </a:rPr>
              <a:t>CEO &amp; MD  |  09 SEPTEMBER 2026</a:t>
            </a:r>
            <a:endParaRPr lang="en-US" sz="1040" dirty="0"/>
          </a:p>
        </p:txBody>
      </p:sp>
      <p:sp>
        <p:nvSpPr>
          <p:cNvPr id="7" name="Text 4"/>
          <p:cNvSpPr/>
          <p:nvPr/>
        </p:nvSpPr>
        <p:spPr>
          <a:xfrm>
            <a:off x="438912" y="886968"/>
            <a:ext cx="11301984" cy="438912"/>
          </a:xfrm>
          <a:prstGeom prst="rect">
            <a:avLst/>
          </a:prstGeom>
          <a:noFill/>
          <a:ln/>
        </p:spPr>
        <p:txBody>
          <a:bodyPr wrap="square" lIns="0" tIns="0" rIns="0" bIns="0" rtlCol="0" anchor="t"/>
          <a:lstStyle/>
          <a:p>
            <a:pPr indent="0" marL="0">
              <a:buNone/>
            </a:pPr>
            <a:r>
              <a:rPr lang="en-US" sz="2700" b="1" dirty="0">
                <a:solidFill>
                  <a:srgbClr val="193344"/>
                </a:solidFill>
                <a:latin typeface="Arial" pitchFamily="34" charset="0"/>
                <a:ea typeface="Arial" pitchFamily="34" charset="-122"/>
                <a:cs typeface="Arial" pitchFamily="34" charset="-120"/>
              </a:rPr>
              <a:t>Keep Nexus in-house, with accountable support</a:t>
            </a:r>
            <a:endParaRPr lang="en-US" sz="2700" dirty="0"/>
          </a:p>
        </p:txBody>
      </p:sp>
      <p:sp>
        <p:nvSpPr>
          <p:cNvPr id="8" name="Text 5"/>
          <p:cNvSpPr/>
          <p:nvPr/>
        </p:nvSpPr>
        <p:spPr>
          <a:xfrm>
            <a:off x="457200" y="1417320"/>
            <a:ext cx="11247120" cy="347472"/>
          </a:xfrm>
          <a:prstGeom prst="rect">
            <a:avLst/>
          </a:prstGeom>
          <a:noFill/>
          <a:ln/>
        </p:spPr>
        <p:txBody>
          <a:bodyPr wrap="square" lIns="0" tIns="0" rIns="0" bIns="0" rtlCol="0" anchor="t"/>
          <a:lstStyle/>
          <a:p>
            <a:pPr indent="0" marL="0">
              <a:buNone/>
            </a:pPr>
            <a:r>
              <a:rPr lang="en-US" sz="1320" dirty="0">
                <a:solidFill>
                  <a:srgbClr val="596F7B"/>
                </a:solidFill>
                <a:latin typeface="Arial" pitchFamily="34" charset="0"/>
                <a:ea typeface="Arial" pitchFamily="34" charset="-122"/>
                <a:cs typeface="Arial" pitchFamily="34" charset="-120"/>
              </a:rPr>
              <a:t>Johannesburg hosting is the design basis. About 1,000 users: field teams first, with office and client dashboards.</a:t>
            </a:r>
            <a:endParaRPr lang="en-US" sz="1320" dirty="0"/>
          </a:p>
        </p:txBody>
      </p:sp>
      <p:sp>
        <p:nvSpPr>
          <p:cNvPr id="9" name="Shape 6"/>
          <p:cNvSpPr/>
          <p:nvPr/>
        </p:nvSpPr>
        <p:spPr>
          <a:xfrm>
            <a:off x="448056" y="6473952"/>
            <a:ext cx="11292840" cy="0"/>
          </a:xfrm>
          <a:prstGeom prst="line">
            <a:avLst/>
          </a:prstGeom>
          <a:noFill/>
          <a:ln w="17780">
            <a:solidFill>
              <a:srgbClr val="D4E0E5"/>
            </a:solidFill>
            <a:prstDash val="solid"/>
          </a:ln>
        </p:spPr>
      </p:sp>
      <p:sp>
        <p:nvSpPr>
          <p:cNvPr id="10" name="Text 7"/>
          <p:cNvSpPr/>
          <p:nvPr/>
        </p:nvSpPr>
        <p:spPr>
          <a:xfrm>
            <a:off x="457200" y="6601968"/>
            <a:ext cx="1197864" cy="155448"/>
          </a:xfrm>
          <a:prstGeom prst="rect">
            <a:avLst/>
          </a:prstGeom>
          <a:noFill/>
          <a:ln/>
        </p:spPr>
        <p:txBody>
          <a:bodyPr wrap="square" lIns="0" tIns="0" rIns="0" bIns="0" rtlCol="0" anchor="t"/>
          <a:lstStyle/>
          <a:p>
            <a:pPr indent="0" marL="0">
              <a:buNone/>
            </a:pPr>
            <a:r>
              <a:rPr lang="en-US" sz="860" b="1" dirty="0">
                <a:solidFill>
                  <a:srgbClr val="596F7B"/>
                </a:solidFill>
                <a:latin typeface="Arial" pitchFamily="34" charset="0"/>
                <a:ea typeface="Arial" pitchFamily="34" charset="-122"/>
                <a:cs typeface="Arial" pitchFamily="34" charset="-120"/>
              </a:rPr>
              <a:t>CONFIDENTIAL</a:t>
            </a:r>
            <a:endParaRPr lang="en-US" sz="860" dirty="0"/>
          </a:p>
        </p:txBody>
      </p:sp>
      <p:sp>
        <p:nvSpPr>
          <p:cNvPr id="11" name="Text 8"/>
          <p:cNvSpPr/>
          <p:nvPr/>
        </p:nvSpPr>
        <p:spPr>
          <a:xfrm>
            <a:off x="11109960" y="6556248"/>
            <a:ext cx="630936" cy="219456"/>
          </a:xfrm>
          <a:prstGeom prst="rect">
            <a:avLst/>
          </a:prstGeom>
          <a:noFill/>
          <a:ln/>
        </p:spPr>
        <p:txBody>
          <a:bodyPr wrap="square" lIns="0" tIns="0" rIns="0" bIns="0" rtlCol="0" anchor="t"/>
          <a:lstStyle/>
          <a:p>
            <a:pPr algn="r" indent="0" marL="0">
              <a:buNone/>
            </a:pPr>
            <a:r>
              <a:rPr lang="en-US" sz="1150" b="1" dirty="0">
                <a:solidFill>
                  <a:srgbClr val="193344"/>
                </a:solidFill>
                <a:latin typeface="Arial" pitchFamily="34" charset="0"/>
                <a:ea typeface="Arial" pitchFamily="34" charset="-122"/>
                <a:cs typeface="Arial" pitchFamily="34" charset="-120"/>
              </a:rPr>
              <a:t>1 / 3</a:t>
            </a:r>
            <a:endParaRPr lang="en-US" sz="1150" dirty="0"/>
          </a:p>
        </p:txBody>
      </p:sp>
      <p:sp>
        <p:nvSpPr>
          <p:cNvPr id="12" name="Shape 9"/>
          <p:cNvSpPr/>
          <p:nvPr/>
        </p:nvSpPr>
        <p:spPr>
          <a:xfrm>
            <a:off x="2487168" y="1920240"/>
            <a:ext cx="6144768" cy="3099816"/>
          </a:xfrm>
          <a:prstGeom prst="rect">
            <a:avLst/>
          </a:prstGeom>
          <a:solidFill>
            <a:srgbClr val="F2F6F8"/>
          </a:solidFill>
          <a:ln w="8890">
            <a:solidFill>
              <a:srgbClr val="D4E0E5"/>
            </a:solidFill>
            <a:prstDash val="solid"/>
          </a:ln>
        </p:spPr>
      </p:sp>
      <p:sp>
        <p:nvSpPr>
          <p:cNvPr id="13" name="Shape 10"/>
          <p:cNvSpPr/>
          <p:nvPr/>
        </p:nvSpPr>
        <p:spPr>
          <a:xfrm>
            <a:off x="2487168" y="1920240"/>
            <a:ext cx="6144768" cy="402336"/>
          </a:xfrm>
          <a:prstGeom prst="rect">
            <a:avLst/>
          </a:prstGeom>
          <a:solidFill>
            <a:srgbClr val="08253D"/>
          </a:solidFill>
          <a:ln w="8890">
            <a:solidFill>
              <a:srgbClr val="08253D"/>
            </a:solidFill>
            <a:prstDash val="solid"/>
          </a:ln>
        </p:spPr>
      </p:sp>
      <p:sp>
        <p:nvSpPr>
          <p:cNvPr id="14" name="Text 11"/>
          <p:cNvSpPr/>
          <p:nvPr/>
        </p:nvSpPr>
        <p:spPr>
          <a:xfrm>
            <a:off x="2670048" y="2039112"/>
            <a:ext cx="5769864" cy="192024"/>
          </a:xfrm>
          <a:prstGeom prst="rect">
            <a:avLst/>
          </a:prstGeom>
          <a:noFill/>
          <a:ln/>
        </p:spPr>
        <p:txBody>
          <a:bodyPr wrap="square" lIns="0" tIns="0" rIns="0" bIns="0" rtlCol="0" anchor="t"/>
          <a:lstStyle/>
          <a:p>
            <a:pPr indent="0" marL="0">
              <a:buNone/>
            </a:pPr>
            <a:r>
              <a:rPr lang="en-US" sz="1180" b="1" dirty="0">
                <a:solidFill>
                  <a:srgbClr val="FFFFFF"/>
                </a:solidFill>
                <a:latin typeface="Arial" pitchFamily="34" charset="0"/>
                <a:ea typeface="Arial" pitchFamily="34" charset="-122"/>
                <a:cs typeface="Arial" pitchFamily="34" charset="-120"/>
              </a:rPr>
              <a:t>NEXUS  |  DEDICATED MERIDIAN CLOUD  |  JOHANNESBURG</a:t>
            </a:r>
            <a:endParaRPr lang="en-US" sz="1180" dirty="0"/>
          </a:p>
        </p:txBody>
      </p:sp>
      <p:sp>
        <p:nvSpPr>
          <p:cNvPr id="15" name="Text 12"/>
          <p:cNvSpPr/>
          <p:nvPr/>
        </p:nvSpPr>
        <p:spPr>
          <a:xfrm>
            <a:off x="2688336" y="2514600"/>
            <a:ext cx="5733288" cy="219456"/>
          </a:xfrm>
          <a:prstGeom prst="rect">
            <a:avLst/>
          </a:prstGeom>
          <a:noFill/>
          <a:ln/>
        </p:spPr>
        <p:txBody>
          <a:bodyPr wrap="square" lIns="0" tIns="0" rIns="0" bIns="0" rtlCol="0" anchor="t"/>
          <a:lstStyle/>
          <a:p>
            <a:pPr indent="0" marL="0">
              <a:buNone/>
            </a:pPr>
            <a:r>
              <a:rPr lang="en-US" sz="1200" b="1" dirty="0">
                <a:solidFill>
                  <a:srgbClr val="193344"/>
                </a:solidFill>
                <a:latin typeface="Arial" pitchFamily="34" charset="0"/>
                <a:ea typeface="Arial" pitchFamily="34" charset="-122"/>
                <a:cs typeface="Arial" pitchFamily="34" charset="-120"/>
              </a:rPr>
              <a:t>Insights  |  Stock Fix  |  Attendance  |  Call Cycle  |  Orders  |  Chat</a:t>
            </a:r>
            <a:endParaRPr lang="en-US" sz="1200" dirty="0"/>
          </a:p>
        </p:txBody>
      </p:sp>
      <p:sp>
        <p:nvSpPr>
          <p:cNvPr id="16" name="Shape 13"/>
          <p:cNvSpPr/>
          <p:nvPr/>
        </p:nvSpPr>
        <p:spPr>
          <a:xfrm>
            <a:off x="457200" y="2523744"/>
            <a:ext cx="1719072" cy="886968"/>
          </a:xfrm>
          <a:prstGeom prst="rect">
            <a:avLst/>
          </a:prstGeom>
          <a:solidFill>
            <a:srgbClr val="FFF3E9"/>
          </a:solidFill>
          <a:ln w="8890">
            <a:solidFill>
              <a:srgbClr val="F2C2A1"/>
            </a:solidFill>
            <a:prstDash val="solid"/>
          </a:ln>
        </p:spPr>
      </p:sp>
      <p:sp>
        <p:nvSpPr>
          <p:cNvPr id="17" name="Text 14"/>
          <p:cNvSpPr/>
          <p:nvPr/>
        </p:nvSpPr>
        <p:spPr>
          <a:xfrm>
            <a:off x="594360" y="2670048"/>
            <a:ext cx="1444752" cy="210312"/>
          </a:xfrm>
          <a:prstGeom prst="rect">
            <a:avLst/>
          </a:prstGeom>
          <a:noFill/>
          <a:ln/>
        </p:spPr>
        <p:txBody>
          <a:bodyPr wrap="square" lIns="0" tIns="0" rIns="0" bIns="0" rtlCol="0" anchor="t"/>
          <a:lstStyle/>
          <a:p>
            <a:pPr indent="0" marL="0">
              <a:buNone/>
            </a:pPr>
            <a:r>
              <a:rPr lang="en-US" sz="1160" b="1" dirty="0">
                <a:solidFill>
                  <a:srgbClr val="ED6B14"/>
                </a:solidFill>
                <a:latin typeface="Arial" pitchFamily="34" charset="0"/>
                <a:ea typeface="Arial" pitchFamily="34" charset="-122"/>
                <a:cs typeface="Arial" pitchFamily="34" charset="-120"/>
              </a:rPr>
              <a:t>FIELD TEAMS</a:t>
            </a:r>
            <a:endParaRPr lang="en-US" sz="1160" dirty="0"/>
          </a:p>
        </p:txBody>
      </p:sp>
      <p:sp>
        <p:nvSpPr>
          <p:cNvPr id="18" name="Text 15"/>
          <p:cNvSpPr/>
          <p:nvPr/>
        </p:nvSpPr>
        <p:spPr>
          <a:xfrm>
            <a:off x="594360" y="2962656"/>
            <a:ext cx="1444752" cy="365760"/>
          </a:xfrm>
          <a:prstGeom prst="rect">
            <a:avLst/>
          </a:prstGeom>
          <a:noFill/>
          <a:ln/>
        </p:spPr>
        <p:txBody>
          <a:bodyPr wrap="square" lIns="0" tIns="0" rIns="0" bIns="0" rtlCol="0" anchor="t"/>
          <a:lstStyle/>
          <a:p>
            <a:pPr indent="0" marL="0">
              <a:buNone/>
            </a:pPr>
            <a:r>
              <a:rPr lang="en-US" sz="1210" dirty="0">
                <a:solidFill>
                  <a:srgbClr val="193344"/>
                </a:solidFill>
                <a:latin typeface="Arial" pitchFamily="34" charset="0"/>
                <a:ea typeface="Arial" pitchFamily="34" charset="-122"/>
                <a:cs typeface="Arial" pitchFamily="34" charset="-120"/>
              </a:rPr>
              <a:t>Sales reps +</a:t>
            </a:r>
            <a:endParaRPr lang="en-US" sz="1210" dirty="0"/>
          </a:p>
          <a:p>
            <a:pPr indent="0" marL="0">
              <a:buNone/>
            </a:pPr>
            <a:r>
              <a:rPr lang="en-US" sz="1210" dirty="0">
                <a:solidFill>
                  <a:srgbClr val="193344"/>
                </a:solidFill>
                <a:latin typeface="Arial" pitchFamily="34" charset="0"/>
                <a:ea typeface="Arial" pitchFamily="34" charset="-122"/>
                <a:cs typeface="Arial" pitchFamily="34" charset="-120"/>
              </a:rPr>
              <a:t>merchandisers</a:t>
            </a:r>
            <a:endParaRPr lang="en-US" sz="1210" dirty="0"/>
          </a:p>
        </p:txBody>
      </p:sp>
      <p:sp>
        <p:nvSpPr>
          <p:cNvPr id="19" name="Shape 16"/>
          <p:cNvSpPr/>
          <p:nvPr/>
        </p:nvSpPr>
        <p:spPr>
          <a:xfrm>
            <a:off x="2203704" y="2971800"/>
            <a:ext cx="246888" cy="0"/>
          </a:xfrm>
          <a:prstGeom prst="line">
            <a:avLst/>
          </a:prstGeom>
          <a:noFill/>
          <a:ln w="17780">
            <a:solidFill>
              <a:srgbClr val="ED6B14"/>
            </a:solidFill>
            <a:prstDash val="solid"/>
            <a:tailEnd type="triangle"/>
          </a:ln>
        </p:spPr>
      </p:sp>
      <p:sp>
        <p:nvSpPr>
          <p:cNvPr id="20" name="Shape 17"/>
          <p:cNvSpPr/>
          <p:nvPr/>
        </p:nvSpPr>
        <p:spPr>
          <a:xfrm>
            <a:off x="457200" y="3739896"/>
            <a:ext cx="1719072" cy="886968"/>
          </a:xfrm>
          <a:prstGeom prst="rect">
            <a:avLst/>
          </a:prstGeom>
          <a:solidFill>
            <a:srgbClr val="EAF5F3"/>
          </a:solidFill>
          <a:ln w="8890">
            <a:solidFill>
              <a:srgbClr val="A7D2CD"/>
            </a:solidFill>
            <a:prstDash val="solid"/>
          </a:ln>
        </p:spPr>
      </p:sp>
      <p:sp>
        <p:nvSpPr>
          <p:cNvPr id="21" name="Text 18"/>
          <p:cNvSpPr/>
          <p:nvPr/>
        </p:nvSpPr>
        <p:spPr>
          <a:xfrm>
            <a:off x="594360" y="3895344"/>
            <a:ext cx="1453896" cy="210312"/>
          </a:xfrm>
          <a:prstGeom prst="rect">
            <a:avLst/>
          </a:prstGeom>
          <a:noFill/>
          <a:ln/>
        </p:spPr>
        <p:txBody>
          <a:bodyPr wrap="square" lIns="0" tIns="0" rIns="0" bIns="0" rtlCol="0" anchor="t"/>
          <a:lstStyle/>
          <a:p>
            <a:pPr indent="0" marL="0">
              <a:buNone/>
            </a:pPr>
            <a:r>
              <a:rPr lang="en-US" sz="1040" b="1" dirty="0">
                <a:solidFill>
                  <a:srgbClr val="007D73"/>
                </a:solidFill>
                <a:latin typeface="Arial" pitchFamily="34" charset="0"/>
                <a:ea typeface="Arial" pitchFamily="34" charset="-122"/>
                <a:cs typeface="Arial" pitchFamily="34" charset="-120"/>
              </a:rPr>
              <a:t>OFFICE + CLIENTS</a:t>
            </a:r>
            <a:endParaRPr lang="en-US" sz="1040" dirty="0"/>
          </a:p>
        </p:txBody>
      </p:sp>
      <p:sp>
        <p:nvSpPr>
          <p:cNvPr id="22" name="Text 19"/>
          <p:cNvSpPr/>
          <p:nvPr/>
        </p:nvSpPr>
        <p:spPr>
          <a:xfrm>
            <a:off x="594360" y="4178808"/>
            <a:ext cx="1444752" cy="365760"/>
          </a:xfrm>
          <a:prstGeom prst="rect">
            <a:avLst/>
          </a:prstGeom>
          <a:noFill/>
          <a:ln/>
        </p:spPr>
        <p:txBody>
          <a:bodyPr wrap="square" lIns="0" tIns="0" rIns="0" bIns="0" rtlCol="0" anchor="t"/>
          <a:lstStyle/>
          <a:p>
            <a:pPr indent="0" marL="0">
              <a:buNone/>
            </a:pPr>
            <a:r>
              <a:rPr lang="en-US" sz="1180" dirty="0">
                <a:solidFill>
                  <a:srgbClr val="193344"/>
                </a:solidFill>
                <a:latin typeface="Arial" pitchFamily="34" charset="0"/>
                <a:ea typeface="Arial" pitchFamily="34" charset="-122"/>
                <a:cs typeface="Arial" pitchFamily="34" charset="-120"/>
              </a:rPr>
              <a:t>Assigned access</a:t>
            </a:r>
            <a:endParaRPr lang="en-US" sz="1180" dirty="0"/>
          </a:p>
          <a:p>
            <a:pPr indent="0" marL="0">
              <a:buNone/>
            </a:pPr>
            <a:r>
              <a:rPr lang="en-US" sz="1180" dirty="0">
                <a:solidFill>
                  <a:srgbClr val="193344"/>
                </a:solidFill>
                <a:latin typeface="Arial" pitchFamily="34" charset="0"/>
                <a:ea typeface="Arial" pitchFamily="34" charset="-122"/>
                <a:cs typeface="Arial" pitchFamily="34" charset="-120"/>
              </a:rPr>
              <a:t>and dashboards</a:t>
            </a:r>
            <a:endParaRPr lang="en-US" sz="1180" dirty="0"/>
          </a:p>
        </p:txBody>
      </p:sp>
      <p:sp>
        <p:nvSpPr>
          <p:cNvPr id="23" name="Shape 20"/>
          <p:cNvSpPr/>
          <p:nvPr/>
        </p:nvSpPr>
        <p:spPr>
          <a:xfrm>
            <a:off x="2203704" y="4178808"/>
            <a:ext cx="246888" cy="0"/>
          </a:xfrm>
          <a:prstGeom prst="line">
            <a:avLst/>
          </a:prstGeom>
          <a:noFill/>
          <a:ln w="17780">
            <a:solidFill>
              <a:srgbClr val="007D73"/>
            </a:solidFill>
            <a:prstDash val="solid"/>
            <a:tailEnd type="triangle"/>
          </a:ln>
        </p:spPr>
      </p:sp>
      <p:sp>
        <p:nvSpPr>
          <p:cNvPr id="24" name="Shape 21"/>
          <p:cNvSpPr/>
          <p:nvPr/>
        </p:nvSpPr>
        <p:spPr>
          <a:xfrm>
            <a:off x="2688336" y="2889504"/>
            <a:ext cx="2706624" cy="493776"/>
          </a:xfrm>
          <a:prstGeom prst="rect">
            <a:avLst/>
          </a:prstGeom>
          <a:solidFill>
            <a:srgbClr val="FFFFFF"/>
          </a:solidFill>
          <a:ln w="8890">
            <a:solidFill>
              <a:srgbClr val="D4E0E5"/>
            </a:solidFill>
            <a:prstDash val="solid"/>
          </a:ln>
        </p:spPr>
      </p:sp>
      <p:sp>
        <p:nvSpPr>
          <p:cNvPr id="25" name="Text 22"/>
          <p:cNvSpPr/>
          <p:nvPr/>
        </p:nvSpPr>
        <p:spPr>
          <a:xfrm>
            <a:off x="2807208" y="3044952"/>
            <a:ext cx="2468880" cy="210312"/>
          </a:xfrm>
          <a:prstGeom prst="rect">
            <a:avLst/>
          </a:prstGeom>
          <a:noFill/>
          <a:ln/>
        </p:spPr>
        <p:txBody>
          <a:bodyPr wrap="square" lIns="0" tIns="0" rIns="0" bIns="0" rtlCol="0" anchor="t"/>
          <a:lstStyle/>
          <a:p>
            <a:pPr indent="0" marL="0">
              <a:buNone/>
            </a:pPr>
            <a:r>
              <a:rPr lang="en-US" sz="1180" b="1" dirty="0">
                <a:solidFill>
                  <a:srgbClr val="193344"/>
                </a:solidFill>
                <a:latin typeface="Arial" pitchFamily="34" charset="0"/>
                <a:ea typeface="Arial" pitchFamily="34" charset="-122"/>
                <a:cs typeface="Arial" pitchFamily="34" charset="-120"/>
              </a:rPr>
              <a:t>One sign-in + access controls</a:t>
            </a:r>
            <a:endParaRPr lang="en-US" sz="1180" dirty="0"/>
          </a:p>
        </p:txBody>
      </p:sp>
      <p:sp>
        <p:nvSpPr>
          <p:cNvPr id="26" name="Shape 23"/>
          <p:cNvSpPr/>
          <p:nvPr/>
        </p:nvSpPr>
        <p:spPr>
          <a:xfrm>
            <a:off x="5605272" y="2889504"/>
            <a:ext cx="2816352" cy="493776"/>
          </a:xfrm>
          <a:prstGeom prst="rect">
            <a:avLst/>
          </a:prstGeom>
          <a:solidFill>
            <a:srgbClr val="FFFFFF"/>
          </a:solidFill>
          <a:ln w="8890">
            <a:solidFill>
              <a:srgbClr val="D4E0E5"/>
            </a:solidFill>
            <a:prstDash val="solid"/>
          </a:ln>
        </p:spPr>
      </p:sp>
      <p:sp>
        <p:nvSpPr>
          <p:cNvPr id="27" name="Text 24"/>
          <p:cNvSpPr/>
          <p:nvPr/>
        </p:nvSpPr>
        <p:spPr>
          <a:xfrm>
            <a:off x="5724144" y="3044952"/>
            <a:ext cx="2578608" cy="210312"/>
          </a:xfrm>
          <a:prstGeom prst="rect">
            <a:avLst/>
          </a:prstGeom>
          <a:noFill/>
          <a:ln/>
        </p:spPr>
        <p:txBody>
          <a:bodyPr wrap="square" lIns="0" tIns="0" rIns="0" bIns="0" rtlCol="0" anchor="t"/>
          <a:lstStyle/>
          <a:p>
            <a:pPr indent="0" marL="0">
              <a:buNone/>
            </a:pPr>
            <a:r>
              <a:rPr lang="en-US" sz="1180" b="1" dirty="0">
                <a:solidFill>
                  <a:srgbClr val="193344"/>
                </a:solidFill>
                <a:latin typeface="Arial" pitchFamily="34" charset="0"/>
                <a:ea typeface="Arial" pitchFamily="34" charset="-122"/>
                <a:cs typeface="Arial" pitchFamily="34" charset="-120"/>
              </a:rPr>
              <a:t>Secure APIs + automated jobs</a:t>
            </a:r>
            <a:endParaRPr lang="en-US" sz="1180" dirty="0"/>
          </a:p>
        </p:txBody>
      </p:sp>
      <p:sp>
        <p:nvSpPr>
          <p:cNvPr id="28" name="Shape 25"/>
          <p:cNvSpPr/>
          <p:nvPr/>
        </p:nvSpPr>
        <p:spPr>
          <a:xfrm>
            <a:off x="5422392" y="3136392"/>
            <a:ext cx="155448" cy="0"/>
          </a:xfrm>
          <a:prstGeom prst="line">
            <a:avLst/>
          </a:prstGeom>
          <a:noFill/>
          <a:ln w="17780">
            <a:solidFill>
              <a:srgbClr val="226B92"/>
            </a:solidFill>
            <a:prstDash val="solid"/>
            <a:tailEnd type="triangle"/>
          </a:ln>
        </p:spPr>
      </p:sp>
      <p:sp>
        <p:nvSpPr>
          <p:cNvPr id="29" name="Shape 26"/>
          <p:cNvSpPr/>
          <p:nvPr/>
        </p:nvSpPr>
        <p:spPr>
          <a:xfrm>
            <a:off x="6995160" y="3410712"/>
            <a:ext cx="0" cy="137160"/>
          </a:xfrm>
          <a:prstGeom prst="line">
            <a:avLst/>
          </a:prstGeom>
          <a:noFill/>
          <a:ln w="17780">
            <a:solidFill>
              <a:srgbClr val="226B92"/>
            </a:solidFill>
            <a:prstDash val="solid"/>
          </a:ln>
        </p:spPr>
      </p:sp>
      <p:sp>
        <p:nvSpPr>
          <p:cNvPr id="30" name="Shape 27"/>
          <p:cNvSpPr/>
          <p:nvPr/>
        </p:nvSpPr>
        <p:spPr>
          <a:xfrm>
            <a:off x="3575304" y="3547872"/>
            <a:ext cx="3941064" cy="0"/>
          </a:xfrm>
          <a:prstGeom prst="line">
            <a:avLst/>
          </a:prstGeom>
          <a:noFill/>
          <a:ln w="17780">
            <a:solidFill>
              <a:srgbClr val="226B92"/>
            </a:solidFill>
            <a:prstDash val="solid"/>
          </a:ln>
        </p:spPr>
      </p:sp>
      <p:sp>
        <p:nvSpPr>
          <p:cNvPr id="31" name="Shape 28"/>
          <p:cNvSpPr/>
          <p:nvPr/>
        </p:nvSpPr>
        <p:spPr>
          <a:xfrm>
            <a:off x="3575304" y="3547872"/>
            <a:ext cx="0" cy="118872"/>
          </a:xfrm>
          <a:prstGeom prst="line">
            <a:avLst/>
          </a:prstGeom>
          <a:noFill/>
          <a:ln w="17780">
            <a:solidFill>
              <a:srgbClr val="226B92"/>
            </a:solidFill>
            <a:prstDash val="solid"/>
            <a:tailEnd type="triangle"/>
          </a:ln>
        </p:spPr>
      </p:sp>
      <p:sp>
        <p:nvSpPr>
          <p:cNvPr id="32" name="Shape 29"/>
          <p:cNvSpPr/>
          <p:nvPr/>
        </p:nvSpPr>
        <p:spPr>
          <a:xfrm>
            <a:off x="5550408" y="3547872"/>
            <a:ext cx="0" cy="118872"/>
          </a:xfrm>
          <a:prstGeom prst="line">
            <a:avLst/>
          </a:prstGeom>
          <a:noFill/>
          <a:ln w="17780">
            <a:solidFill>
              <a:srgbClr val="226B92"/>
            </a:solidFill>
            <a:prstDash val="solid"/>
            <a:tailEnd type="triangle"/>
          </a:ln>
        </p:spPr>
      </p:sp>
      <p:sp>
        <p:nvSpPr>
          <p:cNvPr id="33" name="Shape 30"/>
          <p:cNvSpPr/>
          <p:nvPr/>
        </p:nvSpPr>
        <p:spPr>
          <a:xfrm>
            <a:off x="7516368" y="3547872"/>
            <a:ext cx="0" cy="118872"/>
          </a:xfrm>
          <a:prstGeom prst="line">
            <a:avLst/>
          </a:prstGeom>
          <a:noFill/>
          <a:ln w="17780">
            <a:solidFill>
              <a:srgbClr val="226B92"/>
            </a:solidFill>
            <a:prstDash val="solid"/>
            <a:tailEnd type="triangle"/>
          </a:ln>
        </p:spPr>
      </p:sp>
      <p:sp>
        <p:nvSpPr>
          <p:cNvPr id="34" name="Shape 31"/>
          <p:cNvSpPr/>
          <p:nvPr/>
        </p:nvSpPr>
        <p:spPr>
          <a:xfrm>
            <a:off x="2688336" y="3685032"/>
            <a:ext cx="1783080" cy="548640"/>
          </a:xfrm>
          <a:prstGeom prst="rect">
            <a:avLst/>
          </a:prstGeom>
          <a:solidFill>
            <a:srgbClr val="FFFFFF"/>
          </a:solidFill>
          <a:ln w="8890">
            <a:solidFill>
              <a:srgbClr val="D4E0E5"/>
            </a:solidFill>
            <a:prstDash val="solid"/>
          </a:ln>
        </p:spPr>
      </p:sp>
      <p:sp>
        <p:nvSpPr>
          <p:cNvPr id="35" name="Text 32"/>
          <p:cNvSpPr/>
          <p:nvPr/>
        </p:nvSpPr>
        <p:spPr>
          <a:xfrm>
            <a:off x="2779776" y="3803904"/>
            <a:ext cx="1600200" cy="201168"/>
          </a:xfrm>
          <a:prstGeom prst="rect">
            <a:avLst/>
          </a:prstGeom>
          <a:noFill/>
          <a:ln/>
        </p:spPr>
        <p:txBody>
          <a:bodyPr wrap="square" lIns="0" tIns="0" rIns="0" bIns="0" rtlCol="0" anchor="t"/>
          <a:lstStyle/>
          <a:p>
            <a:pPr indent="0" marL="0">
              <a:buNone/>
            </a:pPr>
            <a:r>
              <a:rPr lang="en-US" sz="1190" b="1" dirty="0">
                <a:solidFill>
                  <a:srgbClr val="226B92"/>
                </a:solidFill>
                <a:latin typeface="Arial" pitchFamily="34" charset="0"/>
                <a:ea typeface="Arial" pitchFamily="34" charset="-122"/>
                <a:cs typeface="Arial" pitchFamily="34" charset="-120"/>
              </a:rPr>
              <a:t>Operational data</a:t>
            </a:r>
            <a:endParaRPr lang="en-US" sz="1190" dirty="0"/>
          </a:p>
        </p:txBody>
      </p:sp>
      <p:sp>
        <p:nvSpPr>
          <p:cNvPr id="36" name="Text 33"/>
          <p:cNvSpPr/>
          <p:nvPr/>
        </p:nvSpPr>
        <p:spPr>
          <a:xfrm>
            <a:off x="2779776" y="4050792"/>
            <a:ext cx="1600200" cy="155448"/>
          </a:xfrm>
          <a:prstGeom prst="rect">
            <a:avLst/>
          </a:prstGeom>
          <a:noFill/>
          <a:ln/>
        </p:spPr>
        <p:txBody>
          <a:bodyPr wrap="square" lIns="0" tIns="0" rIns="0" bIns="0" rtlCol="0" anchor="t"/>
          <a:lstStyle/>
          <a:p>
            <a:pPr indent="0" marL="0">
              <a:buNone/>
            </a:pPr>
            <a:r>
              <a:rPr lang="en-US" sz="960" dirty="0">
                <a:solidFill>
                  <a:srgbClr val="596F7B"/>
                </a:solidFill>
                <a:latin typeface="Arial" pitchFamily="34" charset="0"/>
                <a:ea typeface="Arial" pitchFamily="34" charset="-122"/>
                <a:cs typeface="Arial" pitchFamily="34" charset="-120"/>
              </a:rPr>
              <a:t>Orders, tasks, attendance</a:t>
            </a:r>
            <a:endParaRPr lang="en-US" sz="960" dirty="0"/>
          </a:p>
        </p:txBody>
      </p:sp>
      <p:sp>
        <p:nvSpPr>
          <p:cNvPr id="37" name="Shape 34"/>
          <p:cNvSpPr/>
          <p:nvPr/>
        </p:nvSpPr>
        <p:spPr>
          <a:xfrm>
            <a:off x="4663440" y="3685032"/>
            <a:ext cx="1783080" cy="548640"/>
          </a:xfrm>
          <a:prstGeom prst="rect">
            <a:avLst/>
          </a:prstGeom>
          <a:solidFill>
            <a:srgbClr val="FFFFFF"/>
          </a:solidFill>
          <a:ln w="8890">
            <a:solidFill>
              <a:srgbClr val="D4E0E5"/>
            </a:solidFill>
            <a:prstDash val="solid"/>
          </a:ln>
        </p:spPr>
      </p:sp>
      <p:sp>
        <p:nvSpPr>
          <p:cNvPr id="38" name="Text 35"/>
          <p:cNvSpPr/>
          <p:nvPr/>
        </p:nvSpPr>
        <p:spPr>
          <a:xfrm>
            <a:off x="4754880" y="3803904"/>
            <a:ext cx="1600200" cy="201168"/>
          </a:xfrm>
          <a:prstGeom prst="rect">
            <a:avLst/>
          </a:prstGeom>
          <a:noFill/>
          <a:ln/>
        </p:spPr>
        <p:txBody>
          <a:bodyPr wrap="square" lIns="0" tIns="0" rIns="0" bIns="0" rtlCol="0" anchor="t"/>
          <a:lstStyle/>
          <a:p>
            <a:pPr indent="0" marL="0">
              <a:buNone/>
            </a:pPr>
            <a:r>
              <a:rPr lang="en-US" sz="1190" b="1" dirty="0">
                <a:solidFill>
                  <a:srgbClr val="007D73"/>
                </a:solidFill>
                <a:latin typeface="Arial" pitchFamily="34" charset="0"/>
                <a:ea typeface="Arial" pitchFamily="34" charset="-122"/>
                <a:cs typeface="Arial" pitchFamily="34" charset="-120"/>
              </a:rPr>
              <a:t>Sales analytics</a:t>
            </a:r>
            <a:endParaRPr lang="en-US" sz="1190" dirty="0"/>
          </a:p>
        </p:txBody>
      </p:sp>
      <p:sp>
        <p:nvSpPr>
          <p:cNvPr id="39" name="Text 36"/>
          <p:cNvSpPr/>
          <p:nvPr/>
        </p:nvSpPr>
        <p:spPr>
          <a:xfrm>
            <a:off x="4754880" y="4050792"/>
            <a:ext cx="1600200" cy="155448"/>
          </a:xfrm>
          <a:prstGeom prst="rect">
            <a:avLst/>
          </a:prstGeom>
          <a:noFill/>
          <a:ln/>
        </p:spPr>
        <p:txBody>
          <a:bodyPr wrap="square" lIns="0" tIns="0" rIns="0" bIns="0" rtlCol="0" anchor="t"/>
          <a:lstStyle/>
          <a:p>
            <a:pPr indent="0" marL="0">
              <a:buNone/>
            </a:pPr>
            <a:r>
              <a:rPr lang="en-US" sz="960" dirty="0">
                <a:solidFill>
                  <a:srgbClr val="596F7B"/>
                </a:solidFill>
                <a:latin typeface="Arial" pitchFamily="34" charset="0"/>
                <a:ea typeface="Arial" pitchFamily="34" charset="-122"/>
                <a:cs typeface="Arial" pitchFamily="34" charset="-120"/>
              </a:rPr>
              <a:t>Validated retailer history</a:t>
            </a:r>
            <a:endParaRPr lang="en-US" sz="960" dirty="0"/>
          </a:p>
        </p:txBody>
      </p:sp>
      <p:sp>
        <p:nvSpPr>
          <p:cNvPr id="40" name="Shape 37"/>
          <p:cNvSpPr/>
          <p:nvPr/>
        </p:nvSpPr>
        <p:spPr>
          <a:xfrm>
            <a:off x="6638544" y="3685032"/>
            <a:ext cx="1783080" cy="548640"/>
          </a:xfrm>
          <a:prstGeom prst="rect">
            <a:avLst/>
          </a:prstGeom>
          <a:solidFill>
            <a:srgbClr val="FFFFFF"/>
          </a:solidFill>
          <a:ln w="8890">
            <a:solidFill>
              <a:srgbClr val="D4E0E5"/>
            </a:solidFill>
            <a:prstDash val="solid"/>
          </a:ln>
        </p:spPr>
      </p:sp>
      <p:sp>
        <p:nvSpPr>
          <p:cNvPr id="41" name="Text 38"/>
          <p:cNvSpPr/>
          <p:nvPr/>
        </p:nvSpPr>
        <p:spPr>
          <a:xfrm>
            <a:off x="6729984" y="3803904"/>
            <a:ext cx="1600200" cy="201168"/>
          </a:xfrm>
          <a:prstGeom prst="rect">
            <a:avLst/>
          </a:prstGeom>
          <a:noFill/>
          <a:ln/>
        </p:spPr>
        <p:txBody>
          <a:bodyPr wrap="square" lIns="0" tIns="0" rIns="0" bIns="0" rtlCol="0" anchor="t"/>
          <a:lstStyle/>
          <a:p>
            <a:pPr indent="0" marL="0">
              <a:buNone/>
            </a:pPr>
            <a:r>
              <a:rPr lang="en-US" sz="1190" b="1" dirty="0">
                <a:solidFill>
                  <a:srgbClr val="ED6B14"/>
                </a:solidFill>
                <a:latin typeface="Arial" pitchFamily="34" charset="0"/>
                <a:ea typeface="Arial" pitchFamily="34" charset="-122"/>
                <a:cs typeface="Arial" pitchFamily="34" charset="-120"/>
              </a:rPr>
              <a:t>Photos + files</a:t>
            </a:r>
            <a:endParaRPr lang="en-US" sz="1190" dirty="0"/>
          </a:p>
        </p:txBody>
      </p:sp>
      <p:sp>
        <p:nvSpPr>
          <p:cNvPr id="42" name="Text 39"/>
          <p:cNvSpPr/>
          <p:nvPr/>
        </p:nvSpPr>
        <p:spPr>
          <a:xfrm>
            <a:off x="6729984" y="4050792"/>
            <a:ext cx="1600200" cy="155448"/>
          </a:xfrm>
          <a:prstGeom prst="rect">
            <a:avLst/>
          </a:prstGeom>
          <a:noFill/>
          <a:ln/>
        </p:spPr>
        <p:txBody>
          <a:bodyPr wrap="square" lIns="0" tIns="0" rIns="0" bIns="0" rtlCol="0" anchor="t"/>
          <a:lstStyle/>
          <a:p>
            <a:pPr indent="0" marL="0">
              <a:buNone/>
            </a:pPr>
            <a:r>
              <a:rPr lang="en-US" sz="960" dirty="0">
                <a:solidFill>
                  <a:srgbClr val="596F7B"/>
                </a:solidFill>
                <a:latin typeface="Arial" pitchFamily="34" charset="0"/>
                <a:ea typeface="Arial" pitchFamily="34" charset="-122"/>
                <a:cs typeface="Arial" pitchFamily="34" charset="-120"/>
              </a:rPr>
              <a:t>Masters and visit evidence</a:t>
            </a:r>
            <a:endParaRPr lang="en-US" sz="960" dirty="0"/>
          </a:p>
        </p:txBody>
      </p:sp>
      <p:sp>
        <p:nvSpPr>
          <p:cNvPr id="43" name="Text 40"/>
          <p:cNvSpPr/>
          <p:nvPr/>
        </p:nvSpPr>
        <p:spPr>
          <a:xfrm>
            <a:off x="2688336" y="4416552"/>
            <a:ext cx="5724144" cy="228600"/>
          </a:xfrm>
          <a:prstGeom prst="rect">
            <a:avLst/>
          </a:prstGeom>
          <a:noFill/>
          <a:ln/>
        </p:spPr>
        <p:txBody>
          <a:bodyPr wrap="square" lIns="0" tIns="0" rIns="0" bIns="0" rtlCol="0" anchor="t"/>
          <a:lstStyle/>
          <a:p>
            <a:pPr indent="0" marL="0">
              <a:buNone/>
            </a:pPr>
            <a:r>
              <a:rPr lang="en-US" sz="1180" b="1" dirty="0">
                <a:solidFill>
                  <a:srgbClr val="007D73"/>
                </a:solidFill>
                <a:latin typeface="Arial" pitchFamily="34" charset="0"/>
                <a:ea typeface="Arial" pitchFamily="34" charset="-122"/>
                <a:cs typeface="Arial" pitchFamily="34" charset="-120"/>
              </a:rPr>
              <a:t>Next: mobile ordering, image recognition, AI expansion and WhatsApp</a:t>
            </a:r>
            <a:endParaRPr lang="en-US" sz="1180" dirty="0"/>
          </a:p>
        </p:txBody>
      </p:sp>
      <p:sp>
        <p:nvSpPr>
          <p:cNvPr id="44" name="Text 41"/>
          <p:cNvSpPr/>
          <p:nvPr/>
        </p:nvSpPr>
        <p:spPr>
          <a:xfrm>
            <a:off x="2688336" y="4773168"/>
            <a:ext cx="5724144" cy="164592"/>
          </a:xfrm>
          <a:prstGeom prst="rect">
            <a:avLst/>
          </a:prstGeom>
          <a:noFill/>
          <a:ln/>
        </p:spPr>
        <p:txBody>
          <a:bodyPr wrap="square" lIns="0" tIns="0" rIns="0" bIns="0" rtlCol="0" anchor="t"/>
          <a:lstStyle/>
          <a:p>
            <a:pPr indent="0" marL="0">
              <a:buNone/>
            </a:pPr>
            <a:r>
              <a:rPr lang="en-US" sz="1040" dirty="0">
                <a:solidFill>
                  <a:srgbClr val="596F7B"/>
                </a:solidFill>
                <a:latin typeface="Arial" pitchFamily="34" charset="0"/>
                <a:ea typeface="Arial" pitchFamily="34" charset="-122"/>
                <a:cs typeface="Arial" pitchFamily="34" charset="-120"/>
              </a:rPr>
              <a:t>MFA  |  client/store isolation  |  audit logs  |  backups  |  cost controls</a:t>
            </a:r>
            <a:endParaRPr lang="en-US" sz="1040" dirty="0"/>
          </a:p>
        </p:txBody>
      </p:sp>
      <p:sp>
        <p:nvSpPr>
          <p:cNvPr id="45" name="Shape 42"/>
          <p:cNvSpPr/>
          <p:nvPr/>
        </p:nvSpPr>
        <p:spPr>
          <a:xfrm>
            <a:off x="8997696" y="2130552"/>
            <a:ext cx="2743200" cy="722376"/>
          </a:xfrm>
          <a:prstGeom prst="rect">
            <a:avLst/>
          </a:prstGeom>
          <a:solidFill>
            <a:srgbClr val="F2F6F8"/>
          </a:solidFill>
          <a:ln w="8890">
            <a:solidFill>
              <a:srgbClr val="D4E0E5"/>
            </a:solidFill>
            <a:prstDash val="solid"/>
          </a:ln>
        </p:spPr>
      </p:sp>
      <p:sp>
        <p:nvSpPr>
          <p:cNvPr id="46" name="Text 43"/>
          <p:cNvSpPr/>
          <p:nvPr/>
        </p:nvSpPr>
        <p:spPr>
          <a:xfrm>
            <a:off x="9134856" y="2267712"/>
            <a:ext cx="2468880" cy="210312"/>
          </a:xfrm>
          <a:prstGeom prst="rect">
            <a:avLst/>
          </a:prstGeom>
          <a:noFill/>
          <a:ln/>
        </p:spPr>
        <p:txBody>
          <a:bodyPr wrap="square" lIns="0" tIns="0" rIns="0" bIns="0" rtlCol="0" anchor="t"/>
          <a:lstStyle/>
          <a:p>
            <a:pPr indent="0" marL="0">
              <a:buNone/>
            </a:pPr>
            <a:r>
              <a:rPr lang="en-US" sz="1120" b="1" dirty="0">
                <a:solidFill>
                  <a:srgbClr val="226B92"/>
                </a:solidFill>
                <a:latin typeface="Arial" pitchFamily="34" charset="0"/>
                <a:ea typeface="Arial" pitchFamily="34" charset="-122"/>
                <a:cs typeface="Arial" pitchFamily="34" charset="-120"/>
              </a:rPr>
              <a:t>GEO REP  |  EXTERNAL, AWS</a:t>
            </a:r>
            <a:endParaRPr lang="en-US" sz="1120" dirty="0"/>
          </a:p>
        </p:txBody>
      </p:sp>
      <p:sp>
        <p:nvSpPr>
          <p:cNvPr id="47" name="Text 44"/>
          <p:cNvSpPr/>
          <p:nvPr/>
        </p:nvSpPr>
        <p:spPr>
          <a:xfrm>
            <a:off x="9134856" y="2560320"/>
            <a:ext cx="2468880" cy="210312"/>
          </a:xfrm>
          <a:prstGeom prst="rect">
            <a:avLst/>
          </a:prstGeom>
          <a:noFill/>
          <a:ln/>
        </p:spPr>
        <p:txBody>
          <a:bodyPr wrap="square" lIns="0" tIns="0" rIns="0" bIns="0" rtlCol="0" anchor="t"/>
          <a:lstStyle/>
          <a:p>
            <a:pPr indent="0" marL="0">
              <a:buNone/>
            </a:pPr>
            <a:r>
              <a:rPr lang="en-US" sz="1200" dirty="0">
                <a:solidFill>
                  <a:srgbClr val="193344"/>
                </a:solidFill>
                <a:latin typeface="Arial" pitchFamily="34" charset="0"/>
                <a:ea typeface="Arial" pitchFamily="34" charset="-122"/>
                <a:cs typeface="Arial" pitchFamily="34" charset="-120"/>
              </a:rPr>
              <a:t>Field activity + order API</a:t>
            </a:r>
            <a:endParaRPr lang="en-US" sz="1200" dirty="0"/>
          </a:p>
        </p:txBody>
      </p:sp>
      <p:sp>
        <p:nvSpPr>
          <p:cNvPr id="48" name="Shape 45"/>
          <p:cNvSpPr/>
          <p:nvPr/>
        </p:nvSpPr>
        <p:spPr>
          <a:xfrm flipH="1">
            <a:off x="8668512" y="2496312"/>
            <a:ext cx="292608" cy="0"/>
          </a:xfrm>
          <a:prstGeom prst="line">
            <a:avLst/>
          </a:prstGeom>
          <a:noFill/>
          <a:ln w="17780">
            <a:solidFill>
              <a:srgbClr val="226B92"/>
            </a:solidFill>
            <a:prstDash val="solid"/>
            <a:tailEnd type="triangle"/>
          </a:ln>
        </p:spPr>
      </p:sp>
      <p:sp>
        <p:nvSpPr>
          <p:cNvPr id="49" name="Shape 46"/>
          <p:cNvSpPr/>
          <p:nvPr/>
        </p:nvSpPr>
        <p:spPr>
          <a:xfrm>
            <a:off x="8997696" y="3145536"/>
            <a:ext cx="2743200" cy="941832"/>
          </a:xfrm>
          <a:prstGeom prst="rect">
            <a:avLst/>
          </a:prstGeom>
          <a:solidFill>
            <a:srgbClr val="FFF3E9"/>
          </a:solidFill>
          <a:ln w="8890">
            <a:solidFill>
              <a:srgbClr val="F2C2A1"/>
            </a:solidFill>
            <a:prstDash val="solid"/>
          </a:ln>
        </p:spPr>
      </p:sp>
      <p:sp>
        <p:nvSpPr>
          <p:cNvPr id="50" name="Text 47"/>
          <p:cNvSpPr/>
          <p:nvPr/>
        </p:nvSpPr>
        <p:spPr>
          <a:xfrm>
            <a:off x="9134856" y="3264408"/>
            <a:ext cx="2468880" cy="210312"/>
          </a:xfrm>
          <a:prstGeom prst="rect">
            <a:avLst/>
          </a:prstGeom>
          <a:noFill/>
          <a:ln/>
        </p:spPr>
        <p:txBody>
          <a:bodyPr wrap="square" lIns="0" tIns="0" rIns="0" bIns="0" rtlCol="0" anchor="t"/>
          <a:lstStyle/>
          <a:p>
            <a:pPr indent="0" marL="0">
              <a:buNone/>
            </a:pPr>
            <a:r>
              <a:rPr lang="en-US" sz="1080" b="1" dirty="0">
                <a:solidFill>
                  <a:srgbClr val="ED6B14"/>
                </a:solidFill>
                <a:latin typeface="Arial" pitchFamily="34" charset="0"/>
                <a:ea typeface="Arial" pitchFamily="34" charset="-122"/>
                <a:cs typeface="Arial" pitchFamily="34" charset="-120"/>
              </a:rPr>
              <a:t>CATALYST  |  EXTERNAL, AWS</a:t>
            </a:r>
            <a:endParaRPr lang="en-US" sz="1080" dirty="0"/>
          </a:p>
        </p:txBody>
      </p:sp>
      <p:sp>
        <p:nvSpPr>
          <p:cNvPr id="51" name="Text 48"/>
          <p:cNvSpPr/>
          <p:nvPr/>
        </p:nvSpPr>
        <p:spPr>
          <a:xfrm>
            <a:off x="9134856" y="3547872"/>
            <a:ext cx="2468880" cy="411480"/>
          </a:xfrm>
          <a:prstGeom prst="rect">
            <a:avLst/>
          </a:prstGeom>
          <a:noFill/>
          <a:ln/>
        </p:spPr>
        <p:txBody>
          <a:bodyPr wrap="square" lIns="0" tIns="0" rIns="0" bIns="0" rtlCol="0" anchor="t"/>
          <a:lstStyle/>
          <a:p>
            <a:pPr indent="0" marL="0">
              <a:buNone/>
            </a:pPr>
            <a:r>
              <a:rPr lang="en-US" sz="1170" dirty="0">
                <a:solidFill>
                  <a:srgbClr val="193344"/>
                </a:solidFill>
                <a:latin typeface="Arial" pitchFamily="34" charset="0"/>
                <a:ea typeface="Arial" pitchFamily="34" charset="-122"/>
                <a:cs typeface="Arial" pitchFamily="34" charset="-120"/>
              </a:rPr>
              <a:t>Retailer sales + inventory</a:t>
            </a:r>
            <a:endParaRPr lang="en-US" sz="1170" dirty="0"/>
          </a:p>
          <a:p>
            <a:pPr indent="0" marL="0">
              <a:buNone/>
            </a:pPr>
            <a:r>
              <a:rPr lang="en-US" sz="1170" dirty="0">
                <a:solidFill>
                  <a:srgbClr val="193344"/>
                </a:solidFill>
                <a:latin typeface="Arial" pitchFamily="34" charset="0"/>
                <a:ea typeface="Arial" pitchFamily="34" charset="-122"/>
                <a:cs typeface="Arial" pitchFamily="34" charset="-120"/>
              </a:rPr>
              <a:t>Clicks, Shoprite | API pending</a:t>
            </a:r>
            <a:endParaRPr lang="en-US" sz="1170" dirty="0"/>
          </a:p>
        </p:txBody>
      </p:sp>
      <p:sp>
        <p:nvSpPr>
          <p:cNvPr id="52" name="Shape 49"/>
          <p:cNvSpPr/>
          <p:nvPr/>
        </p:nvSpPr>
        <p:spPr>
          <a:xfrm flipH="1">
            <a:off x="8668512" y="3639312"/>
            <a:ext cx="292608" cy="0"/>
          </a:xfrm>
          <a:prstGeom prst="line">
            <a:avLst/>
          </a:prstGeom>
          <a:noFill/>
          <a:ln w="17780">
            <a:solidFill>
              <a:srgbClr val="ED6B14"/>
            </a:solidFill>
            <a:prstDash val="dash"/>
            <a:tailEnd type="triangle"/>
          </a:ln>
        </p:spPr>
      </p:sp>
      <p:sp>
        <p:nvSpPr>
          <p:cNvPr id="53" name="Shape 50"/>
          <p:cNvSpPr/>
          <p:nvPr/>
        </p:nvSpPr>
        <p:spPr>
          <a:xfrm>
            <a:off x="8997696" y="4379976"/>
            <a:ext cx="2743200" cy="640080"/>
          </a:xfrm>
          <a:prstGeom prst="rect">
            <a:avLst/>
          </a:prstGeom>
          <a:solidFill>
            <a:srgbClr val="EAF5F3"/>
          </a:solidFill>
          <a:ln w="8890">
            <a:solidFill>
              <a:srgbClr val="A7D2CD"/>
            </a:solidFill>
            <a:prstDash val="solid"/>
          </a:ln>
        </p:spPr>
      </p:sp>
      <p:sp>
        <p:nvSpPr>
          <p:cNvPr id="54" name="Text 51"/>
          <p:cNvSpPr/>
          <p:nvPr/>
        </p:nvSpPr>
        <p:spPr>
          <a:xfrm>
            <a:off x="9134856" y="4489704"/>
            <a:ext cx="2468880" cy="210312"/>
          </a:xfrm>
          <a:prstGeom prst="rect">
            <a:avLst/>
          </a:prstGeom>
          <a:noFill/>
          <a:ln/>
        </p:spPr>
        <p:txBody>
          <a:bodyPr wrap="square" lIns="0" tIns="0" rIns="0" bIns="0" rtlCol="0" anchor="t"/>
          <a:lstStyle/>
          <a:p>
            <a:pPr indent="0" marL="0">
              <a:buNone/>
            </a:pPr>
            <a:r>
              <a:rPr lang="en-US" sz="1060" b="1" dirty="0">
                <a:solidFill>
                  <a:srgbClr val="007D73"/>
                </a:solidFill>
                <a:latin typeface="Arial" pitchFamily="34" charset="0"/>
                <a:ea typeface="Arial" pitchFamily="34" charset="-122"/>
                <a:cs typeface="Arial" pitchFamily="34" charset="-120"/>
              </a:rPr>
              <a:t>SHAREPOINT + SOURCE FILES</a:t>
            </a:r>
            <a:endParaRPr lang="en-US" sz="1060" dirty="0"/>
          </a:p>
        </p:txBody>
      </p:sp>
      <p:sp>
        <p:nvSpPr>
          <p:cNvPr id="55" name="Text 52"/>
          <p:cNvSpPr/>
          <p:nvPr/>
        </p:nvSpPr>
        <p:spPr>
          <a:xfrm>
            <a:off x="9134856" y="4773168"/>
            <a:ext cx="2468880" cy="173736"/>
          </a:xfrm>
          <a:prstGeom prst="rect">
            <a:avLst/>
          </a:prstGeom>
          <a:noFill/>
          <a:ln/>
        </p:spPr>
        <p:txBody>
          <a:bodyPr wrap="square" lIns="0" tIns="0" rIns="0" bIns="0" rtlCol="0" anchor="t"/>
          <a:lstStyle/>
          <a:p>
            <a:pPr indent="0" marL="0">
              <a:buNone/>
            </a:pPr>
            <a:r>
              <a:rPr lang="en-US" sz="1150" dirty="0">
                <a:solidFill>
                  <a:srgbClr val="193344"/>
                </a:solidFill>
                <a:latin typeface="Arial" pitchFamily="34" charset="0"/>
                <a:ea typeface="Arial" pitchFamily="34" charset="-122"/>
                <a:cs typeface="Arial" pitchFamily="34" charset="-120"/>
              </a:rPr>
              <a:t>Attendance reports + masters</a:t>
            </a:r>
            <a:endParaRPr lang="en-US" sz="1150" dirty="0"/>
          </a:p>
        </p:txBody>
      </p:sp>
      <p:sp>
        <p:nvSpPr>
          <p:cNvPr id="56" name="Shape 53"/>
          <p:cNvSpPr/>
          <p:nvPr/>
        </p:nvSpPr>
        <p:spPr>
          <a:xfrm flipH="1">
            <a:off x="8668512" y="4709160"/>
            <a:ext cx="292608" cy="0"/>
          </a:xfrm>
          <a:prstGeom prst="line">
            <a:avLst/>
          </a:prstGeom>
          <a:noFill/>
          <a:ln w="17780">
            <a:solidFill>
              <a:srgbClr val="007D73"/>
            </a:solidFill>
            <a:prstDash val="solid"/>
            <a:tailEnd type="triangle"/>
          </a:ln>
        </p:spPr>
      </p:sp>
      <p:sp>
        <p:nvSpPr>
          <p:cNvPr id="57" name="Text 54"/>
          <p:cNvSpPr/>
          <p:nvPr/>
        </p:nvSpPr>
        <p:spPr>
          <a:xfrm>
            <a:off x="466344" y="5138928"/>
            <a:ext cx="11247120" cy="173736"/>
          </a:xfrm>
          <a:prstGeom prst="rect">
            <a:avLst/>
          </a:prstGeom>
          <a:noFill/>
          <a:ln/>
        </p:spPr>
        <p:txBody>
          <a:bodyPr wrap="square" lIns="0" tIns="0" rIns="0" bIns="0" rtlCol="0" anchor="t"/>
          <a:lstStyle/>
          <a:p>
            <a:pPr indent="0" marL="0">
              <a:buNone/>
            </a:pPr>
            <a:r>
              <a:rPr lang="en-US" sz="1040" dirty="0">
                <a:solidFill>
                  <a:srgbClr val="596F7B"/>
                </a:solidFill>
                <a:latin typeface="Arial" pitchFamily="34" charset="0"/>
                <a:ea typeface="Arial" pitchFamily="34" charset="-122"/>
                <a:cs typeface="Arial" pitchFamily="34" charset="-120"/>
              </a:rPr>
              <a:t>Logical hosting model, not migration sign-off. Confirm the cloud platform and each resource location; dotted link = future API.</a:t>
            </a:r>
            <a:endParaRPr lang="en-US" sz="1040" dirty="0"/>
          </a:p>
        </p:txBody>
      </p:sp>
      <p:sp>
        <p:nvSpPr>
          <p:cNvPr id="58" name="Shape 55"/>
          <p:cNvSpPr/>
          <p:nvPr/>
        </p:nvSpPr>
        <p:spPr>
          <a:xfrm>
            <a:off x="457200" y="5422392"/>
            <a:ext cx="36576" cy="905256"/>
          </a:xfrm>
          <a:prstGeom prst="rect">
            <a:avLst/>
          </a:prstGeom>
          <a:solidFill>
            <a:srgbClr val="ED6B14"/>
          </a:solidFill>
          <a:ln w="8890">
            <a:solidFill>
              <a:srgbClr val="ED6B14"/>
            </a:solidFill>
            <a:prstDash val="solid"/>
          </a:ln>
        </p:spPr>
      </p:sp>
      <p:sp>
        <p:nvSpPr>
          <p:cNvPr id="59" name="Text 56"/>
          <p:cNvSpPr/>
          <p:nvPr/>
        </p:nvSpPr>
        <p:spPr>
          <a:xfrm>
            <a:off x="594360" y="5449824"/>
            <a:ext cx="3520440" cy="210312"/>
          </a:xfrm>
          <a:prstGeom prst="rect">
            <a:avLst/>
          </a:prstGeom>
          <a:noFill/>
          <a:ln/>
        </p:spPr>
        <p:txBody>
          <a:bodyPr wrap="square" lIns="0" tIns="0" rIns="0" bIns="0" rtlCol="0" anchor="t"/>
          <a:lstStyle/>
          <a:p>
            <a:pPr indent="0" marL="0">
              <a:buNone/>
            </a:pPr>
            <a:r>
              <a:rPr lang="en-US" sz="1180" b="1" dirty="0">
                <a:solidFill>
                  <a:srgbClr val="ED6B14"/>
                </a:solidFill>
                <a:latin typeface="Arial" pitchFamily="34" charset="0"/>
                <a:ea typeface="Arial" pitchFamily="34" charset="-122"/>
                <a:cs typeface="Arial" pitchFamily="34" charset="-120"/>
              </a:rPr>
              <a:t>OWN THE BUSINESS PLATFORM</a:t>
            </a:r>
            <a:endParaRPr lang="en-US" sz="1180" dirty="0"/>
          </a:p>
        </p:txBody>
      </p:sp>
      <p:sp>
        <p:nvSpPr>
          <p:cNvPr id="60" name="Text 57"/>
          <p:cNvSpPr/>
          <p:nvPr/>
        </p:nvSpPr>
        <p:spPr>
          <a:xfrm>
            <a:off x="594360" y="5760720"/>
            <a:ext cx="3474720" cy="539496"/>
          </a:xfrm>
          <a:prstGeom prst="rect">
            <a:avLst/>
          </a:prstGeom>
          <a:noFill/>
          <a:ln/>
        </p:spPr>
        <p:txBody>
          <a:bodyPr wrap="square" lIns="0" tIns="0" rIns="0" bIns="0" rtlCol="0" anchor="t"/>
          <a:lstStyle/>
          <a:p>
            <a:pPr indent="0" marL="0">
              <a:buNone/>
            </a:pPr>
            <a:r>
              <a:rPr lang="en-US" sz="1270" dirty="0">
                <a:solidFill>
                  <a:srgbClr val="193344"/>
                </a:solidFill>
                <a:latin typeface="Arial" pitchFamily="34" charset="0"/>
                <a:ea typeface="Arial" pitchFamily="34" charset="-122"/>
                <a:cs typeface="Arial" pitchFamily="34" charset="-120"/>
              </a:rPr>
              <a:t>Meridian controls its code, data, access</a:t>
            </a:r>
            <a:endParaRPr lang="en-US" sz="1270" dirty="0"/>
          </a:p>
          <a:p>
            <a:pPr indent="0" marL="0">
              <a:buNone/>
            </a:pPr>
            <a:r>
              <a:rPr lang="en-US" sz="1270" dirty="0">
                <a:solidFill>
                  <a:srgbClr val="193344"/>
                </a:solidFill>
                <a:latin typeface="Arial" pitchFamily="34" charset="0"/>
                <a:ea typeface="Arial" pitchFamily="34" charset="-122"/>
                <a:cs typeface="Arial" pitchFamily="34" charset="-120"/>
              </a:rPr>
              <a:t>and roadmap; supplier exit stays possible.</a:t>
            </a:r>
            <a:endParaRPr lang="en-US" sz="1270" dirty="0"/>
          </a:p>
        </p:txBody>
      </p:sp>
      <p:sp>
        <p:nvSpPr>
          <p:cNvPr id="61" name="Shape 58"/>
          <p:cNvSpPr/>
          <p:nvPr/>
        </p:nvSpPr>
        <p:spPr>
          <a:xfrm>
            <a:off x="4334256" y="5422392"/>
            <a:ext cx="36576" cy="905256"/>
          </a:xfrm>
          <a:prstGeom prst="rect">
            <a:avLst/>
          </a:prstGeom>
          <a:solidFill>
            <a:srgbClr val="007D73"/>
          </a:solidFill>
          <a:ln w="8890">
            <a:solidFill>
              <a:srgbClr val="007D73"/>
            </a:solidFill>
            <a:prstDash val="solid"/>
          </a:ln>
        </p:spPr>
      </p:sp>
      <p:sp>
        <p:nvSpPr>
          <p:cNvPr id="62" name="Text 59"/>
          <p:cNvSpPr/>
          <p:nvPr/>
        </p:nvSpPr>
        <p:spPr>
          <a:xfrm>
            <a:off x="4471416" y="5449824"/>
            <a:ext cx="3447288" cy="210312"/>
          </a:xfrm>
          <a:prstGeom prst="rect">
            <a:avLst/>
          </a:prstGeom>
          <a:noFill/>
          <a:ln/>
        </p:spPr>
        <p:txBody>
          <a:bodyPr wrap="square" lIns="0" tIns="0" rIns="0" bIns="0" rtlCol="0" anchor="t"/>
          <a:lstStyle/>
          <a:p>
            <a:pPr indent="0" marL="0">
              <a:buNone/>
            </a:pPr>
            <a:r>
              <a:rPr lang="en-US" sz="1180" b="1" dirty="0">
                <a:solidFill>
                  <a:srgbClr val="007D73"/>
                </a:solidFill>
                <a:latin typeface="Arial" pitchFamily="34" charset="0"/>
                <a:ea typeface="Arial" pitchFamily="34" charset="-122"/>
                <a:cs typeface="Arial" pitchFamily="34" charset="-120"/>
              </a:rPr>
              <a:t>DESIGN FOR THE STORE VISIT</a:t>
            </a:r>
            <a:endParaRPr lang="en-US" sz="1180" dirty="0"/>
          </a:p>
        </p:txBody>
      </p:sp>
      <p:sp>
        <p:nvSpPr>
          <p:cNvPr id="63" name="Text 60"/>
          <p:cNvSpPr/>
          <p:nvPr/>
        </p:nvSpPr>
        <p:spPr>
          <a:xfrm>
            <a:off x="4471416" y="5760720"/>
            <a:ext cx="3401568" cy="539496"/>
          </a:xfrm>
          <a:prstGeom prst="rect">
            <a:avLst/>
          </a:prstGeom>
          <a:noFill/>
          <a:ln/>
        </p:spPr>
        <p:txBody>
          <a:bodyPr wrap="square" lIns="0" tIns="0" rIns="0" bIns="0" rtlCol="0" anchor="t"/>
          <a:lstStyle/>
          <a:p>
            <a:pPr indent="0" marL="0">
              <a:buNone/>
            </a:pPr>
            <a:r>
              <a:rPr lang="en-US" sz="1270" dirty="0">
                <a:solidFill>
                  <a:srgbClr val="193344"/>
                </a:solidFill>
                <a:latin typeface="Arial" pitchFamily="34" charset="0"/>
                <a:ea typeface="Arial" pitchFamily="34" charset="-122"/>
                <a:cs typeface="Arial" pitchFamily="34" charset="-120"/>
              </a:rPr>
              <a:t>Prioritise coverage, shelf availability,</a:t>
            </a:r>
            <a:endParaRPr lang="en-US" sz="1270" dirty="0"/>
          </a:p>
          <a:p>
            <a:pPr indent="0" marL="0">
              <a:buNone/>
            </a:pPr>
            <a:r>
              <a:rPr lang="en-US" sz="1270" dirty="0">
                <a:solidFill>
                  <a:srgbClr val="193344"/>
                </a:solidFill>
                <a:latin typeface="Arial" pitchFamily="34" charset="0"/>
                <a:ea typeface="Arial" pitchFamily="34" charset="-122"/>
                <a:cs typeface="Arial" pitchFamily="34" charset="-120"/>
              </a:rPr>
              <a:t>accepted orders and task completion.</a:t>
            </a:r>
            <a:endParaRPr lang="en-US" sz="1270" dirty="0"/>
          </a:p>
        </p:txBody>
      </p:sp>
      <p:sp>
        <p:nvSpPr>
          <p:cNvPr id="64" name="Shape 61"/>
          <p:cNvSpPr/>
          <p:nvPr/>
        </p:nvSpPr>
        <p:spPr>
          <a:xfrm>
            <a:off x="8193024" y="5422392"/>
            <a:ext cx="36576" cy="905256"/>
          </a:xfrm>
          <a:prstGeom prst="rect">
            <a:avLst/>
          </a:prstGeom>
          <a:solidFill>
            <a:srgbClr val="226B92"/>
          </a:solidFill>
          <a:ln w="8890">
            <a:solidFill>
              <a:srgbClr val="226B92"/>
            </a:solidFill>
            <a:prstDash val="solid"/>
          </a:ln>
        </p:spPr>
      </p:sp>
      <p:sp>
        <p:nvSpPr>
          <p:cNvPr id="65" name="Text 62"/>
          <p:cNvSpPr/>
          <p:nvPr/>
        </p:nvSpPr>
        <p:spPr>
          <a:xfrm>
            <a:off x="8330184" y="5449824"/>
            <a:ext cx="3410712" cy="210312"/>
          </a:xfrm>
          <a:prstGeom prst="rect">
            <a:avLst/>
          </a:prstGeom>
          <a:noFill/>
          <a:ln/>
        </p:spPr>
        <p:txBody>
          <a:bodyPr wrap="square" lIns="0" tIns="0" rIns="0" bIns="0" rtlCol="0" anchor="t"/>
          <a:lstStyle/>
          <a:p>
            <a:pPr indent="0" marL="0">
              <a:buNone/>
            </a:pPr>
            <a:r>
              <a:rPr lang="en-US" sz="1180" b="1" dirty="0">
                <a:solidFill>
                  <a:srgbClr val="226B92"/>
                </a:solidFill>
                <a:latin typeface="Arial" pitchFamily="34" charset="0"/>
                <a:ea typeface="Arial" pitchFamily="34" charset="-122"/>
                <a:cs typeface="Arial" pitchFamily="34" charset="-120"/>
              </a:rPr>
              <a:t>BUY EXPERTISE SELECTIVELY</a:t>
            </a:r>
            <a:endParaRPr lang="en-US" sz="1180" dirty="0"/>
          </a:p>
        </p:txBody>
      </p:sp>
      <p:sp>
        <p:nvSpPr>
          <p:cNvPr id="66" name="Text 63"/>
          <p:cNvSpPr/>
          <p:nvPr/>
        </p:nvSpPr>
        <p:spPr>
          <a:xfrm>
            <a:off x="8330184" y="5760720"/>
            <a:ext cx="3364992" cy="539496"/>
          </a:xfrm>
          <a:prstGeom prst="rect">
            <a:avLst/>
          </a:prstGeom>
          <a:noFill/>
          <a:ln/>
        </p:spPr>
        <p:txBody>
          <a:bodyPr wrap="square" lIns="0" tIns="0" rIns="0" bIns="0" rtlCol="0" anchor="t"/>
          <a:lstStyle/>
          <a:p>
            <a:pPr indent="0" marL="0">
              <a:buNone/>
            </a:pPr>
            <a:r>
              <a:rPr lang="en-US" sz="1270" dirty="0">
                <a:solidFill>
                  <a:srgbClr val="193344"/>
                </a:solidFill>
                <a:latin typeface="Arial" pitchFamily="34" charset="0"/>
                <a:ea typeface="Arial" pitchFamily="34" charset="-122"/>
                <a:cs typeface="Arial" pitchFamily="34" charset="-120"/>
              </a:rPr>
              <a:t>Keep useful Geo Rep and Catalyst services.</a:t>
            </a:r>
            <a:endParaRPr lang="en-US" sz="1270" dirty="0"/>
          </a:p>
          <a:p>
            <a:pPr indent="0" marL="0">
              <a:buNone/>
            </a:pPr>
            <a:r>
              <a:rPr lang="en-US" sz="1270" dirty="0">
                <a:solidFill>
                  <a:srgbClr val="193344"/>
                </a:solidFill>
                <a:latin typeface="Arial" pitchFamily="34" charset="0"/>
                <a:ea typeface="Arial" pitchFamily="34" charset="-122"/>
                <a:cs typeface="Arial" pitchFamily="34" charset="-120"/>
              </a:rPr>
              <a:t>Add specialist support without handover.</a:t>
            </a:r>
            <a:endParaRPr lang="en-US" sz="1270" dirty="0"/>
          </a:p>
        </p:txBody>
      </p:sp>
      <p:sp>
        <p:nvSpPr>
          <p:cNvPr id="67" name="Text 64">
            <a:hlinkClick r:id="rId2" tooltip=""/>
          </p:cNvPr>
          <p:cNvSpPr/>
          <p:nvPr/>
        </p:nvSpPr>
        <p:spPr>
          <a:xfrm>
            <a:off x="1819656" y="6583680"/>
            <a:ext cx="1728216" cy="182880"/>
          </a:xfrm>
          <a:prstGeom prst="rect">
            <a:avLst/>
          </a:prstGeom>
          <a:noFill/>
          <a:ln/>
        </p:spPr>
        <p:txBody>
          <a:bodyPr wrap="square" lIns="0" tIns="0" rIns="0" bIns="0" rtlCol="0" anchor="t"/>
          <a:lstStyle/>
          <a:p>
            <a:pPr indent="0" marL="0">
              <a:buNone/>
            </a:pPr>
            <a:r>
              <a:rPr lang="en-US" sz="910" u="sng" dirty="0">
                <a:solidFill>
                  <a:srgbClr val="226B92"/>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Location checks: Azure [1]</a:t>
            </a:r>
            <a:endParaRPr lang="en-US" sz="910" dirty="0"/>
          </a:p>
        </p:txBody>
      </p:sp>
      <p:sp>
        <p:nvSpPr>
          <p:cNvPr id="68" name="Text 65">
            <a:hlinkClick r:id="rId3" tooltip=""/>
          </p:cNvPr>
          <p:cNvSpPr/>
          <p:nvPr/>
        </p:nvSpPr>
        <p:spPr>
          <a:xfrm>
            <a:off x="3694176" y="6583680"/>
            <a:ext cx="1124712" cy="182880"/>
          </a:xfrm>
          <a:prstGeom prst="rect">
            <a:avLst/>
          </a:prstGeom>
          <a:noFill/>
          <a:ln/>
        </p:spPr>
        <p:txBody>
          <a:bodyPr wrap="square" lIns="0" tIns="0" rIns="0" bIns="0" rtlCol="0" anchor="t"/>
          <a:lstStyle/>
          <a:p>
            <a:pPr indent="0" marL="0">
              <a:buNone/>
            </a:pPr>
            <a:r>
              <a:rPr lang="en-US" sz="910" u="sng" dirty="0">
                <a:solidFill>
                  <a:srgbClr val="226B92"/>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Firestore [2]</a:t>
            </a:r>
            <a:endParaRPr lang="en-US" sz="910" dirty="0"/>
          </a:p>
        </p:txBody>
      </p:sp>
      <p:sp>
        <p:nvSpPr>
          <p:cNvPr id="69" name="Text 66">
            <a:hlinkClick r:id="rId4" tooltip=""/>
          </p:cNvPr>
          <p:cNvSpPr/>
          <p:nvPr/>
        </p:nvSpPr>
        <p:spPr>
          <a:xfrm>
            <a:off x="4992624" y="6583680"/>
            <a:ext cx="1828800" cy="182880"/>
          </a:xfrm>
          <a:prstGeom prst="rect">
            <a:avLst/>
          </a:prstGeom>
          <a:noFill/>
          <a:ln/>
        </p:spPr>
        <p:txBody>
          <a:bodyPr wrap="square" lIns="0" tIns="0" rIns="0" bIns="0" rtlCol="0" anchor="t"/>
          <a:lstStyle/>
          <a:p>
            <a:pPr indent="0" marL="0">
              <a:buNone/>
            </a:pPr>
            <a:r>
              <a:rPr lang="en-US" sz="910" u="sng" dirty="0">
                <a:solidFill>
                  <a:srgbClr val="226B92"/>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Geo Rep capabilities [3]</a:t>
            </a:r>
            <a:endParaRPr lang="en-US" sz="910" dirty="0"/>
          </a:p>
        </p:txBody>
      </p:sp>
      <p:sp>
        <p:nvSpPr>
          <p:cNvPr id="70" name="Text 67"/>
          <p:cNvSpPr/>
          <p:nvPr/>
        </p:nvSpPr>
        <p:spPr>
          <a:xfrm>
            <a:off x="7754112" y="6583680"/>
            <a:ext cx="3026664" cy="182880"/>
          </a:xfrm>
          <a:prstGeom prst="rect">
            <a:avLst/>
          </a:prstGeom>
          <a:noFill/>
          <a:ln/>
        </p:spPr>
        <p:txBody>
          <a:bodyPr wrap="square" lIns="0" tIns="0" rIns="0" bIns="0" rtlCol="0" anchor="t"/>
          <a:lstStyle/>
          <a:p>
            <a:pPr algn="r" indent="0" marL="0">
              <a:buNone/>
            </a:pPr>
            <a:r>
              <a:rPr lang="en-US" sz="910" dirty="0">
                <a:solidFill>
                  <a:srgbClr val="596F7B"/>
                </a:solidFill>
                <a:latin typeface="Arial" pitchFamily="34" charset="0"/>
                <a:ea typeface="Arial" pitchFamily="34" charset="-122"/>
                <a:cs typeface="Arial" pitchFamily="34" charset="-120"/>
              </a:rPr>
              <a:t>Supplier roles: Meridian brief</a:t>
            </a:r>
            <a:endParaRPr lang="en-US" sz="9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30936"/>
          </a:xfrm>
          <a:prstGeom prst="rect">
            <a:avLst/>
          </a:prstGeom>
          <a:solidFill>
            <a:srgbClr val="08253D"/>
          </a:solidFill>
          <a:ln w="8890">
            <a:solidFill>
              <a:srgbClr val="08253D"/>
            </a:solidFill>
            <a:prstDash val="solid"/>
          </a:ln>
        </p:spPr>
      </p:sp>
      <p:sp>
        <p:nvSpPr>
          <p:cNvPr id="3" name="Shape 1"/>
          <p:cNvSpPr/>
          <p:nvPr/>
        </p:nvSpPr>
        <p:spPr>
          <a:xfrm>
            <a:off x="0" y="630936"/>
            <a:ext cx="12191695" cy="41148"/>
          </a:xfrm>
          <a:prstGeom prst="rect">
            <a:avLst/>
          </a:prstGeom>
          <a:solidFill>
            <a:srgbClr val="ED6B14"/>
          </a:solidFill>
          <a:ln w="8890">
            <a:solidFill>
              <a:srgbClr val="ED6B14"/>
            </a:solidFill>
            <a:prstDash val="solid"/>
          </a:ln>
        </p:spPr>
      </p:sp>
      <p:pic>
        <p:nvPicPr>
          <p:cNvPr id="4" name="Image 0" descr="C:\Users\PC\MeridianNexus\public\assets\callcycle\meridian.png">    </p:cNvPr>
          <p:cNvPicPr>
            <a:picLocks noChangeAspect="1"/>
          </p:cNvPicPr>
          <p:nvPr/>
        </p:nvPicPr>
        <p:blipFill>
          <a:blip r:embed="rId1"/>
          <a:stretch>
            <a:fillRect/>
          </a:stretch>
        </p:blipFill>
        <p:spPr>
          <a:xfrm>
            <a:off x="429768" y="91440"/>
            <a:ext cx="1280160" cy="438912"/>
          </a:xfrm>
          <a:prstGeom prst="rect">
            <a:avLst/>
          </a:prstGeom>
        </p:spPr>
      </p:pic>
      <p:sp>
        <p:nvSpPr>
          <p:cNvPr id="5" name="Text 2"/>
          <p:cNvSpPr/>
          <p:nvPr/>
        </p:nvSpPr>
        <p:spPr>
          <a:xfrm>
            <a:off x="2148840" y="219456"/>
            <a:ext cx="5779008" cy="201168"/>
          </a:xfrm>
          <a:prstGeom prst="rect">
            <a:avLst/>
          </a:prstGeom>
          <a:noFill/>
          <a:ln/>
        </p:spPr>
        <p:txBody>
          <a:bodyPr wrap="square" lIns="0" tIns="0" rIns="0" bIns="0" rtlCol="0" anchor="t"/>
          <a:lstStyle/>
          <a:p>
            <a:pPr indent="0" marL="0">
              <a:buNone/>
            </a:pPr>
            <a:r>
              <a:rPr lang="en-US" sz="1120" b="1" dirty="0">
                <a:solidFill>
                  <a:srgbClr val="FFFFFF"/>
                </a:solidFill>
                <a:latin typeface="Arial" pitchFamily="34" charset="0"/>
                <a:ea typeface="Arial" pitchFamily="34" charset="-122"/>
                <a:cs typeface="Arial" pitchFamily="34" charset="-120"/>
              </a:rPr>
              <a:t>NEXUS  /  OWNERSHIP &amp; FIELD OPERATIONS</a:t>
            </a:r>
            <a:endParaRPr lang="en-US" sz="1120" dirty="0"/>
          </a:p>
        </p:txBody>
      </p:sp>
      <p:sp>
        <p:nvSpPr>
          <p:cNvPr id="6" name="Text 3"/>
          <p:cNvSpPr/>
          <p:nvPr/>
        </p:nvSpPr>
        <p:spPr>
          <a:xfrm>
            <a:off x="8339328" y="219456"/>
            <a:ext cx="3401568" cy="201168"/>
          </a:xfrm>
          <a:prstGeom prst="rect">
            <a:avLst/>
          </a:prstGeom>
          <a:noFill/>
          <a:ln/>
        </p:spPr>
        <p:txBody>
          <a:bodyPr wrap="square" lIns="0" tIns="0" rIns="0" bIns="0" rtlCol="0" anchor="t"/>
          <a:lstStyle/>
          <a:p>
            <a:pPr algn="r" indent="0" marL="0">
              <a:buNone/>
            </a:pPr>
            <a:r>
              <a:rPr lang="en-US" sz="1040" dirty="0">
                <a:solidFill>
                  <a:srgbClr val="D8E5ED"/>
                </a:solidFill>
                <a:latin typeface="Arial" pitchFamily="34" charset="0"/>
                <a:ea typeface="Arial" pitchFamily="34" charset="-122"/>
                <a:cs typeface="Arial" pitchFamily="34" charset="-120"/>
              </a:rPr>
              <a:t>CEO &amp; MD  |  09 SEPTEMBER 2026</a:t>
            </a:r>
            <a:endParaRPr lang="en-US" sz="1040" dirty="0"/>
          </a:p>
        </p:txBody>
      </p:sp>
      <p:sp>
        <p:nvSpPr>
          <p:cNvPr id="7" name="Text 4"/>
          <p:cNvSpPr/>
          <p:nvPr/>
        </p:nvSpPr>
        <p:spPr>
          <a:xfrm>
            <a:off x="438912" y="886968"/>
            <a:ext cx="11301984" cy="438912"/>
          </a:xfrm>
          <a:prstGeom prst="rect">
            <a:avLst/>
          </a:prstGeom>
          <a:noFill/>
          <a:ln/>
        </p:spPr>
        <p:txBody>
          <a:bodyPr wrap="square" lIns="0" tIns="0" rIns="0" bIns="0" rtlCol="0" anchor="t"/>
          <a:lstStyle/>
          <a:p>
            <a:pPr indent="0" marL="0">
              <a:buNone/>
            </a:pPr>
            <a:r>
              <a:rPr lang="en-US" sz="2700" b="1" dirty="0">
                <a:solidFill>
                  <a:srgbClr val="193344"/>
                </a:solidFill>
                <a:latin typeface="Arial" pitchFamily="34" charset="0"/>
                <a:ea typeface="Arial" pitchFamily="34" charset="-122"/>
                <a:cs typeface="Arial" pitchFamily="34" charset="-120"/>
              </a:rPr>
              <a:t>In-house control comes with operating obligations</a:t>
            </a:r>
            <a:endParaRPr lang="en-US" sz="2700" dirty="0"/>
          </a:p>
        </p:txBody>
      </p:sp>
      <p:sp>
        <p:nvSpPr>
          <p:cNvPr id="8" name="Text 5"/>
          <p:cNvSpPr/>
          <p:nvPr/>
        </p:nvSpPr>
        <p:spPr>
          <a:xfrm>
            <a:off x="457200" y="1417320"/>
            <a:ext cx="11247120" cy="347472"/>
          </a:xfrm>
          <a:prstGeom prst="rect">
            <a:avLst/>
          </a:prstGeom>
          <a:noFill/>
          <a:ln/>
        </p:spPr>
        <p:txBody>
          <a:bodyPr wrap="square" lIns="0" tIns="0" rIns="0" bIns="0" rtlCol="0" anchor="t"/>
          <a:lstStyle/>
          <a:p>
            <a:pPr indent="0" marL="0">
              <a:buNone/>
            </a:pPr>
            <a:r>
              <a:rPr lang="en-US" sz="1320" dirty="0">
                <a:solidFill>
                  <a:srgbClr val="596F7B"/>
                </a:solidFill>
                <a:latin typeface="Arial" pitchFamily="34" charset="0"/>
                <a:ea typeface="Arial" pitchFamily="34" charset="-122"/>
                <a:cs typeface="Arial" pitchFamily="34" charset="-120"/>
              </a:rPr>
              <a:t>The largest exposure is concentrated knowledge and support. Fund the controls before expanding business-critical use.</a:t>
            </a:r>
            <a:endParaRPr lang="en-US" sz="1320" dirty="0"/>
          </a:p>
        </p:txBody>
      </p:sp>
      <p:sp>
        <p:nvSpPr>
          <p:cNvPr id="9" name="Shape 6"/>
          <p:cNvSpPr/>
          <p:nvPr/>
        </p:nvSpPr>
        <p:spPr>
          <a:xfrm>
            <a:off x="448056" y="6473952"/>
            <a:ext cx="11292840" cy="0"/>
          </a:xfrm>
          <a:prstGeom prst="line">
            <a:avLst/>
          </a:prstGeom>
          <a:noFill/>
          <a:ln w="17780">
            <a:solidFill>
              <a:srgbClr val="D4E0E5"/>
            </a:solidFill>
            <a:prstDash val="solid"/>
          </a:ln>
        </p:spPr>
      </p:sp>
      <p:sp>
        <p:nvSpPr>
          <p:cNvPr id="10" name="Text 7"/>
          <p:cNvSpPr/>
          <p:nvPr/>
        </p:nvSpPr>
        <p:spPr>
          <a:xfrm>
            <a:off x="457200" y="6601968"/>
            <a:ext cx="1197864" cy="155448"/>
          </a:xfrm>
          <a:prstGeom prst="rect">
            <a:avLst/>
          </a:prstGeom>
          <a:noFill/>
          <a:ln/>
        </p:spPr>
        <p:txBody>
          <a:bodyPr wrap="square" lIns="0" tIns="0" rIns="0" bIns="0" rtlCol="0" anchor="t"/>
          <a:lstStyle/>
          <a:p>
            <a:pPr indent="0" marL="0">
              <a:buNone/>
            </a:pPr>
            <a:r>
              <a:rPr lang="en-US" sz="860" b="1" dirty="0">
                <a:solidFill>
                  <a:srgbClr val="596F7B"/>
                </a:solidFill>
                <a:latin typeface="Arial" pitchFamily="34" charset="0"/>
                <a:ea typeface="Arial" pitchFamily="34" charset="-122"/>
                <a:cs typeface="Arial" pitchFamily="34" charset="-120"/>
              </a:rPr>
              <a:t>CONFIDENTIAL</a:t>
            </a:r>
            <a:endParaRPr lang="en-US" sz="860" dirty="0"/>
          </a:p>
        </p:txBody>
      </p:sp>
      <p:sp>
        <p:nvSpPr>
          <p:cNvPr id="11" name="Text 8"/>
          <p:cNvSpPr/>
          <p:nvPr/>
        </p:nvSpPr>
        <p:spPr>
          <a:xfrm>
            <a:off x="11109960" y="6556248"/>
            <a:ext cx="630936" cy="219456"/>
          </a:xfrm>
          <a:prstGeom prst="rect">
            <a:avLst/>
          </a:prstGeom>
          <a:noFill/>
          <a:ln/>
        </p:spPr>
        <p:txBody>
          <a:bodyPr wrap="square" lIns="0" tIns="0" rIns="0" bIns="0" rtlCol="0" anchor="t"/>
          <a:lstStyle/>
          <a:p>
            <a:pPr algn="r" indent="0" marL="0">
              <a:buNone/>
            </a:pPr>
            <a:r>
              <a:rPr lang="en-US" sz="1150" b="1" dirty="0">
                <a:solidFill>
                  <a:srgbClr val="193344"/>
                </a:solidFill>
                <a:latin typeface="Arial" pitchFamily="34" charset="0"/>
                <a:ea typeface="Arial" pitchFamily="34" charset="-122"/>
                <a:cs typeface="Arial" pitchFamily="34" charset="-120"/>
              </a:rPr>
              <a:t>2 / 3</a:t>
            </a:r>
            <a:endParaRPr lang="en-US" sz="1150" dirty="0"/>
          </a:p>
        </p:txBody>
      </p:sp>
      <p:sp>
        <p:nvSpPr>
          <p:cNvPr id="12" name="Shape 9"/>
          <p:cNvSpPr/>
          <p:nvPr/>
        </p:nvSpPr>
        <p:spPr>
          <a:xfrm>
            <a:off x="457200" y="1938528"/>
            <a:ext cx="11283696" cy="374904"/>
          </a:xfrm>
          <a:prstGeom prst="rect">
            <a:avLst/>
          </a:prstGeom>
          <a:solidFill>
            <a:srgbClr val="08253D"/>
          </a:solidFill>
          <a:ln w="8890">
            <a:solidFill>
              <a:srgbClr val="08253D"/>
            </a:solidFill>
            <a:prstDash val="solid"/>
          </a:ln>
        </p:spPr>
      </p:sp>
      <p:sp>
        <p:nvSpPr>
          <p:cNvPr id="13" name="Text 10"/>
          <p:cNvSpPr/>
          <p:nvPr/>
        </p:nvSpPr>
        <p:spPr>
          <a:xfrm>
            <a:off x="594360" y="2048256"/>
            <a:ext cx="2157984" cy="210312"/>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RISK / BUSINESS IMPACT</a:t>
            </a:r>
            <a:endParaRPr lang="en-US" sz="1100" dirty="0"/>
          </a:p>
        </p:txBody>
      </p:sp>
      <p:sp>
        <p:nvSpPr>
          <p:cNvPr id="14" name="Text 11"/>
          <p:cNvSpPr/>
          <p:nvPr/>
        </p:nvSpPr>
        <p:spPr>
          <a:xfrm>
            <a:off x="2926080" y="2048256"/>
            <a:ext cx="713232" cy="210312"/>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LEVEL*</a:t>
            </a:r>
            <a:endParaRPr lang="en-US" sz="1100" dirty="0"/>
          </a:p>
        </p:txBody>
      </p:sp>
      <p:sp>
        <p:nvSpPr>
          <p:cNvPr id="15" name="Text 12"/>
          <p:cNvSpPr/>
          <p:nvPr/>
        </p:nvSpPr>
        <p:spPr>
          <a:xfrm>
            <a:off x="3849624" y="2048256"/>
            <a:ext cx="5852160" cy="210312"/>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REQUIRED CONTROL / ACCEPTANCE EVIDENCE</a:t>
            </a:r>
            <a:endParaRPr lang="en-US" sz="1100" dirty="0"/>
          </a:p>
        </p:txBody>
      </p:sp>
      <p:sp>
        <p:nvSpPr>
          <p:cNvPr id="16" name="Text 13"/>
          <p:cNvSpPr/>
          <p:nvPr/>
        </p:nvSpPr>
        <p:spPr>
          <a:xfrm>
            <a:off x="10104120" y="2048256"/>
            <a:ext cx="1499616" cy="210312"/>
          </a:xfrm>
          <a:prstGeom prst="rect">
            <a:avLst/>
          </a:prstGeom>
          <a:noFill/>
          <a:ln/>
        </p:spPr>
        <p:txBody>
          <a:bodyPr wrap="square" lIns="0" tIns="0" rIns="0" bIns="0" rtlCol="0" anchor="t"/>
          <a:lstStyle/>
          <a:p>
            <a:pPr indent="0" marL="0">
              <a:buNone/>
            </a:pPr>
            <a:r>
              <a:rPr lang="en-US" sz="1030" b="1" dirty="0">
                <a:solidFill>
                  <a:srgbClr val="FFFFFF"/>
                </a:solidFill>
                <a:latin typeface="Arial" pitchFamily="34" charset="0"/>
                <a:ea typeface="Arial" pitchFamily="34" charset="-122"/>
                <a:cs typeface="Arial" pitchFamily="34" charset="-120"/>
              </a:rPr>
              <a:t>PROPOSED OWNER</a:t>
            </a:r>
            <a:endParaRPr lang="en-US" sz="1030" dirty="0"/>
          </a:p>
        </p:txBody>
      </p:sp>
      <p:sp>
        <p:nvSpPr>
          <p:cNvPr id="17" name="Shape 14"/>
          <p:cNvSpPr/>
          <p:nvPr/>
        </p:nvSpPr>
        <p:spPr>
          <a:xfrm>
            <a:off x="457200" y="2313432"/>
            <a:ext cx="11283696" cy="493776"/>
          </a:xfrm>
          <a:prstGeom prst="rect">
            <a:avLst/>
          </a:prstGeom>
          <a:solidFill>
            <a:srgbClr val="F2F6F8"/>
          </a:solidFill>
          <a:ln w="8890">
            <a:solidFill>
              <a:srgbClr val="F2F6F8"/>
            </a:solidFill>
            <a:prstDash val="solid"/>
          </a:ln>
        </p:spPr>
      </p:sp>
      <p:sp>
        <p:nvSpPr>
          <p:cNvPr id="18" name="Shape 15"/>
          <p:cNvSpPr/>
          <p:nvPr/>
        </p:nvSpPr>
        <p:spPr>
          <a:xfrm>
            <a:off x="457200" y="2807208"/>
            <a:ext cx="11283696" cy="0"/>
          </a:xfrm>
          <a:prstGeom prst="line">
            <a:avLst/>
          </a:prstGeom>
          <a:noFill/>
          <a:ln w="17780">
            <a:solidFill>
              <a:srgbClr val="D4E0E5"/>
            </a:solidFill>
            <a:prstDash val="solid"/>
          </a:ln>
        </p:spPr>
      </p:sp>
      <p:sp>
        <p:nvSpPr>
          <p:cNvPr id="19" name="Text 16"/>
          <p:cNvSpPr/>
          <p:nvPr/>
        </p:nvSpPr>
        <p:spPr>
          <a:xfrm>
            <a:off x="585216" y="2386584"/>
            <a:ext cx="2212848" cy="192024"/>
          </a:xfrm>
          <a:prstGeom prst="rect">
            <a:avLst/>
          </a:prstGeom>
          <a:noFill/>
          <a:ln/>
        </p:spPr>
        <p:txBody>
          <a:bodyPr wrap="square" lIns="0" tIns="0" rIns="0" bIns="0" rtlCol="0" anchor="t"/>
          <a:lstStyle/>
          <a:p>
            <a:pPr indent="0" marL="0">
              <a:buNone/>
            </a:pPr>
            <a:r>
              <a:rPr lang="en-US" sz="1230" b="1" dirty="0">
                <a:solidFill>
                  <a:srgbClr val="193344"/>
                </a:solidFill>
                <a:latin typeface="Arial" pitchFamily="34" charset="0"/>
                <a:ea typeface="Arial" pitchFamily="34" charset="-122"/>
                <a:cs typeface="Arial" pitchFamily="34" charset="-120"/>
              </a:rPr>
              <a:t>Key-person dependency</a:t>
            </a:r>
            <a:endParaRPr lang="en-US" sz="1230" dirty="0"/>
          </a:p>
        </p:txBody>
      </p:sp>
      <p:sp>
        <p:nvSpPr>
          <p:cNvPr id="20" name="Text 17"/>
          <p:cNvSpPr/>
          <p:nvPr/>
        </p:nvSpPr>
        <p:spPr>
          <a:xfrm>
            <a:off x="585216" y="2606040"/>
            <a:ext cx="2212848" cy="155448"/>
          </a:xfrm>
          <a:prstGeom prst="rect">
            <a:avLst/>
          </a:prstGeom>
          <a:noFill/>
          <a:ln/>
        </p:spPr>
        <p:txBody>
          <a:bodyPr wrap="square" lIns="0" tIns="0" rIns="0" bIns="0" rtlCol="0" anchor="t"/>
          <a:lstStyle/>
          <a:p>
            <a:pPr indent="0" marL="0">
              <a:buNone/>
            </a:pPr>
            <a:r>
              <a:rPr lang="en-US" sz="1010" dirty="0">
                <a:solidFill>
                  <a:srgbClr val="596F7B"/>
                </a:solidFill>
                <a:latin typeface="Arial" pitchFamily="34" charset="0"/>
                <a:ea typeface="Arial" pitchFamily="34" charset="-122"/>
                <a:cs typeface="Arial" pitchFamily="34" charset="-120"/>
              </a:rPr>
              <a:t>Absence delays fixes</a:t>
            </a:r>
            <a:endParaRPr lang="en-US" sz="1010" dirty="0"/>
          </a:p>
        </p:txBody>
      </p:sp>
      <p:sp>
        <p:nvSpPr>
          <p:cNvPr id="21" name="Text 18"/>
          <p:cNvSpPr/>
          <p:nvPr/>
        </p:nvSpPr>
        <p:spPr>
          <a:xfrm>
            <a:off x="2935224" y="2487168"/>
            <a:ext cx="667512" cy="210312"/>
          </a:xfrm>
          <a:prstGeom prst="rect">
            <a:avLst/>
          </a:prstGeom>
          <a:noFill/>
          <a:ln/>
        </p:spPr>
        <p:txBody>
          <a:bodyPr wrap="square" lIns="0" tIns="0" rIns="0" bIns="0" rtlCol="0" anchor="t"/>
          <a:lstStyle/>
          <a:p>
            <a:pPr indent="0" marL="0">
              <a:buNone/>
            </a:pPr>
            <a:r>
              <a:rPr lang="en-US" sz="1200" b="1" dirty="0">
                <a:solidFill>
                  <a:srgbClr val="A63732"/>
                </a:solidFill>
                <a:latin typeface="Arial" pitchFamily="34" charset="0"/>
                <a:ea typeface="Arial" pitchFamily="34" charset="-122"/>
                <a:cs typeface="Arial" pitchFamily="34" charset="-120"/>
              </a:rPr>
              <a:t>H &gt; M</a:t>
            </a:r>
            <a:endParaRPr lang="en-US" sz="1200" dirty="0"/>
          </a:p>
        </p:txBody>
      </p:sp>
      <p:sp>
        <p:nvSpPr>
          <p:cNvPr id="22" name="Text 19"/>
          <p:cNvSpPr/>
          <p:nvPr/>
        </p:nvSpPr>
        <p:spPr>
          <a:xfrm>
            <a:off x="3849624" y="2386584"/>
            <a:ext cx="5852160" cy="393192"/>
          </a:xfrm>
          <a:prstGeom prst="rect">
            <a:avLst/>
          </a:prstGeom>
          <a:noFill/>
          <a:ln/>
        </p:spPr>
        <p:txBody>
          <a:bodyPr wrap="square" lIns="0" tIns="0" rIns="0" bIns="0" rtlCol="0" anchor="t"/>
          <a:lstStyle/>
          <a:p>
            <a:pPr indent="0" marL="0">
              <a:buNone/>
            </a:pPr>
            <a:r>
              <a:rPr lang="en-US" sz="1200" dirty="0">
                <a:solidFill>
                  <a:srgbClr val="193344"/>
                </a:solidFill>
                <a:latin typeface="Arial" pitchFamily="34" charset="0"/>
                <a:ea typeface="Arial" pitchFamily="34" charset="-122"/>
                <a:cs typeface="Arial" pitchFamily="34" charset="-120"/>
              </a:rPr>
              <a:t>Two-person deployment and restore cover; runbooks, code review</a:t>
            </a:r>
            <a:endParaRPr lang="en-US" sz="1200" dirty="0"/>
          </a:p>
          <a:p>
            <a:pPr indent="0" marL="0">
              <a:buNone/>
            </a:pPr>
            <a:r>
              <a:rPr lang="en-US" sz="1200" dirty="0">
                <a:solidFill>
                  <a:srgbClr val="193344"/>
                </a:solidFill>
                <a:latin typeface="Arial" pitchFamily="34" charset="0"/>
                <a:ea typeface="Arial" pitchFamily="34" charset="-122"/>
                <a:cs typeface="Arial" pitchFamily="34" charset="-120"/>
              </a:rPr>
              <a:t>and a support retainer.</a:t>
            </a:r>
            <a:endParaRPr lang="en-US" sz="1200" dirty="0"/>
          </a:p>
        </p:txBody>
      </p:sp>
      <p:sp>
        <p:nvSpPr>
          <p:cNvPr id="23" name="Text 20"/>
          <p:cNvSpPr/>
          <p:nvPr/>
        </p:nvSpPr>
        <p:spPr>
          <a:xfrm>
            <a:off x="10104120" y="2414016"/>
            <a:ext cx="1463040" cy="347472"/>
          </a:xfrm>
          <a:prstGeom prst="rect">
            <a:avLst/>
          </a:prstGeom>
          <a:noFill/>
          <a:ln/>
        </p:spPr>
        <p:txBody>
          <a:bodyPr wrap="square" lIns="0" tIns="0" rIns="0" bIns="0" rtlCol="0" anchor="t"/>
          <a:lstStyle/>
          <a:p>
            <a:pPr indent="0" marL="0">
              <a:buNone/>
            </a:pPr>
            <a:r>
              <a:rPr lang="en-US" sz="1160" b="1" dirty="0">
                <a:solidFill>
                  <a:srgbClr val="226B92"/>
                </a:solidFill>
                <a:latin typeface="Arial" pitchFamily="34" charset="0"/>
                <a:ea typeface="Arial" pitchFamily="34" charset="-122"/>
                <a:cs typeface="Arial" pitchFamily="34" charset="-120"/>
              </a:rPr>
              <a:t>Director + IT</a:t>
            </a:r>
            <a:endParaRPr lang="en-US" sz="1160" dirty="0"/>
          </a:p>
        </p:txBody>
      </p:sp>
      <p:sp>
        <p:nvSpPr>
          <p:cNvPr id="24" name="Shape 21"/>
          <p:cNvSpPr/>
          <p:nvPr/>
        </p:nvSpPr>
        <p:spPr>
          <a:xfrm>
            <a:off x="457200" y="2807208"/>
            <a:ext cx="11283696" cy="493776"/>
          </a:xfrm>
          <a:prstGeom prst="rect">
            <a:avLst/>
          </a:prstGeom>
          <a:solidFill>
            <a:srgbClr val="FFFFFF"/>
          </a:solidFill>
          <a:ln w="8890">
            <a:solidFill>
              <a:srgbClr val="FFFFFF"/>
            </a:solidFill>
            <a:prstDash val="solid"/>
          </a:ln>
        </p:spPr>
      </p:sp>
      <p:sp>
        <p:nvSpPr>
          <p:cNvPr id="25" name="Shape 22"/>
          <p:cNvSpPr/>
          <p:nvPr/>
        </p:nvSpPr>
        <p:spPr>
          <a:xfrm>
            <a:off x="457200" y="3300984"/>
            <a:ext cx="11283696" cy="0"/>
          </a:xfrm>
          <a:prstGeom prst="line">
            <a:avLst/>
          </a:prstGeom>
          <a:noFill/>
          <a:ln w="17780">
            <a:solidFill>
              <a:srgbClr val="D4E0E5"/>
            </a:solidFill>
            <a:prstDash val="solid"/>
          </a:ln>
        </p:spPr>
      </p:sp>
      <p:sp>
        <p:nvSpPr>
          <p:cNvPr id="26" name="Text 23"/>
          <p:cNvSpPr/>
          <p:nvPr/>
        </p:nvSpPr>
        <p:spPr>
          <a:xfrm>
            <a:off x="585216" y="2880360"/>
            <a:ext cx="2212848" cy="192024"/>
          </a:xfrm>
          <a:prstGeom prst="rect">
            <a:avLst/>
          </a:prstGeom>
          <a:noFill/>
          <a:ln/>
        </p:spPr>
        <p:txBody>
          <a:bodyPr wrap="square" lIns="0" tIns="0" rIns="0" bIns="0" rtlCol="0" anchor="t"/>
          <a:lstStyle/>
          <a:p>
            <a:pPr indent="0" marL="0">
              <a:buNone/>
            </a:pPr>
            <a:r>
              <a:rPr lang="en-US" sz="1230" b="1" dirty="0">
                <a:solidFill>
                  <a:srgbClr val="193344"/>
                </a:solidFill>
                <a:latin typeface="Arial" pitchFamily="34" charset="0"/>
                <a:ea typeface="Arial" pitchFamily="34" charset="-122"/>
                <a:cs typeface="Arial" pitchFamily="34" charset="-120"/>
              </a:rPr>
              <a:t>Client / staff data exposure</a:t>
            </a:r>
            <a:endParaRPr lang="en-US" sz="1230" dirty="0"/>
          </a:p>
        </p:txBody>
      </p:sp>
      <p:sp>
        <p:nvSpPr>
          <p:cNvPr id="27" name="Text 24"/>
          <p:cNvSpPr/>
          <p:nvPr/>
        </p:nvSpPr>
        <p:spPr>
          <a:xfrm>
            <a:off x="585216" y="3099816"/>
            <a:ext cx="2212848" cy="155448"/>
          </a:xfrm>
          <a:prstGeom prst="rect">
            <a:avLst/>
          </a:prstGeom>
          <a:noFill/>
          <a:ln/>
        </p:spPr>
        <p:txBody>
          <a:bodyPr wrap="square" lIns="0" tIns="0" rIns="0" bIns="0" rtlCol="0" anchor="t"/>
          <a:lstStyle/>
          <a:p>
            <a:pPr indent="0" marL="0">
              <a:buNone/>
            </a:pPr>
            <a:r>
              <a:rPr lang="en-US" sz="1010" dirty="0">
                <a:solidFill>
                  <a:srgbClr val="596F7B"/>
                </a:solidFill>
                <a:latin typeface="Arial" pitchFamily="34" charset="0"/>
                <a:ea typeface="Arial" pitchFamily="34" charset="-122"/>
                <a:cs typeface="Arial" pitchFamily="34" charset="-120"/>
              </a:rPr>
              <a:t>GPS, photos and reports</a:t>
            </a:r>
            <a:endParaRPr lang="en-US" sz="1010" dirty="0"/>
          </a:p>
        </p:txBody>
      </p:sp>
      <p:sp>
        <p:nvSpPr>
          <p:cNvPr id="28" name="Text 25"/>
          <p:cNvSpPr/>
          <p:nvPr/>
        </p:nvSpPr>
        <p:spPr>
          <a:xfrm>
            <a:off x="2935224" y="2980944"/>
            <a:ext cx="667512" cy="210312"/>
          </a:xfrm>
          <a:prstGeom prst="rect">
            <a:avLst/>
          </a:prstGeom>
          <a:noFill/>
          <a:ln/>
        </p:spPr>
        <p:txBody>
          <a:bodyPr wrap="square" lIns="0" tIns="0" rIns="0" bIns="0" rtlCol="0" anchor="t"/>
          <a:lstStyle/>
          <a:p>
            <a:pPr indent="0" marL="0">
              <a:buNone/>
            </a:pPr>
            <a:r>
              <a:rPr lang="en-US" sz="1200" b="1" dirty="0">
                <a:solidFill>
                  <a:srgbClr val="A63732"/>
                </a:solidFill>
                <a:latin typeface="Arial" pitchFamily="34" charset="0"/>
                <a:ea typeface="Arial" pitchFamily="34" charset="-122"/>
                <a:cs typeface="Arial" pitchFamily="34" charset="-120"/>
              </a:rPr>
              <a:t>H &gt; M</a:t>
            </a:r>
            <a:endParaRPr lang="en-US" sz="1200" dirty="0"/>
          </a:p>
        </p:txBody>
      </p:sp>
      <p:sp>
        <p:nvSpPr>
          <p:cNvPr id="29" name="Text 26"/>
          <p:cNvSpPr/>
          <p:nvPr/>
        </p:nvSpPr>
        <p:spPr>
          <a:xfrm>
            <a:off x="3849624" y="2880360"/>
            <a:ext cx="5852160" cy="393192"/>
          </a:xfrm>
          <a:prstGeom prst="rect">
            <a:avLst/>
          </a:prstGeom>
          <a:noFill/>
          <a:ln/>
        </p:spPr>
        <p:txBody>
          <a:bodyPr wrap="square" lIns="0" tIns="0" rIns="0" bIns="0" rtlCol="0" anchor="t"/>
          <a:lstStyle/>
          <a:p>
            <a:pPr indent="0" marL="0">
              <a:buNone/>
            </a:pPr>
            <a:r>
              <a:rPr lang="en-US" sz="1200" dirty="0">
                <a:solidFill>
                  <a:srgbClr val="193344"/>
                </a:solidFill>
                <a:latin typeface="Arial" pitchFamily="34" charset="0"/>
                <a:ea typeface="Arial" pitchFamily="34" charset="-122"/>
                <a:cs typeface="Arial" pitchFamily="34" charset="-120"/>
              </a:rPr>
              <a:t>MFA, client/store isolation tests, scoped service access;</a:t>
            </a:r>
            <a:endParaRPr lang="en-US" sz="1200" dirty="0"/>
          </a:p>
          <a:p>
            <a:pPr indent="0" marL="0">
              <a:buNone/>
            </a:pPr>
            <a:r>
              <a:rPr lang="en-US" sz="1200" dirty="0">
                <a:solidFill>
                  <a:srgbClr val="193344"/>
                </a:solidFill>
                <a:latin typeface="Arial" pitchFamily="34" charset="0"/>
                <a:ea typeface="Arial" pitchFamily="34" charset="-122"/>
                <a:cs typeface="Arial" pitchFamily="34" charset="-120"/>
              </a:rPr>
              <a:t>device revocation and retention rules.</a:t>
            </a:r>
            <a:endParaRPr lang="en-US" sz="1200" dirty="0"/>
          </a:p>
        </p:txBody>
      </p:sp>
      <p:sp>
        <p:nvSpPr>
          <p:cNvPr id="30" name="Text 27"/>
          <p:cNvSpPr/>
          <p:nvPr/>
        </p:nvSpPr>
        <p:spPr>
          <a:xfrm>
            <a:off x="10104120" y="2907792"/>
            <a:ext cx="1463040" cy="347472"/>
          </a:xfrm>
          <a:prstGeom prst="rect">
            <a:avLst/>
          </a:prstGeom>
          <a:noFill/>
          <a:ln/>
        </p:spPr>
        <p:txBody>
          <a:bodyPr wrap="square" lIns="0" tIns="0" rIns="0" bIns="0" rtlCol="0" anchor="t"/>
          <a:lstStyle/>
          <a:p>
            <a:pPr indent="0" marL="0">
              <a:buNone/>
            </a:pPr>
            <a:r>
              <a:rPr lang="en-US" sz="1160" b="1" dirty="0">
                <a:solidFill>
                  <a:srgbClr val="226B92"/>
                </a:solidFill>
                <a:latin typeface="Arial" pitchFamily="34" charset="0"/>
                <a:ea typeface="Arial" pitchFamily="34" charset="-122"/>
                <a:cs typeface="Arial" pitchFamily="34" charset="-120"/>
              </a:rPr>
              <a:t>Information</a:t>
            </a:r>
            <a:endParaRPr lang="en-US" sz="1160" dirty="0"/>
          </a:p>
          <a:p>
            <a:pPr indent="0" marL="0">
              <a:buNone/>
            </a:pPr>
            <a:r>
              <a:rPr lang="en-US" sz="1160" b="1" dirty="0">
                <a:solidFill>
                  <a:srgbClr val="226B92"/>
                </a:solidFill>
                <a:latin typeface="Arial" pitchFamily="34" charset="0"/>
                <a:ea typeface="Arial" pitchFamily="34" charset="-122"/>
                <a:cs typeface="Arial" pitchFamily="34" charset="-120"/>
              </a:rPr>
              <a:t>Officer + IT</a:t>
            </a:r>
            <a:endParaRPr lang="en-US" sz="1160" dirty="0"/>
          </a:p>
        </p:txBody>
      </p:sp>
      <p:sp>
        <p:nvSpPr>
          <p:cNvPr id="31" name="Shape 28"/>
          <p:cNvSpPr/>
          <p:nvPr/>
        </p:nvSpPr>
        <p:spPr>
          <a:xfrm>
            <a:off x="457200" y="3300984"/>
            <a:ext cx="11283696" cy="493776"/>
          </a:xfrm>
          <a:prstGeom prst="rect">
            <a:avLst/>
          </a:prstGeom>
          <a:solidFill>
            <a:srgbClr val="F2F6F8"/>
          </a:solidFill>
          <a:ln w="8890">
            <a:solidFill>
              <a:srgbClr val="F2F6F8"/>
            </a:solidFill>
            <a:prstDash val="solid"/>
          </a:ln>
        </p:spPr>
      </p:sp>
      <p:sp>
        <p:nvSpPr>
          <p:cNvPr id="32" name="Shape 29"/>
          <p:cNvSpPr/>
          <p:nvPr/>
        </p:nvSpPr>
        <p:spPr>
          <a:xfrm>
            <a:off x="457200" y="3794760"/>
            <a:ext cx="11283696" cy="0"/>
          </a:xfrm>
          <a:prstGeom prst="line">
            <a:avLst/>
          </a:prstGeom>
          <a:noFill/>
          <a:ln w="17780">
            <a:solidFill>
              <a:srgbClr val="D4E0E5"/>
            </a:solidFill>
            <a:prstDash val="solid"/>
          </a:ln>
        </p:spPr>
      </p:sp>
      <p:sp>
        <p:nvSpPr>
          <p:cNvPr id="33" name="Text 30"/>
          <p:cNvSpPr/>
          <p:nvPr/>
        </p:nvSpPr>
        <p:spPr>
          <a:xfrm>
            <a:off x="585216" y="3374136"/>
            <a:ext cx="2212848" cy="192024"/>
          </a:xfrm>
          <a:prstGeom prst="rect">
            <a:avLst/>
          </a:prstGeom>
          <a:noFill/>
          <a:ln/>
        </p:spPr>
        <p:txBody>
          <a:bodyPr wrap="square" lIns="0" tIns="0" rIns="0" bIns="0" rtlCol="0" anchor="t"/>
          <a:lstStyle/>
          <a:p>
            <a:pPr indent="0" marL="0">
              <a:buNone/>
            </a:pPr>
            <a:r>
              <a:rPr lang="en-US" sz="1230" b="1" dirty="0">
                <a:solidFill>
                  <a:srgbClr val="193344"/>
                </a:solidFill>
                <a:latin typeface="Arial" pitchFamily="34" charset="0"/>
                <a:ea typeface="Arial" pitchFamily="34" charset="-122"/>
                <a:cs typeface="Arial" pitchFamily="34" charset="-120"/>
              </a:rPr>
              <a:t>Outage / failed cutover</a:t>
            </a:r>
            <a:endParaRPr lang="en-US" sz="1230" dirty="0"/>
          </a:p>
        </p:txBody>
      </p:sp>
      <p:sp>
        <p:nvSpPr>
          <p:cNvPr id="34" name="Text 31"/>
          <p:cNvSpPr/>
          <p:nvPr/>
        </p:nvSpPr>
        <p:spPr>
          <a:xfrm>
            <a:off x="585216" y="3593592"/>
            <a:ext cx="2212848" cy="155448"/>
          </a:xfrm>
          <a:prstGeom prst="rect">
            <a:avLst/>
          </a:prstGeom>
          <a:noFill/>
          <a:ln/>
        </p:spPr>
        <p:txBody>
          <a:bodyPr wrap="square" lIns="0" tIns="0" rIns="0" bIns="0" rtlCol="0" anchor="t"/>
          <a:lstStyle/>
          <a:p>
            <a:pPr indent="0" marL="0">
              <a:buNone/>
            </a:pPr>
            <a:r>
              <a:rPr lang="en-US" sz="1010" dirty="0">
                <a:solidFill>
                  <a:srgbClr val="596F7B"/>
                </a:solidFill>
                <a:latin typeface="Arial" pitchFamily="34" charset="0"/>
                <a:ea typeface="Arial" pitchFamily="34" charset="-122"/>
                <a:cs typeface="Arial" pitchFamily="34" charset="-120"/>
              </a:rPr>
              <a:t>Visits and jobs disrupted</a:t>
            </a:r>
            <a:endParaRPr lang="en-US" sz="1010" dirty="0"/>
          </a:p>
        </p:txBody>
      </p:sp>
      <p:sp>
        <p:nvSpPr>
          <p:cNvPr id="35" name="Text 32"/>
          <p:cNvSpPr/>
          <p:nvPr/>
        </p:nvSpPr>
        <p:spPr>
          <a:xfrm>
            <a:off x="2935224" y="3474720"/>
            <a:ext cx="667512" cy="210312"/>
          </a:xfrm>
          <a:prstGeom prst="rect">
            <a:avLst/>
          </a:prstGeom>
          <a:noFill/>
          <a:ln/>
        </p:spPr>
        <p:txBody>
          <a:bodyPr wrap="square" lIns="0" tIns="0" rIns="0" bIns="0" rtlCol="0" anchor="t"/>
          <a:lstStyle/>
          <a:p>
            <a:pPr indent="0" marL="0">
              <a:buNone/>
            </a:pPr>
            <a:r>
              <a:rPr lang="en-US" sz="1200" b="1" dirty="0">
                <a:solidFill>
                  <a:srgbClr val="A63732"/>
                </a:solidFill>
                <a:latin typeface="Arial" pitchFamily="34" charset="0"/>
                <a:ea typeface="Arial" pitchFamily="34" charset="-122"/>
                <a:cs typeface="Arial" pitchFamily="34" charset="-120"/>
              </a:rPr>
              <a:t>H &gt; M</a:t>
            </a:r>
            <a:endParaRPr lang="en-US" sz="1200" dirty="0"/>
          </a:p>
        </p:txBody>
      </p:sp>
      <p:sp>
        <p:nvSpPr>
          <p:cNvPr id="36" name="Text 33"/>
          <p:cNvSpPr/>
          <p:nvPr/>
        </p:nvSpPr>
        <p:spPr>
          <a:xfrm>
            <a:off x="3849624" y="3374136"/>
            <a:ext cx="5852160" cy="393192"/>
          </a:xfrm>
          <a:prstGeom prst="rect">
            <a:avLst/>
          </a:prstGeom>
          <a:noFill/>
          <a:ln/>
        </p:spPr>
        <p:txBody>
          <a:bodyPr wrap="square" lIns="0" tIns="0" rIns="0" bIns="0" rtlCol="0" anchor="t"/>
          <a:lstStyle/>
          <a:p>
            <a:pPr indent="0" marL="0">
              <a:buNone/>
            </a:pPr>
            <a:r>
              <a:rPr lang="en-US" sz="1200" dirty="0">
                <a:solidFill>
                  <a:srgbClr val="193344"/>
                </a:solidFill>
                <a:latin typeface="Arial" pitchFamily="34" charset="0"/>
                <a:ea typeface="Arial" pitchFamily="34" charset="-122"/>
                <a:cs typeface="Arial" pitchFamily="34" charset="-120"/>
              </a:rPr>
              <a:t>Staged releases, job alerts, versioned backups and restore drills;</a:t>
            </a:r>
            <a:endParaRPr lang="en-US" sz="1200" dirty="0"/>
          </a:p>
          <a:p>
            <a:pPr indent="0" marL="0">
              <a:buNone/>
            </a:pPr>
            <a:r>
              <a:rPr lang="en-US" sz="1200" dirty="0">
                <a:solidFill>
                  <a:srgbClr val="193344"/>
                </a:solidFill>
                <a:latin typeface="Arial" pitchFamily="34" charset="0"/>
                <a:ea typeface="Arial" pitchFamily="34" charset="-122"/>
                <a:cs typeface="Arial" pitchFamily="34" charset="-120"/>
              </a:rPr>
              <a:t>rehearse rollback and a regional-outage response.</a:t>
            </a:r>
            <a:endParaRPr lang="en-US" sz="1200" dirty="0"/>
          </a:p>
        </p:txBody>
      </p:sp>
      <p:sp>
        <p:nvSpPr>
          <p:cNvPr id="37" name="Text 34"/>
          <p:cNvSpPr/>
          <p:nvPr/>
        </p:nvSpPr>
        <p:spPr>
          <a:xfrm>
            <a:off x="10104120" y="3401568"/>
            <a:ext cx="1463040" cy="347472"/>
          </a:xfrm>
          <a:prstGeom prst="rect">
            <a:avLst/>
          </a:prstGeom>
          <a:noFill/>
          <a:ln/>
        </p:spPr>
        <p:txBody>
          <a:bodyPr wrap="square" lIns="0" tIns="0" rIns="0" bIns="0" rtlCol="0" anchor="t"/>
          <a:lstStyle/>
          <a:p>
            <a:pPr indent="0" marL="0">
              <a:buNone/>
            </a:pPr>
            <a:r>
              <a:rPr lang="en-US" sz="1160" b="1" dirty="0">
                <a:solidFill>
                  <a:srgbClr val="226B92"/>
                </a:solidFill>
                <a:latin typeface="Arial" pitchFamily="34" charset="0"/>
                <a:ea typeface="Arial" pitchFamily="34" charset="-122"/>
                <a:cs typeface="Arial" pitchFamily="34" charset="-120"/>
              </a:rPr>
              <a:t>Cloud lead</a:t>
            </a:r>
            <a:endParaRPr lang="en-US" sz="1160" dirty="0"/>
          </a:p>
          <a:p>
            <a:pPr indent="0" marL="0">
              <a:buNone/>
            </a:pPr>
            <a:r>
              <a:rPr lang="en-US" sz="1160" b="1" dirty="0">
                <a:solidFill>
                  <a:srgbClr val="226B92"/>
                </a:solidFill>
                <a:latin typeface="Arial" pitchFamily="34" charset="0"/>
                <a:ea typeface="Arial" pitchFamily="34" charset="-122"/>
                <a:cs typeface="Arial" pitchFamily="34" charset="-120"/>
              </a:rPr>
              <a:t>+ QA</a:t>
            </a:r>
            <a:endParaRPr lang="en-US" sz="1160" dirty="0"/>
          </a:p>
        </p:txBody>
      </p:sp>
      <p:sp>
        <p:nvSpPr>
          <p:cNvPr id="38" name="Shape 35"/>
          <p:cNvSpPr/>
          <p:nvPr/>
        </p:nvSpPr>
        <p:spPr>
          <a:xfrm>
            <a:off x="457200" y="3794760"/>
            <a:ext cx="11283696" cy="493776"/>
          </a:xfrm>
          <a:prstGeom prst="rect">
            <a:avLst/>
          </a:prstGeom>
          <a:solidFill>
            <a:srgbClr val="FFFFFF"/>
          </a:solidFill>
          <a:ln w="8890">
            <a:solidFill>
              <a:srgbClr val="FFFFFF"/>
            </a:solidFill>
            <a:prstDash val="solid"/>
          </a:ln>
        </p:spPr>
      </p:sp>
      <p:sp>
        <p:nvSpPr>
          <p:cNvPr id="39" name="Shape 36"/>
          <p:cNvSpPr/>
          <p:nvPr/>
        </p:nvSpPr>
        <p:spPr>
          <a:xfrm>
            <a:off x="457200" y="4288536"/>
            <a:ext cx="11283696" cy="0"/>
          </a:xfrm>
          <a:prstGeom prst="line">
            <a:avLst/>
          </a:prstGeom>
          <a:noFill/>
          <a:ln w="17780">
            <a:solidFill>
              <a:srgbClr val="D4E0E5"/>
            </a:solidFill>
            <a:prstDash val="solid"/>
          </a:ln>
        </p:spPr>
      </p:sp>
      <p:sp>
        <p:nvSpPr>
          <p:cNvPr id="40" name="Text 37"/>
          <p:cNvSpPr/>
          <p:nvPr/>
        </p:nvSpPr>
        <p:spPr>
          <a:xfrm>
            <a:off x="585216" y="3867912"/>
            <a:ext cx="2212848" cy="192024"/>
          </a:xfrm>
          <a:prstGeom prst="rect">
            <a:avLst/>
          </a:prstGeom>
          <a:noFill/>
          <a:ln/>
        </p:spPr>
        <p:txBody>
          <a:bodyPr wrap="square" lIns="0" tIns="0" rIns="0" bIns="0" rtlCol="0" anchor="t"/>
          <a:lstStyle/>
          <a:p>
            <a:pPr indent="0" marL="0">
              <a:buNone/>
            </a:pPr>
            <a:r>
              <a:rPr lang="en-US" sz="1230" b="1" dirty="0">
                <a:solidFill>
                  <a:srgbClr val="193344"/>
                </a:solidFill>
                <a:latin typeface="Arial" pitchFamily="34" charset="0"/>
                <a:ea typeface="Arial" pitchFamily="34" charset="-122"/>
                <a:cs typeface="Arial" pitchFamily="34" charset="-120"/>
              </a:rPr>
              <a:t>Offline work / order loss</a:t>
            </a:r>
            <a:endParaRPr lang="en-US" sz="1230" dirty="0"/>
          </a:p>
        </p:txBody>
      </p:sp>
      <p:sp>
        <p:nvSpPr>
          <p:cNvPr id="41" name="Text 38"/>
          <p:cNvSpPr/>
          <p:nvPr/>
        </p:nvSpPr>
        <p:spPr>
          <a:xfrm>
            <a:off x="585216" y="4087368"/>
            <a:ext cx="2212848" cy="155448"/>
          </a:xfrm>
          <a:prstGeom prst="rect">
            <a:avLst/>
          </a:prstGeom>
          <a:noFill/>
          <a:ln/>
        </p:spPr>
        <p:txBody>
          <a:bodyPr wrap="square" lIns="0" tIns="0" rIns="0" bIns="0" rtlCol="0" anchor="t"/>
          <a:lstStyle/>
          <a:p>
            <a:pPr indent="0" marL="0">
              <a:buNone/>
            </a:pPr>
            <a:r>
              <a:rPr lang="en-US" sz="1010" dirty="0">
                <a:solidFill>
                  <a:srgbClr val="596F7B"/>
                </a:solidFill>
                <a:latin typeface="Arial" pitchFamily="34" charset="0"/>
                <a:ea typeface="Arial" pitchFamily="34" charset="-122"/>
                <a:cs typeface="Arial" pitchFamily="34" charset="-120"/>
              </a:rPr>
              <a:t>Poor signal or lost device</a:t>
            </a:r>
            <a:endParaRPr lang="en-US" sz="1010" dirty="0"/>
          </a:p>
        </p:txBody>
      </p:sp>
      <p:sp>
        <p:nvSpPr>
          <p:cNvPr id="42" name="Text 39"/>
          <p:cNvSpPr/>
          <p:nvPr/>
        </p:nvSpPr>
        <p:spPr>
          <a:xfrm>
            <a:off x="2935224" y="3968496"/>
            <a:ext cx="667512" cy="210312"/>
          </a:xfrm>
          <a:prstGeom prst="rect">
            <a:avLst/>
          </a:prstGeom>
          <a:noFill/>
          <a:ln/>
        </p:spPr>
        <p:txBody>
          <a:bodyPr wrap="square" lIns="0" tIns="0" rIns="0" bIns="0" rtlCol="0" anchor="t"/>
          <a:lstStyle/>
          <a:p>
            <a:pPr indent="0" marL="0">
              <a:buNone/>
            </a:pPr>
            <a:r>
              <a:rPr lang="en-US" sz="1200" b="1" dirty="0">
                <a:solidFill>
                  <a:srgbClr val="A63732"/>
                </a:solidFill>
                <a:latin typeface="Arial" pitchFamily="34" charset="0"/>
                <a:ea typeface="Arial" pitchFamily="34" charset="-122"/>
                <a:cs typeface="Arial" pitchFamily="34" charset="-120"/>
              </a:rPr>
              <a:t>H &gt; M</a:t>
            </a:r>
            <a:endParaRPr lang="en-US" sz="1200" dirty="0"/>
          </a:p>
        </p:txBody>
      </p:sp>
      <p:sp>
        <p:nvSpPr>
          <p:cNvPr id="43" name="Text 40"/>
          <p:cNvSpPr/>
          <p:nvPr/>
        </p:nvSpPr>
        <p:spPr>
          <a:xfrm>
            <a:off x="3849624" y="3867912"/>
            <a:ext cx="5852160" cy="393192"/>
          </a:xfrm>
          <a:prstGeom prst="rect">
            <a:avLst/>
          </a:prstGeom>
          <a:noFill/>
          <a:ln/>
        </p:spPr>
        <p:txBody>
          <a:bodyPr wrap="square" lIns="0" tIns="0" rIns="0" bIns="0" rtlCol="0" anchor="t"/>
          <a:lstStyle/>
          <a:p>
            <a:pPr indent="0" marL="0">
              <a:buNone/>
            </a:pPr>
            <a:r>
              <a:rPr lang="en-US" sz="1200" dirty="0">
                <a:solidFill>
                  <a:srgbClr val="193344"/>
                </a:solidFill>
                <a:latin typeface="Arial" pitchFamily="34" charset="0"/>
                <a:ea typeface="Arial" pitchFamily="34" charset="-122"/>
                <a:cs typeface="Arial" pitchFamily="34" charset="-120"/>
              </a:rPr>
              <a:t>Encrypted local queue; restart and sync tests; duplicate-safe</a:t>
            </a:r>
            <a:endParaRPr lang="en-US" sz="1200" dirty="0"/>
          </a:p>
          <a:p>
            <a:pPr indent="0" marL="0">
              <a:buNone/>
            </a:pPr>
            <a:r>
              <a:rPr lang="en-US" sz="1200" dirty="0">
                <a:solidFill>
                  <a:srgbClr val="193344"/>
                </a:solidFill>
                <a:latin typeface="Arial" pitchFamily="34" charset="0"/>
                <a:ea typeface="Arial" pitchFamily="34" charset="-122"/>
                <a:cs typeface="Arial" pitchFamily="34" charset="-120"/>
              </a:rPr>
              <a:t>orders with clear pending, accepted and rejected states.</a:t>
            </a:r>
            <a:endParaRPr lang="en-US" sz="1200" dirty="0"/>
          </a:p>
        </p:txBody>
      </p:sp>
      <p:sp>
        <p:nvSpPr>
          <p:cNvPr id="44" name="Text 41"/>
          <p:cNvSpPr/>
          <p:nvPr/>
        </p:nvSpPr>
        <p:spPr>
          <a:xfrm>
            <a:off x="10104120" y="3895344"/>
            <a:ext cx="1463040" cy="347472"/>
          </a:xfrm>
          <a:prstGeom prst="rect">
            <a:avLst/>
          </a:prstGeom>
          <a:noFill/>
          <a:ln/>
        </p:spPr>
        <p:txBody>
          <a:bodyPr wrap="square" lIns="0" tIns="0" rIns="0" bIns="0" rtlCol="0" anchor="t"/>
          <a:lstStyle/>
          <a:p>
            <a:pPr indent="0" marL="0">
              <a:buNone/>
            </a:pPr>
            <a:r>
              <a:rPr lang="en-US" sz="1160" b="1" dirty="0">
                <a:solidFill>
                  <a:srgbClr val="226B92"/>
                </a:solidFill>
                <a:latin typeface="Arial" pitchFamily="34" charset="0"/>
                <a:ea typeface="Arial" pitchFamily="34" charset="-122"/>
                <a:cs typeface="Arial" pitchFamily="34" charset="-120"/>
              </a:rPr>
              <a:t>Mobile lead</a:t>
            </a:r>
            <a:endParaRPr lang="en-US" sz="1160" dirty="0"/>
          </a:p>
          <a:p>
            <a:pPr indent="0" marL="0">
              <a:buNone/>
            </a:pPr>
            <a:r>
              <a:rPr lang="en-US" sz="1160" b="1" dirty="0">
                <a:solidFill>
                  <a:srgbClr val="226B92"/>
                </a:solidFill>
                <a:latin typeface="Arial" pitchFamily="34" charset="0"/>
                <a:ea typeface="Arial" pitchFamily="34" charset="-122"/>
                <a:cs typeface="Arial" pitchFamily="34" charset="-120"/>
              </a:rPr>
              <a:t>+ Field Ops</a:t>
            </a:r>
            <a:endParaRPr lang="en-US" sz="1160" dirty="0"/>
          </a:p>
        </p:txBody>
      </p:sp>
      <p:sp>
        <p:nvSpPr>
          <p:cNvPr id="45" name="Shape 42"/>
          <p:cNvSpPr/>
          <p:nvPr/>
        </p:nvSpPr>
        <p:spPr>
          <a:xfrm>
            <a:off x="457200" y="4288536"/>
            <a:ext cx="11283696" cy="493776"/>
          </a:xfrm>
          <a:prstGeom prst="rect">
            <a:avLst/>
          </a:prstGeom>
          <a:solidFill>
            <a:srgbClr val="F2F6F8"/>
          </a:solidFill>
          <a:ln w="8890">
            <a:solidFill>
              <a:srgbClr val="F2F6F8"/>
            </a:solidFill>
            <a:prstDash val="solid"/>
          </a:ln>
        </p:spPr>
      </p:sp>
      <p:sp>
        <p:nvSpPr>
          <p:cNvPr id="46" name="Shape 43"/>
          <p:cNvSpPr/>
          <p:nvPr/>
        </p:nvSpPr>
        <p:spPr>
          <a:xfrm>
            <a:off x="457200" y="4782312"/>
            <a:ext cx="11283696" cy="0"/>
          </a:xfrm>
          <a:prstGeom prst="line">
            <a:avLst/>
          </a:prstGeom>
          <a:noFill/>
          <a:ln w="17780">
            <a:solidFill>
              <a:srgbClr val="D4E0E5"/>
            </a:solidFill>
            <a:prstDash val="solid"/>
          </a:ln>
        </p:spPr>
      </p:sp>
      <p:sp>
        <p:nvSpPr>
          <p:cNvPr id="47" name="Text 44"/>
          <p:cNvSpPr/>
          <p:nvPr/>
        </p:nvSpPr>
        <p:spPr>
          <a:xfrm>
            <a:off x="585216" y="4361688"/>
            <a:ext cx="2212848" cy="192024"/>
          </a:xfrm>
          <a:prstGeom prst="rect">
            <a:avLst/>
          </a:prstGeom>
          <a:noFill/>
          <a:ln/>
        </p:spPr>
        <p:txBody>
          <a:bodyPr wrap="square" lIns="0" tIns="0" rIns="0" bIns="0" rtlCol="0" anchor="t"/>
          <a:lstStyle/>
          <a:p>
            <a:pPr indent="0" marL="0">
              <a:buNone/>
            </a:pPr>
            <a:r>
              <a:rPr lang="en-US" sz="1230" b="1" dirty="0">
                <a:solidFill>
                  <a:srgbClr val="193344"/>
                </a:solidFill>
                <a:latin typeface="Arial" pitchFamily="34" charset="0"/>
                <a:ea typeface="Arial" pitchFamily="34" charset="-122"/>
                <a:cs typeface="Arial" pitchFamily="34" charset="-120"/>
              </a:rPr>
              <a:t>Supplier or data failure</a:t>
            </a:r>
            <a:endParaRPr lang="en-US" sz="1230" dirty="0"/>
          </a:p>
        </p:txBody>
      </p:sp>
      <p:sp>
        <p:nvSpPr>
          <p:cNvPr id="48" name="Text 45"/>
          <p:cNvSpPr/>
          <p:nvPr/>
        </p:nvSpPr>
        <p:spPr>
          <a:xfrm>
            <a:off x="585216" y="4581144"/>
            <a:ext cx="2212848" cy="155448"/>
          </a:xfrm>
          <a:prstGeom prst="rect">
            <a:avLst/>
          </a:prstGeom>
          <a:noFill/>
          <a:ln/>
        </p:spPr>
        <p:txBody>
          <a:bodyPr wrap="square" lIns="0" tIns="0" rIns="0" bIns="0" rtlCol="0" anchor="t"/>
          <a:lstStyle/>
          <a:p>
            <a:pPr indent="0" marL="0">
              <a:buNone/>
            </a:pPr>
            <a:r>
              <a:rPr lang="en-US" sz="1010" dirty="0">
                <a:solidFill>
                  <a:srgbClr val="596F7B"/>
                </a:solidFill>
                <a:latin typeface="Arial" pitchFamily="34" charset="0"/>
                <a:ea typeface="Arial" pitchFamily="34" charset="-122"/>
                <a:cs typeface="Arial" pitchFamily="34" charset="-120"/>
              </a:rPr>
              <a:t>Wrong or stale actions</a:t>
            </a:r>
            <a:endParaRPr lang="en-US" sz="1010" dirty="0"/>
          </a:p>
        </p:txBody>
      </p:sp>
      <p:sp>
        <p:nvSpPr>
          <p:cNvPr id="49" name="Text 46"/>
          <p:cNvSpPr/>
          <p:nvPr/>
        </p:nvSpPr>
        <p:spPr>
          <a:xfrm>
            <a:off x="2935224" y="4462272"/>
            <a:ext cx="667512" cy="210312"/>
          </a:xfrm>
          <a:prstGeom prst="rect">
            <a:avLst/>
          </a:prstGeom>
          <a:noFill/>
          <a:ln/>
        </p:spPr>
        <p:txBody>
          <a:bodyPr wrap="square" lIns="0" tIns="0" rIns="0" bIns="0" rtlCol="0" anchor="t"/>
          <a:lstStyle/>
          <a:p>
            <a:pPr indent="0" marL="0">
              <a:buNone/>
            </a:pPr>
            <a:r>
              <a:rPr lang="en-US" sz="1200" b="1" dirty="0">
                <a:solidFill>
                  <a:srgbClr val="A63732"/>
                </a:solidFill>
                <a:latin typeface="Arial" pitchFamily="34" charset="0"/>
                <a:ea typeface="Arial" pitchFamily="34" charset="-122"/>
                <a:cs typeface="Arial" pitchFamily="34" charset="-120"/>
              </a:rPr>
              <a:t>H &gt; M</a:t>
            </a:r>
            <a:endParaRPr lang="en-US" sz="1200" dirty="0"/>
          </a:p>
        </p:txBody>
      </p:sp>
      <p:sp>
        <p:nvSpPr>
          <p:cNvPr id="50" name="Text 47"/>
          <p:cNvSpPr/>
          <p:nvPr/>
        </p:nvSpPr>
        <p:spPr>
          <a:xfrm>
            <a:off x="3849624" y="4361688"/>
            <a:ext cx="5852160" cy="393192"/>
          </a:xfrm>
          <a:prstGeom prst="rect">
            <a:avLst/>
          </a:prstGeom>
          <a:noFill/>
          <a:ln/>
        </p:spPr>
        <p:txBody>
          <a:bodyPr wrap="square" lIns="0" tIns="0" rIns="0" bIns="0" rtlCol="0" anchor="t"/>
          <a:lstStyle/>
          <a:p>
            <a:pPr indent="0" marL="0">
              <a:buNone/>
            </a:pPr>
            <a:r>
              <a:rPr lang="en-US" sz="1200" dirty="0">
                <a:solidFill>
                  <a:srgbClr val="193344"/>
                </a:solidFill>
                <a:latin typeface="Arial" pitchFamily="34" charset="0"/>
                <a:ea typeface="Arial" pitchFamily="34" charset="-122"/>
                <a:cs typeface="Arial" pitchFamily="34" charset="-120"/>
              </a:rPr>
              <a:t>API contracts, retries and freshness alerts; reconcile retailer</a:t>
            </a:r>
            <a:endParaRPr lang="en-US" sz="1200" dirty="0"/>
          </a:p>
          <a:p>
            <a:pPr indent="0" marL="0">
              <a:buNone/>
            </a:pPr>
            <a:r>
              <a:rPr lang="en-US" sz="1200" dirty="0">
                <a:solidFill>
                  <a:srgbClr val="193344"/>
                </a:solidFill>
                <a:latin typeface="Arial" pitchFamily="34" charset="0"/>
                <a:ea typeface="Arial" pitchFamily="34" charset="-122"/>
                <a:cs typeface="Arial" pitchFamily="34" charset="-120"/>
              </a:rPr>
              <a:t>totals and store/product masters; retain export rights.</a:t>
            </a:r>
            <a:endParaRPr lang="en-US" sz="1200" dirty="0"/>
          </a:p>
        </p:txBody>
      </p:sp>
      <p:sp>
        <p:nvSpPr>
          <p:cNvPr id="51" name="Text 48"/>
          <p:cNvSpPr/>
          <p:nvPr/>
        </p:nvSpPr>
        <p:spPr>
          <a:xfrm>
            <a:off x="10104120" y="4389120"/>
            <a:ext cx="1463040" cy="347472"/>
          </a:xfrm>
          <a:prstGeom prst="rect">
            <a:avLst/>
          </a:prstGeom>
          <a:noFill/>
          <a:ln/>
        </p:spPr>
        <p:txBody>
          <a:bodyPr wrap="square" lIns="0" tIns="0" rIns="0" bIns="0" rtlCol="0" anchor="t"/>
          <a:lstStyle/>
          <a:p>
            <a:pPr indent="0" marL="0">
              <a:buNone/>
            </a:pPr>
            <a:r>
              <a:rPr lang="en-US" sz="1160" b="1" dirty="0">
                <a:solidFill>
                  <a:srgbClr val="226B92"/>
                </a:solidFill>
                <a:latin typeface="Arial" pitchFamily="34" charset="0"/>
                <a:ea typeface="Arial" pitchFamily="34" charset="-122"/>
                <a:cs typeface="Arial" pitchFamily="34" charset="-120"/>
              </a:rPr>
              <a:t>BI + API</a:t>
            </a:r>
            <a:endParaRPr lang="en-US" sz="1160" dirty="0"/>
          </a:p>
          <a:p>
            <a:pPr indent="0" marL="0">
              <a:buNone/>
            </a:pPr>
            <a:r>
              <a:rPr lang="en-US" sz="1160" b="1" dirty="0">
                <a:solidFill>
                  <a:srgbClr val="226B92"/>
                </a:solidFill>
                <a:latin typeface="Arial" pitchFamily="34" charset="0"/>
                <a:ea typeface="Arial" pitchFamily="34" charset="-122"/>
                <a:cs typeface="Arial" pitchFamily="34" charset="-120"/>
              </a:rPr>
              <a:t>owner</a:t>
            </a:r>
            <a:endParaRPr lang="en-US" sz="1160" dirty="0"/>
          </a:p>
        </p:txBody>
      </p:sp>
      <p:sp>
        <p:nvSpPr>
          <p:cNvPr id="52" name="Shape 49"/>
          <p:cNvSpPr/>
          <p:nvPr/>
        </p:nvSpPr>
        <p:spPr>
          <a:xfrm>
            <a:off x="457200" y="4782312"/>
            <a:ext cx="11283696" cy="493776"/>
          </a:xfrm>
          <a:prstGeom prst="rect">
            <a:avLst/>
          </a:prstGeom>
          <a:solidFill>
            <a:srgbClr val="FFFFFF"/>
          </a:solidFill>
          <a:ln w="8890">
            <a:solidFill>
              <a:srgbClr val="FFFFFF"/>
            </a:solidFill>
            <a:prstDash val="solid"/>
          </a:ln>
        </p:spPr>
      </p:sp>
      <p:sp>
        <p:nvSpPr>
          <p:cNvPr id="53" name="Shape 50"/>
          <p:cNvSpPr/>
          <p:nvPr/>
        </p:nvSpPr>
        <p:spPr>
          <a:xfrm>
            <a:off x="457200" y="5276088"/>
            <a:ext cx="11283696" cy="0"/>
          </a:xfrm>
          <a:prstGeom prst="line">
            <a:avLst/>
          </a:prstGeom>
          <a:noFill/>
          <a:ln w="17780">
            <a:solidFill>
              <a:srgbClr val="D4E0E5"/>
            </a:solidFill>
            <a:prstDash val="solid"/>
          </a:ln>
        </p:spPr>
      </p:sp>
      <p:sp>
        <p:nvSpPr>
          <p:cNvPr id="54" name="Text 51"/>
          <p:cNvSpPr/>
          <p:nvPr/>
        </p:nvSpPr>
        <p:spPr>
          <a:xfrm>
            <a:off x="585216" y="4855464"/>
            <a:ext cx="2212848" cy="192024"/>
          </a:xfrm>
          <a:prstGeom prst="rect">
            <a:avLst/>
          </a:prstGeom>
          <a:noFill/>
          <a:ln/>
        </p:spPr>
        <p:txBody>
          <a:bodyPr wrap="square" lIns="0" tIns="0" rIns="0" bIns="0" rtlCol="0" anchor="t"/>
          <a:lstStyle/>
          <a:p>
            <a:pPr indent="0" marL="0">
              <a:buNone/>
            </a:pPr>
            <a:r>
              <a:rPr lang="en-US" sz="1230" b="1" dirty="0">
                <a:solidFill>
                  <a:srgbClr val="193344"/>
                </a:solidFill>
                <a:latin typeface="Arial" pitchFamily="34" charset="0"/>
                <a:ea typeface="Arial" pitchFamily="34" charset="-122"/>
                <a:cs typeface="Arial" pitchFamily="34" charset="-120"/>
              </a:rPr>
              <a:t>AI misuse / cost growth</a:t>
            </a:r>
            <a:endParaRPr lang="en-US" sz="1230" dirty="0"/>
          </a:p>
        </p:txBody>
      </p:sp>
      <p:sp>
        <p:nvSpPr>
          <p:cNvPr id="55" name="Text 52"/>
          <p:cNvSpPr/>
          <p:nvPr/>
        </p:nvSpPr>
        <p:spPr>
          <a:xfrm>
            <a:off x="585216" y="5074920"/>
            <a:ext cx="2212848" cy="155448"/>
          </a:xfrm>
          <a:prstGeom prst="rect">
            <a:avLst/>
          </a:prstGeom>
          <a:noFill/>
          <a:ln/>
        </p:spPr>
        <p:txBody>
          <a:bodyPr wrap="square" lIns="0" tIns="0" rIns="0" bIns="0" rtlCol="0" anchor="t"/>
          <a:lstStyle/>
          <a:p>
            <a:pPr indent="0" marL="0">
              <a:buNone/>
            </a:pPr>
            <a:r>
              <a:rPr lang="en-US" sz="1010" dirty="0">
                <a:solidFill>
                  <a:srgbClr val="596F7B"/>
                </a:solidFill>
                <a:latin typeface="Arial" pitchFamily="34" charset="0"/>
                <a:ea typeface="Arial" pitchFamily="34" charset="-122"/>
                <a:cs typeface="Arial" pitchFamily="34" charset="-120"/>
              </a:rPr>
              <a:t>Leakage, mistakes, overrun</a:t>
            </a:r>
            <a:endParaRPr lang="en-US" sz="1010" dirty="0"/>
          </a:p>
        </p:txBody>
      </p:sp>
      <p:sp>
        <p:nvSpPr>
          <p:cNvPr id="56" name="Text 53"/>
          <p:cNvSpPr/>
          <p:nvPr/>
        </p:nvSpPr>
        <p:spPr>
          <a:xfrm>
            <a:off x="2935224" y="4956048"/>
            <a:ext cx="667512" cy="210312"/>
          </a:xfrm>
          <a:prstGeom prst="rect">
            <a:avLst/>
          </a:prstGeom>
          <a:noFill/>
          <a:ln/>
        </p:spPr>
        <p:txBody>
          <a:bodyPr wrap="square" lIns="0" tIns="0" rIns="0" bIns="0" rtlCol="0" anchor="t"/>
          <a:lstStyle/>
          <a:p>
            <a:pPr indent="0" marL="0">
              <a:buNone/>
            </a:pPr>
            <a:r>
              <a:rPr lang="en-US" sz="1200" b="1" dirty="0">
                <a:solidFill>
                  <a:srgbClr val="A63732"/>
                </a:solidFill>
                <a:latin typeface="Arial" pitchFamily="34" charset="0"/>
                <a:ea typeface="Arial" pitchFamily="34" charset="-122"/>
                <a:cs typeface="Arial" pitchFamily="34" charset="-120"/>
              </a:rPr>
              <a:t>H &gt; M</a:t>
            </a:r>
            <a:endParaRPr lang="en-US" sz="1200" dirty="0"/>
          </a:p>
        </p:txBody>
      </p:sp>
      <p:sp>
        <p:nvSpPr>
          <p:cNvPr id="57" name="Text 54"/>
          <p:cNvSpPr/>
          <p:nvPr/>
        </p:nvSpPr>
        <p:spPr>
          <a:xfrm>
            <a:off x="3849624" y="4855464"/>
            <a:ext cx="5852160" cy="393192"/>
          </a:xfrm>
          <a:prstGeom prst="rect">
            <a:avLst/>
          </a:prstGeom>
          <a:noFill/>
          <a:ln/>
        </p:spPr>
        <p:txBody>
          <a:bodyPr wrap="square" lIns="0" tIns="0" rIns="0" bIns="0" rtlCol="0" anchor="t"/>
          <a:lstStyle/>
          <a:p>
            <a:pPr indent="0" marL="0">
              <a:buNone/>
            </a:pPr>
            <a:r>
              <a:rPr lang="en-US" sz="1200" dirty="0">
                <a:solidFill>
                  <a:srgbClr val="193344"/>
                </a:solidFill>
                <a:latin typeface="Arial" pitchFamily="34" charset="0"/>
                <a:ea typeface="Arial" pitchFamily="34" charset="-122"/>
                <a:cs typeface="Arial" pitchFamily="34" charset="-120"/>
              </a:rPr>
              <a:t>Permission-scoped AI; approval before actions; quality tests,</a:t>
            </a:r>
            <a:endParaRPr lang="en-US" sz="1200" dirty="0"/>
          </a:p>
          <a:p>
            <a:pPr indent="0" marL="0">
              <a:buNone/>
            </a:pPr>
            <a:r>
              <a:rPr lang="en-US" sz="1200" dirty="0">
                <a:solidFill>
                  <a:srgbClr val="193344"/>
                </a:solidFill>
                <a:latin typeface="Arial" pitchFamily="34" charset="0"/>
                <a:ea typeface="Arial" pitchFamily="34" charset="-122"/>
                <a:cs typeface="Arial" pitchFamily="34" charset="-120"/>
              </a:rPr>
              <a:t>usage limits and per-user cost monitoring.</a:t>
            </a:r>
            <a:endParaRPr lang="en-US" sz="1200" dirty="0"/>
          </a:p>
        </p:txBody>
      </p:sp>
      <p:sp>
        <p:nvSpPr>
          <p:cNvPr id="58" name="Text 55"/>
          <p:cNvSpPr/>
          <p:nvPr/>
        </p:nvSpPr>
        <p:spPr>
          <a:xfrm>
            <a:off x="10104120" y="4882896"/>
            <a:ext cx="1463040" cy="347472"/>
          </a:xfrm>
          <a:prstGeom prst="rect">
            <a:avLst/>
          </a:prstGeom>
          <a:noFill/>
          <a:ln/>
        </p:spPr>
        <p:txBody>
          <a:bodyPr wrap="square" lIns="0" tIns="0" rIns="0" bIns="0" rtlCol="0" anchor="t"/>
          <a:lstStyle/>
          <a:p>
            <a:pPr indent="0" marL="0">
              <a:buNone/>
            </a:pPr>
            <a:r>
              <a:rPr lang="en-US" sz="1160" b="1" dirty="0">
                <a:solidFill>
                  <a:srgbClr val="226B92"/>
                </a:solidFill>
                <a:latin typeface="Arial" pitchFamily="34" charset="0"/>
                <a:ea typeface="Arial" pitchFamily="34" charset="-122"/>
                <a:cs typeface="Arial" pitchFamily="34" charset="-120"/>
              </a:rPr>
              <a:t>AI lead</a:t>
            </a:r>
            <a:endParaRPr lang="en-US" sz="1160" dirty="0"/>
          </a:p>
          <a:p>
            <a:pPr indent="0" marL="0">
              <a:buNone/>
            </a:pPr>
            <a:r>
              <a:rPr lang="en-US" sz="1160" b="1" dirty="0">
                <a:solidFill>
                  <a:srgbClr val="226B92"/>
                </a:solidFill>
                <a:latin typeface="Arial" pitchFamily="34" charset="0"/>
                <a:ea typeface="Arial" pitchFamily="34" charset="-122"/>
                <a:cs typeface="Arial" pitchFamily="34" charset="-120"/>
              </a:rPr>
              <a:t>+ Finance</a:t>
            </a:r>
            <a:endParaRPr lang="en-US" sz="1160" dirty="0"/>
          </a:p>
        </p:txBody>
      </p:sp>
      <p:sp>
        <p:nvSpPr>
          <p:cNvPr id="59" name="Text 56"/>
          <p:cNvSpPr/>
          <p:nvPr/>
        </p:nvSpPr>
        <p:spPr>
          <a:xfrm>
            <a:off x="466344" y="5394960"/>
            <a:ext cx="11201400" cy="182880"/>
          </a:xfrm>
          <a:prstGeom prst="rect">
            <a:avLst/>
          </a:prstGeom>
          <a:noFill/>
          <a:ln/>
        </p:spPr>
        <p:txBody>
          <a:bodyPr wrap="square" lIns="0" tIns="0" rIns="0" bIns="0" rtlCol="0" anchor="t"/>
          <a:lstStyle/>
          <a:p>
            <a:pPr indent="0" marL="0">
              <a:buNone/>
            </a:pPr>
            <a:r>
              <a:rPr lang="en-US" sz="1050" dirty="0">
                <a:solidFill>
                  <a:srgbClr val="596F7B"/>
                </a:solidFill>
                <a:latin typeface="Arial" pitchFamily="34" charset="0"/>
                <a:ea typeface="Arial" pitchFamily="34" charset="-122"/>
                <a:cs typeface="Arial" pitchFamily="34" charset="-120"/>
              </a:rPr>
              <a:t>*Qualitative judgement, not an audit: High before controls; Medium target only after evidence is accepted. Residual risk remains.</a:t>
            </a:r>
            <a:endParaRPr lang="en-US" sz="1050" dirty="0"/>
          </a:p>
        </p:txBody>
      </p:sp>
      <p:sp>
        <p:nvSpPr>
          <p:cNvPr id="60" name="Shape 57"/>
          <p:cNvSpPr/>
          <p:nvPr/>
        </p:nvSpPr>
        <p:spPr>
          <a:xfrm>
            <a:off x="457200" y="5687568"/>
            <a:ext cx="11283696" cy="621792"/>
          </a:xfrm>
          <a:prstGeom prst="rect">
            <a:avLst/>
          </a:prstGeom>
          <a:solidFill>
            <a:srgbClr val="EAF5F3"/>
          </a:solidFill>
          <a:ln w="8890">
            <a:solidFill>
              <a:srgbClr val="EAF5F3"/>
            </a:solidFill>
            <a:prstDash val="solid"/>
          </a:ln>
        </p:spPr>
      </p:sp>
      <p:sp>
        <p:nvSpPr>
          <p:cNvPr id="61" name="Text 58"/>
          <p:cNvSpPr/>
          <p:nvPr/>
        </p:nvSpPr>
        <p:spPr>
          <a:xfrm>
            <a:off x="621792" y="5815584"/>
            <a:ext cx="10954512" cy="237744"/>
          </a:xfrm>
          <a:prstGeom prst="rect">
            <a:avLst/>
          </a:prstGeom>
          <a:noFill/>
          <a:ln/>
        </p:spPr>
        <p:txBody>
          <a:bodyPr wrap="square" lIns="0" tIns="0" rIns="0" bIns="0" rtlCol="0" anchor="t"/>
          <a:lstStyle/>
          <a:p>
            <a:pPr indent="0" marL="0">
              <a:buNone/>
            </a:pPr>
            <a:r>
              <a:rPr lang="en-US" sz="1400" b="1" dirty="0">
                <a:solidFill>
                  <a:srgbClr val="007D73"/>
                </a:solidFill>
                <a:latin typeface="Arial" pitchFamily="34" charset="0"/>
                <a:ea typeface="Arial" pitchFamily="34" charset="-122"/>
                <a:cs typeface="Arial" pitchFamily="34" charset="-120"/>
              </a:rPr>
              <a:t>A Johannesburg account is a foundation, not a security or POPIA guarantee.</a:t>
            </a:r>
            <a:endParaRPr lang="en-US" sz="1400" dirty="0"/>
          </a:p>
        </p:txBody>
      </p:sp>
      <p:sp>
        <p:nvSpPr>
          <p:cNvPr id="62" name="Text 59"/>
          <p:cNvSpPr/>
          <p:nvPr/>
        </p:nvSpPr>
        <p:spPr>
          <a:xfrm>
            <a:off x="621792" y="6089904"/>
            <a:ext cx="10954512" cy="164592"/>
          </a:xfrm>
          <a:prstGeom prst="rect">
            <a:avLst/>
          </a:prstGeom>
          <a:noFill/>
          <a:ln/>
        </p:spPr>
        <p:txBody>
          <a:bodyPr wrap="square" lIns="0" tIns="0" rIns="0" bIns="0" rtlCol="0" anchor="t"/>
          <a:lstStyle/>
          <a:p>
            <a:pPr indent="0" marL="0">
              <a:buNone/>
            </a:pPr>
            <a:r>
              <a:rPr lang="en-US" sz="1060" dirty="0">
                <a:solidFill>
                  <a:srgbClr val="193344"/>
                </a:solidFill>
                <a:latin typeface="Arial" pitchFamily="34" charset="0"/>
                <a:ea typeface="Arial" pitchFamily="34" charset="-122"/>
                <a:cs typeface="Arial" pitchFamily="34" charset="-120"/>
              </a:rPr>
              <a:t>Meridian still owns access, devices, data governance and incident response; external processing and regional recovery need review.</a:t>
            </a:r>
            <a:endParaRPr lang="en-US" sz="1060" dirty="0"/>
          </a:p>
        </p:txBody>
      </p:sp>
      <p:sp>
        <p:nvSpPr>
          <p:cNvPr id="63" name="Text 60">
            <a:hlinkClick r:id="rId2" tooltip=""/>
          </p:cNvPr>
          <p:cNvSpPr/>
          <p:nvPr/>
        </p:nvSpPr>
        <p:spPr>
          <a:xfrm>
            <a:off x="1810512" y="6583680"/>
            <a:ext cx="1828800" cy="182880"/>
          </a:xfrm>
          <a:prstGeom prst="rect">
            <a:avLst/>
          </a:prstGeom>
          <a:noFill/>
          <a:ln/>
        </p:spPr>
        <p:txBody>
          <a:bodyPr wrap="square" lIns="0" tIns="0" rIns="0" bIns="0" rtlCol="0" anchor="t"/>
          <a:lstStyle/>
          <a:p>
            <a:pPr indent="0" marL="0">
              <a:buNone/>
            </a:pPr>
            <a:r>
              <a:rPr lang="en-US" sz="910" u="sng" dirty="0">
                <a:solidFill>
                  <a:srgbClr val="226B92"/>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Shared responsibility [4]</a:t>
            </a:r>
            <a:endParaRPr lang="en-US" sz="910" dirty="0"/>
          </a:p>
        </p:txBody>
      </p:sp>
      <p:sp>
        <p:nvSpPr>
          <p:cNvPr id="64" name="Text 61">
            <a:hlinkClick r:id="rId3" tooltip=""/>
          </p:cNvPr>
          <p:cNvSpPr/>
          <p:nvPr/>
        </p:nvSpPr>
        <p:spPr>
          <a:xfrm>
            <a:off x="3831336" y="6583680"/>
            <a:ext cx="2441448" cy="182880"/>
          </a:xfrm>
          <a:prstGeom prst="rect">
            <a:avLst/>
          </a:prstGeom>
          <a:noFill/>
          <a:ln/>
        </p:spPr>
        <p:txBody>
          <a:bodyPr wrap="square" lIns="0" tIns="0" rIns="0" bIns="0" rtlCol="0" anchor="t"/>
          <a:lstStyle/>
          <a:p>
            <a:pPr indent="0" marL="0">
              <a:buNone/>
            </a:pPr>
            <a:r>
              <a:rPr lang="en-US" sz="910" u="sng" dirty="0">
                <a:solidFill>
                  <a:srgbClr val="226B92"/>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Information Regulator: POPIA [5]</a:t>
            </a:r>
            <a:endParaRPr lang="en-US" sz="910" dirty="0"/>
          </a:p>
        </p:txBody>
      </p:sp>
      <p:sp>
        <p:nvSpPr>
          <p:cNvPr id="65" name="Text 62"/>
          <p:cNvSpPr/>
          <p:nvPr/>
        </p:nvSpPr>
        <p:spPr>
          <a:xfrm>
            <a:off x="7123176" y="6583680"/>
            <a:ext cx="3657600" cy="182880"/>
          </a:xfrm>
          <a:prstGeom prst="rect">
            <a:avLst/>
          </a:prstGeom>
          <a:noFill/>
          <a:ln/>
        </p:spPr>
        <p:txBody>
          <a:bodyPr wrap="square" lIns="0" tIns="0" rIns="0" bIns="0" rtlCol="0" anchor="t"/>
          <a:lstStyle/>
          <a:p>
            <a:pPr algn="r" indent="0" marL="0">
              <a:buNone/>
            </a:pPr>
            <a:r>
              <a:rPr lang="en-US" sz="910" dirty="0">
                <a:solidFill>
                  <a:srgbClr val="596F7B"/>
                </a:solidFill>
                <a:latin typeface="Arial" pitchFamily="34" charset="0"/>
                <a:ea typeface="Arial" pitchFamily="34" charset="-122"/>
                <a:cs typeface="Arial" pitchFamily="34" charset="-120"/>
              </a:rPr>
              <a:t>Controls and owners are proposed, not certified</a:t>
            </a:r>
            <a:endParaRPr lang="en-US" sz="9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30936"/>
          </a:xfrm>
          <a:prstGeom prst="rect">
            <a:avLst/>
          </a:prstGeom>
          <a:solidFill>
            <a:srgbClr val="08253D"/>
          </a:solidFill>
          <a:ln w="8890">
            <a:solidFill>
              <a:srgbClr val="08253D"/>
            </a:solidFill>
            <a:prstDash val="solid"/>
          </a:ln>
        </p:spPr>
      </p:sp>
      <p:sp>
        <p:nvSpPr>
          <p:cNvPr id="3" name="Shape 1"/>
          <p:cNvSpPr/>
          <p:nvPr/>
        </p:nvSpPr>
        <p:spPr>
          <a:xfrm>
            <a:off x="0" y="630936"/>
            <a:ext cx="12191695" cy="41148"/>
          </a:xfrm>
          <a:prstGeom prst="rect">
            <a:avLst/>
          </a:prstGeom>
          <a:solidFill>
            <a:srgbClr val="ED6B14"/>
          </a:solidFill>
          <a:ln w="8890">
            <a:solidFill>
              <a:srgbClr val="ED6B14"/>
            </a:solidFill>
            <a:prstDash val="solid"/>
          </a:ln>
        </p:spPr>
      </p:sp>
      <p:pic>
        <p:nvPicPr>
          <p:cNvPr id="4" name="Image 0" descr="C:\Users\PC\MeridianNexus\public\assets\callcycle\meridian.png">    </p:cNvPr>
          <p:cNvPicPr>
            <a:picLocks noChangeAspect="1"/>
          </p:cNvPicPr>
          <p:nvPr/>
        </p:nvPicPr>
        <p:blipFill>
          <a:blip r:embed="rId1"/>
          <a:stretch>
            <a:fillRect/>
          </a:stretch>
        </p:blipFill>
        <p:spPr>
          <a:xfrm>
            <a:off x="429768" y="91440"/>
            <a:ext cx="1280160" cy="438912"/>
          </a:xfrm>
          <a:prstGeom prst="rect">
            <a:avLst/>
          </a:prstGeom>
        </p:spPr>
      </p:pic>
      <p:sp>
        <p:nvSpPr>
          <p:cNvPr id="5" name="Text 2"/>
          <p:cNvSpPr/>
          <p:nvPr/>
        </p:nvSpPr>
        <p:spPr>
          <a:xfrm>
            <a:off x="2148840" y="219456"/>
            <a:ext cx="5779008" cy="201168"/>
          </a:xfrm>
          <a:prstGeom prst="rect">
            <a:avLst/>
          </a:prstGeom>
          <a:noFill/>
          <a:ln/>
        </p:spPr>
        <p:txBody>
          <a:bodyPr wrap="square" lIns="0" tIns="0" rIns="0" bIns="0" rtlCol="0" anchor="t"/>
          <a:lstStyle/>
          <a:p>
            <a:pPr indent="0" marL="0">
              <a:buNone/>
            </a:pPr>
            <a:r>
              <a:rPr lang="en-US" sz="1120" b="1" dirty="0">
                <a:solidFill>
                  <a:srgbClr val="FFFFFF"/>
                </a:solidFill>
                <a:latin typeface="Arial" pitchFamily="34" charset="0"/>
                <a:ea typeface="Arial" pitchFamily="34" charset="-122"/>
                <a:cs typeface="Arial" pitchFamily="34" charset="-120"/>
              </a:rPr>
              <a:t>NEXUS  /  OWNERSHIP &amp; FIELD OPERATIONS</a:t>
            </a:r>
            <a:endParaRPr lang="en-US" sz="1120" dirty="0"/>
          </a:p>
        </p:txBody>
      </p:sp>
      <p:sp>
        <p:nvSpPr>
          <p:cNvPr id="6" name="Text 3"/>
          <p:cNvSpPr/>
          <p:nvPr/>
        </p:nvSpPr>
        <p:spPr>
          <a:xfrm>
            <a:off x="8339328" y="219456"/>
            <a:ext cx="3401568" cy="201168"/>
          </a:xfrm>
          <a:prstGeom prst="rect">
            <a:avLst/>
          </a:prstGeom>
          <a:noFill/>
          <a:ln/>
        </p:spPr>
        <p:txBody>
          <a:bodyPr wrap="square" lIns="0" tIns="0" rIns="0" bIns="0" rtlCol="0" anchor="t"/>
          <a:lstStyle/>
          <a:p>
            <a:pPr algn="r" indent="0" marL="0">
              <a:buNone/>
            </a:pPr>
            <a:r>
              <a:rPr lang="en-US" sz="1040" dirty="0">
                <a:solidFill>
                  <a:srgbClr val="D8E5ED"/>
                </a:solidFill>
                <a:latin typeface="Arial" pitchFamily="34" charset="0"/>
                <a:ea typeface="Arial" pitchFamily="34" charset="-122"/>
                <a:cs typeface="Arial" pitchFamily="34" charset="-120"/>
              </a:rPr>
              <a:t>CEO &amp; MD  |  09 SEPTEMBER 2026</a:t>
            </a:r>
            <a:endParaRPr lang="en-US" sz="1040" dirty="0"/>
          </a:p>
        </p:txBody>
      </p:sp>
      <p:sp>
        <p:nvSpPr>
          <p:cNvPr id="7" name="Text 4"/>
          <p:cNvSpPr/>
          <p:nvPr/>
        </p:nvSpPr>
        <p:spPr>
          <a:xfrm>
            <a:off x="438912" y="886968"/>
            <a:ext cx="11301984" cy="438912"/>
          </a:xfrm>
          <a:prstGeom prst="rect">
            <a:avLst/>
          </a:prstGeom>
          <a:noFill/>
          <a:ln/>
        </p:spPr>
        <p:txBody>
          <a:bodyPr wrap="square" lIns="0" tIns="0" rIns="0" bIns="0" rtlCol="0" anchor="t"/>
          <a:lstStyle/>
          <a:p>
            <a:pPr indent="0" marL="0">
              <a:buNone/>
            </a:pPr>
            <a:r>
              <a:rPr lang="en-US" sz="2700" b="1" dirty="0">
                <a:solidFill>
                  <a:srgbClr val="193344"/>
                </a:solidFill>
                <a:latin typeface="Arial" pitchFamily="34" charset="0"/>
                <a:ea typeface="Arial" pitchFamily="34" charset="-122"/>
                <a:cs typeface="Arial" pitchFamily="34" charset="-120"/>
              </a:rPr>
              <a:t>Approve the capability, not an unconditional rebuild</a:t>
            </a:r>
            <a:endParaRPr lang="en-US" sz="2700" dirty="0"/>
          </a:p>
        </p:txBody>
      </p:sp>
      <p:sp>
        <p:nvSpPr>
          <p:cNvPr id="8" name="Text 5"/>
          <p:cNvSpPr/>
          <p:nvPr/>
        </p:nvSpPr>
        <p:spPr>
          <a:xfrm>
            <a:off x="457200" y="1417320"/>
            <a:ext cx="11247120" cy="347472"/>
          </a:xfrm>
          <a:prstGeom prst="rect">
            <a:avLst/>
          </a:prstGeom>
          <a:noFill/>
          <a:ln/>
        </p:spPr>
        <p:txBody>
          <a:bodyPr wrap="square" lIns="0" tIns="0" rIns="0" bIns="0" rtlCol="0" anchor="t"/>
          <a:lstStyle/>
          <a:p>
            <a:pPr indent="0" marL="0">
              <a:buNone/>
            </a:pPr>
            <a:r>
              <a:rPr lang="en-US" sz="1320" dirty="0">
                <a:solidFill>
                  <a:srgbClr val="596F7B"/>
                </a:solidFill>
                <a:latin typeface="Arial" pitchFamily="34" charset="0"/>
                <a:ea typeface="Arial" pitchFamily="34" charset="-122"/>
                <a:cs typeface="Arial" pitchFamily="34" charset="-120"/>
              </a:rPr>
              <a:t>Recommended: Meridian-led development plus contracted cloud/security support. Keep suppliers where they deliver proven value.</a:t>
            </a:r>
            <a:endParaRPr lang="en-US" sz="1320" dirty="0"/>
          </a:p>
        </p:txBody>
      </p:sp>
      <p:sp>
        <p:nvSpPr>
          <p:cNvPr id="9" name="Shape 6"/>
          <p:cNvSpPr/>
          <p:nvPr/>
        </p:nvSpPr>
        <p:spPr>
          <a:xfrm>
            <a:off x="448056" y="6473952"/>
            <a:ext cx="11292840" cy="0"/>
          </a:xfrm>
          <a:prstGeom prst="line">
            <a:avLst/>
          </a:prstGeom>
          <a:noFill/>
          <a:ln w="17780">
            <a:solidFill>
              <a:srgbClr val="D4E0E5"/>
            </a:solidFill>
            <a:prstDash val="solid"/>
          </a:ln>
        </p:spPr>
      </p:sp>
      <p:sp>
        <p:nvSpPr>
          <p:cNvPr id="10" name="Text 7"/>
          <p:cNvSpPr/>
          <p:nvPr/>
        </p:nvSpPr>
        <p:spPr>
          <a:xfrm>
            <a:off x="457200" y="6601968"/>
            <a:ext cx="1197864" cy="155448"/>
          </a:xfrm>
          <a:prstGeom prst="rect">
            <a:avLst/>
          </a:prstGeom>
          <a:noFill/>
          <a:ln/>
        </p:spPr>
        <p:txBody>
          <a:bodyPr wrap="square" lIns="0" tIns="0" rIns="0" bIns="0" rtlCol="0" anchor="t"/>
          <a:lstStyle/>
          <a:p>
            <a:pPr indent="0" marL="0">
              <a:buNone/>
            </a:pPr>
            <a:r>
              <a:rPr lang="en-US" sz="860" b="1" dirty="0">
                <a:solidFill>
                  <a:srgbClr val="596F7B"/>
                </a:solidFill>
                <a:latin typeface="Arial" pitchFamily="34" charset="0"/>
                <a:ea typeface="Arial" pitchFamily="34" charset="-122"/>
                <a:cs typeface="Arial" pitchFamily="34" charset="-120"/>
              </a:rPr>
              <a:t>CONFIDENTIAL</a:t>
            </a:r>
            <a:endParaRPr lang="en-US" sz="860" dirty="0"/>
          </a:p>
        </p:txBody>
      </p:sp>
      <p:sp>
        <p:nvSpPr>
          <p:cNvPr id="11" name="Text 8"/>
          <p:cNvSpPr/>
          <p:nvPr/>
        </p:nvSpPr>
        <p:spPr>
          <a:xfrm>
            <a:off x="11109960" y="6556248"/>
            <a:ext cx="630936" cy="219456"/>
          </a:xfrm>
          <a:prstGeom prst="rect">
            <a:avLst/>
          </a:prstGeom>
          <a:noFill/>
          <a:ln/>
        </p:spPr>
        <p:txBody>
          <a:bodyPr wrap="square" lIns="0" tIns="0" rIns="0" bIns="0" rtlCol="0" anchor="t"/>
          <a:lstStyle/>
          <a:p>
            <a:pPr algn="r" indent="0" marL="0">
              <a:buNone/>
            </a:pPr>
            <a:r>
              <a:rPr lang="en-US" sz="1150" b="1" dirty="0">
                <a:solidFill>
                  <a:srgbClr val="193344"/>
                </a:solidFill>
                <a:latin typeface="Arial" pitchFamily="34" charset="0"/>
                <a:ea typeface="Arial" pitchFamily="34" charset="-122"/>
                <a:cs typeface="Arial" pitchFamily="34" charset="-120"/>
              </a:rPr>
              <a:t>3 / 3</a:t>
            </a:r>
            <a:endParaRPr lang="en-US" sz="1150" dirty="0"/>
          </a:p>
        </p:txBody>
      </p:sp>
      <p:sp>
        <p:nvSpPr>
          <p:cNvPr id="12" name="Shape 9"/>
          <p:cNvSpPr/>
          <p:nvPr/>
        </p:nvSpPr>
        <p:spPr>
          <a:xfrm>
            <a:off x="457200" y="1938528"/>
            <a:ext cx="11283696" cy="338328"/>
          </a:xfrm>
          <a:prstGeom prst="rect">
            <a:avLst/>
          </a:prstGeom>
          <a:solidFill>
            <a:srgbClr val="08253D"/>
          </a:solidFill>
          <a:ln w="8890">
            <a:solidFill>
              <a:srgbClr val="08253D"/>
            </a:solidFill>
            <a:prstDash val="solid"/>
          </a:ln>
        </p:spPr>
      </p:sp>
      <p:sp>
        <p:nvSpPr>
          <p:cNvPr id="13" name="Text 10"/>
          <p:cNvSpPr/>
          <p:nvPr/>
        </p:nvSpPr>
        <p:spPr>
          <a:xfrm>
            <a:off x="594360" y="2029968"/>
            <a:ext cx="2688336" cy="210312"/>
          </a:xfrm>
          <a:prstGeom prst="rect">
            <a:avLst/>
          </a:prstGeom>
          <a:noFill/>
          <a:ln/>
        </p:spPr>
        <p:txBody>
          <a:bodyPr wrap="square" lIns="0" tIns="0" rIns="0" bIns="0" rtlCol="0" anchor="t"/>
          <a:lstStyle/>
          <a:p>
            <a:pPr indent="0" marL="0">
              <a:buNone/>
            </a:pPr>
            <a:r>
              <a:rPr lang="en-US" sz="1080" b="1" dirty="0">
                <a:solidFill>
                  <a:srgbClr val="FFFFFF"/>
                </a:solidFill>
                <a:latin typeface="Arial" pitchFamily="34" charset="0"/>
                <a:ea typeface="Arial" pitchFamily="34" charset="-122"/>
                <a:cs typeface="Arial" pitchFamily="34" charset="-120"/>
              </a:rPr>
              <a:t>OPERATING OPTION</a:t>
            </a:r>
            <a:endParaRPr lang="en-US" sz="1080" dirty="0"/>
          </a:p>
        </p:txBody>
      </p:sp>
      <p:sp>
        <p:nvSpPr>
          <p:cNvPr id="14" name="Text 11"/>
          <p:cNvSpPr/>
          <p:nvPr/>
        </p:nvSpPr>
        <p:spPr>
          <a:xfrm>
            <a:off x="3602736" y="2029968"/>
            <a:ext cx="2862072" cy="210312"/>
          </a:xfrm>
          <a:prstGeom prst="rect">
            <a:avLst/>
          </a:prstGeom>
          <a:noFill/>
          <a:ln/>
        </p:spPr>
        <p:txBody>
          <a:bodyPr wrap="square" lIns="0" tIns="0" rIns="0" bIns="0" rtlCol="0" anchor="t"/>
          <a:lstStyle/>
          <a:p>
            <a:pPr indent="0" marL="0">
              <a:buNone/>
            </a:pPr>
            <a:r>
              <a:rPr lang="en-US" sz="1080" b="1" dirty="0">
                <a:solidFill>
                  <a:srgbClr val="FFFFFF"/>
                </a:solidFill>
                <a:latin typeface="Arial" pitchFamily="34" charset="0"/>
                <a:ea typeface="Arial" pitchFamily="34" charset="-122"/>
                <a:cs typeface="Arial" pitchFamily="34" charset="-120"/>
              </a:rPr>
              <a:t>BENEFIT</a:t>
            </a:r>
            <a:endParaRPr lang="en-US" sz="1080" dirty="0"/>
          </a:p>
        </p:txBody>
      </p:sp>
      <p:sp>
        <p:nvSpPr>
          <p:cNvPr id="15" name="Text 12"/>
          <p:cNvSpPr/>
          <p:nvPr/>
        </p:nvSpPr>
        <p:spPr>
          <a:xfrm>
            <a:off x="6757416" y="2029968"/>
            <a:ext cx="2852928" cy="210312"/>
          </a:xfrm>
          <a:prstGeom prst="rect">
            <a:avLst/>
          </a:prstGeom>
          <a:noFill/>
          <a:ln/>
        </p:spPr>
        <p:txBody>
          <a:bodyPr wrap="square" lIns="0" tIns="0" rIns="0" bIns="0" rtlCol="0" anchor="t"/>
          <a:lstStyle/>
          <a:p>
            <a:pPr indent="0" marL="0">
              <a:buNone/>
            </a:pPr>
            <a:r>
              <a:rPr lang="en-US" sz="1080" b="1" dirty="0">
                <a:solidFill>
                  <a:srgbClr val="FFFFFF"/>
                </a:solidFill>
                <a:latin typeface="Arial" pitchFamily="34" charset="0"/>
                <a:ea typeface="Arial" pitchFamily="34" charset="-122"/>
                <a:cs typeface="Arial" pitchFamily="34" charset="-120"/>
              </a:rPr>
              <a:t>DISADVANTAGE</a:t>
            </a:r>
            <a:endParaRPr lang="en-US" sz="1080" dirty="0"/>
          </a:p>
        </p:txBody>
      </p:sp>
      <p:sp>
        <p:nvSpPr>
          <p:cNvPr id="16" name="Text 13"/>
          <p:cNvSpPr/>
          <p:nvPr/>
        </p:nvSpPr>
        <p:spPr>
          <a:xfrm>
            <a:off x="10104120" y="2029968"/>
            <a:ext cx="1490472" cy="210312"/>
          </a:xfrm>
          <a:prstGeom prst="rect">
            <a:avLst/>
          </a:prstGeom>
          <a:noFill/>
          <a:ln/>
        </p:spPr>
        <p:txBody>
          <a:bodyPr wrap="square" lIns="0" tIns="0" rIns="0" bIns="0" rtlCol="0" anchor="t"/>
          <a:lstStyle/>
          <a:p>
            <a:pPr indent="0" marL="0">
              <a:buNone/>
            </a:pPr>
            <a:r>
              <a:rPr lang="en-US" sz="1080" b="1" dirty="0">
                <a:solidFill>
                  <a:srgbClr val="FFFFFF"/>
                </a:solidFill>
                <a:latin typeface="Arial" pitchFamily="34" charset="0"/>
                <a:ea typeface="Arial" pitchFamily="34" charset="-122"/>
                <a:cs typeface="Arial" pitchFamily="34" charset="-120"/>
              </a:rPr>
              <a:t>ASSESSMENT</a:t>
            </a:r>
            <a:endParaRPr lang="en-US" sz="1080" dirty="0"/>
          </a:p>
        </p:txBody>
      </p:sp>
      <p:sp>
        <p:nvSpPr>
          <p:cNvPr id="17" name="Shape 14"/>
          <p:cNvSpPr/>
          <p:nvPr/>
        </p:nvSpPr>
        <p:spPr>
          <a:xfrm>
            <a:off x="457200" y="2276856"/>
            <a:ext cx="11283696" cy="438912"/>
          </a:xfrm>
          <a:prstGeom prst="rect">
            <a:avLst/>
          </a:prstGeom>
          <a:solidFill>
            <a:srgbClr val="F2F6F8"/>
          </a:solidFill>
          <a:ln w="8890">
            <a:solidFill>
              <a:srgbClr val="F2F6F8"/>
            </a:solidFill>
            <a:prstDash val="solid"/>
          </a:ln>
        </p:spPr>
      </p:sp>
      <p:sp>
        <p:nvSpPr>
          <p:cNvPr id="18" name="Text 15"/>
          <p:cNvSpPr/>
          <p:nvPr/>
        </p:nvSpPr>
        <p:spPr>
          <a:xfrm>
            <a:off x="594360" y="2414016"/>
            <a:ext cx="2807208" cy="219456"/>
          </a:xfrm>
          <a:prstGeom prst="rect">
            <a:avLst/>
          </a:prstGeom>
          <a:noFill/>
          <a:ln/>
        </p:spPr>
        <p:txBody>
          <a:bodyPr wrap="square" lIns="0" tIns="0" rIns="0" bIns="0" rtlCol="0" anchor="t"/>
          <a:lstStyle/>
          <a:p>
            <a:pPr indent="0" marL="0">
              <a:buNone/>
            </a:pPr>
            <a:r>
              <a:rPr lang="en-US" sz="1220" b="1" dirty="0">
                <a:solidFill>
                  <a:srgbClr val="193344"/>
                </a:solidFill>
                <a:latin typeface="Arial" pitchFamily="34" charset="0"/>
                <a:ea typeface="Arial" pitchFamily="34" charset="-122"/>
                <a:cs typeface="Arial" pitchFamily="34" charset="-120"/>
              </a:rPr>
              <a:t>Meridian team only</a:t>
            </a:r>
            <a:endParaRPr lang="en-US" sz="1220" dirty="0"/>
          </a:p>
        </p:txBody>
      </p:sp>
      <p:sp>
        <p:nvSpPr>
          <p:cNvPr id="19" name="Text 16"/>
          <p:cNvSpPr/>
          <p:nvPr/>
        </p:nvSpPr>
        <p:spPr>
          <a:xfrm>
            <a:off x="3602736" y="2414016"/>
            <a:ext cx="2999232" cy="219456"/>
          </a:xfrm>
          <a:prstGeom prst="rect">
            <a:avLst/>
          </a:prstGeom>
          <a:noFill/>
          <a:ln/>
        </p:spPr>
        <p:txBody>
          <a:bodyPr wrap="square" lIns="0" tIns="0" rIns="0" bIns="0" rtlCol="0" anchor="t"/>
          <a:lstStyle/>
          <a:p>
            <a:pPr indent="0" marL="0">
              <a:buNone/>
            </a:pPr>
            <a:r>
              <a:rPr lang="en-US" sz="1180" dirty="0">
                <a:solidFill>
                  <a:srgbClr val="193344"/>
                </a:solidFill>
                <a:latin typeface="Arial" pitchFamily="34" charset="0"/>
                <a:ea typeface="Arial" pitchFamily="34" charset="-122"/>
                <a:cs typeface="Arial" pitchFamily="34" charset="-120"/>
              </a:rPr>
              <a:t>Maximum delivery control</a:t>
            </a:r>
            <a:endParaRPr lang="en-US" sz="1180" dirty="0"/>
          </a:p>
        </p:txBody>
      </p:sp>
      <p:sp>
        <p:nvSpPr>
          <p:cNvPr id="20" name="Text 17"/>
          <p:cNvSpPr/>
          <p:nvPr/>
        </p:nvSpPr>
        <p:spPr>
          <a:xfrm>
            <a:off x="6757416" y="2414016"/>
            <a:ext cx="3118104" cy="219456"/>
          </a:xfrm>
          <a:prstGeom prst="rect">
            <a:avLst/>
          </a:prstGeom>
          <a:noFill/>
          <a:ln/>
        </p:spPr>
        <p:txBody>
          <a:bodyPr wrap="square" lIns="0" tIns="0" rIns="0" bIns="0" rtlCol="0" anchor="t"/>
          <a:lstStyle/>
          <a:p>
            <a:pPr indent="0" marL="0">
              <a:buNone/>
            </a:pPr>
            <a:r>
              <a:rPr lang="en-US" sz="1180" dirty="0">
                <a:solidFill>
                  <a:srgbClr val="193344"/>
                </a:solidFill>
                <a:latin typeface="Arial" pitchFamily="34" charset="0"/>
                <a:ea typeface="Arial" pitchFamily="34" charset="-122"/>
                <a:cs typeface="Arial" pitchFamily="34" charset="-120"/>
              </a:rPr>
              <a:t>Recruitment + on-call burden</a:t>
            </a:r>
            <a:endParaRPr lang="en-US" sz="1180" dirty="0"/>
          </a:p>
        </p:txBody>
      </p:sp>
      <p:sp>
        <p:nvSpPr>
          <p:cNvPr id="21" name="Text 18"/>
          <p:cNvSpPr/>
          <p:nvPr/>
        </p:nvSpPr>
        <p:spPr>
          <a:xfrm>
            <a:off x="10104120" y="2414016"/>
            <a:ext cx="1481328" cy="219456"/>
          </a:xfrm>
          <a:prstGeom prst="rect">
            <a:avLst/>
          </a:prstGeom>
          <a:noFill/>
          <a:ln/>
        </p:spPr>
        <p:txBody>
          <a:bodyPr wrap="square" lIns="0" tIns="0" rIns="0" bIns="0" rtlCol="0" anchor="t"/>
          <a:lstStyle/>
          <a:p>
            <a:pPr indent="0" marL="0">
              <a:buNone/>
            </a:pPr>
            <a:r>
              <a:rPr lang="en-US" sz="1180" b="1" dirty="0">
                <a:solidFill>
                  <a:srgbClr val="226B92"/>
                </a:solidFill>
                <a:latin typeface="Arial" pitchFamily="34" charset="0"/>
                <a:ea typeface="Arial" pitchFamily="34" charset="-122"/>
                <a:cs typeface="Arial" pitchFamily="34" charset="-120"/>
              </a:rPr>
              <a:t>Conditional</a:t>
            </a:r>
            <a:endParaRPr lang="en-US" sz="1180" dirty="0"/>
          </a:p>
        </p:txBody>
      </p:sp>
      <p:sp>
        <p:nvSpPr>
          <p:cNvPr id="22" name="Shape 19"/>
          <p:cNvSpPr/>
          <p:nvPr/>
        </p:nvSpPr>
        <p:spPr>
          <a:xfrm>
            <a:off x="457200" y="2715768"/>
            <a:ext cx="11283696" cy="0"/>
          </a:xfrm>
          <a:prstGeom prst="line">
            <a:avLst/>
          </a:prstGeom>
          <a:noFill/>
          <a:ln w="17780">
            <a:solidFill>
              <a:srgbClr val="D4E0E5"/>
            </a:solidFill>
            <a:prstDash val="solid"/>
          </a:ln>
        </p:spPr>
      </p:sp>
      <p:sp>
        <p:nvSpPr>
          <p:cNvPr id="23" name="Shape 20"/>
          <p:cNvSpPr/>
          <p:nvPr/>
        </p:nvSpPr>
        <p:spPr>
          <a:xfrm>
            <a:off x="457200" y="2715768"/>
            <a:ext cx="11283696" cy="438912"/>
          </a:xfrm>
          <a:prstGeom prst="rect">
            <a:avLst/>
          </a:prstGeom>
          <a:solidFill>
            <a:srgbClr val="EAF5F3"/>
          </a:solidFill>
          <a:ln w="8890">
            <a:solidFill>
              <a:srgbClr val="EAF5F3"/>
            </a:solidFill>
            <a:prstDash val="solid"/>
          </a:ln>
        </p:spPr>
      </p:sp>
      <p:sp>
        <p:nvSpPr>
          <p:cNvPr id="24" name="Shape 21"/>
          <p:cNvSpPr/>
          <p:nvPr/>
        </p:nvSpPr>
        <p:spPr>
          <a:xfrm>
            <a:off x="457200" y="2715768"/>
            <a:ext cx="45720" cy="438912"/>
          </a:xfrm>
          <a:prstGeom prst="rect">
            <a:avLst/>
          </a:prstGeom>
          <a:solidFill>
            <a:srgbClr val="007D73"/>
          </a:solidFill>
          <a:ln w="8890">
            <a:solidFill>
              <a:srgbClr val="007D73"/>
            </a:solidFill>
            <a:prstDash val="solid"/>
          </a:ln>
        </p:spPr>
      </p:sp>
      <p:sp>
        <p:nvSpPr>
          <p:cNvPr id="25" name="Text 22"/>
          <p:cNvSpPr/>
          <p:nvPr/>
        </p:nvSpPr>
        <p:spPr>
          <a:xfrm>
            <a:off x="594360" y="2852928"/>
            <a:ext cx="2807208" cy="219456"/>
          </a:xfrm>
          <a:prstGeom prst="rect">
            <a:avLst/>
          </a:prstGeom>
          <a:noFill/>
          <a:ln/>
        </p:spPr>
        <p:txBody>
          <a:bodyPr wrap="square" lIns="0" tIns="0" rIns="0" bIns="0" rtlCol="0" anchor="t"/>
          <a:lstStyle/>
          <a:p>
            <a:pPr indent="0" marL="0">
              <a:buNone/>
            </a:pPr>
            <a:r>
              <a:rPr lang="en-US" sz="1220" b="1" dirty="0">
                <a:solidFill>
                  <a:srgbClr val="193344"/>
                </a:solidFill>
                <a:latin typeface="Arial" pitchFamily="34" charset="0"/>
                <a:ea typeface="Arial" pitchFamily="34" charset="-122"/>
                <a:cs typeface="Arial" pitchFamily="34" charset="-120"/>
              </a:rPr>
              <a:t>Meridian + specialist support</a:t>
            </a:r>
            <a:endParaRPr lang="en-US" sz="1220" dirty="0"/>
          </a:p>
        </p:txBody>
      </p:sp>
      <p:sp>
        <p:nvSpPr>
          <p:cNvPr id="26" name="Text 23"/>
          <p:cNvSpPr/>
          <p:nvPr/>
        </p:nvSpPr>
        <p:spPr>
          <a:xfrm>
            <a:off x="3602736" y="2852928"/>
            <a:ext cx="2999232" cy="219456"/>
          </a:xfrm>
          <a:prstGeom prst="rect">
            <a:avLst/>
          </a:prstGeom>
          <a:noFill/>
          <a:ln/>
        </p:spPr>
        <p:txBody>
          <a:bodyPr wrap="square" lIns="0" tIns="0" rIns="0" bIns="0" rtlCol="0" anchor="t"/>
          <a:lstStyle/>
          <a:p>
            <a:pPr indent="0" marL="0">
              <a:buNone/>
            </a:pPr>
            <a:r>
              <a:rPr lang="en-US" sz="1180" dirty="0">
                <a:solidFill>
                  <a:srgbClr val="193344"/>
                </a:solidFill>
                <a:latin typeface="Arial" pitchFamily="34" charset="0"/>
                <a:ea typeface="Arial" pitchFamily="34" charset="-122"/>
                <a:cs typeface="Arial" pitchFamily="34" charset="-120"/>
              </a:rPr>
              <a:t>Control with backup expertise</a:t>
            </a:r>
            <a:endParaRPr lang="en-US" sz="1180" dirty="0"/>
          </a:p>
        </p:txBody>
      </p:sp>
      <p:sp>
        <p:nvSpPr>
          <p:cNvPr id="27" name="Text 24"/>
          <p:cNvSpPr/>
          <p:nvPr/>
        </p:nvSpPr>
        <p:spPr>
          <a:xfrm>
            <a:off x="6757416" y="2852928"/>
            <a:ext cx="3118104" cy="219456"/>
          </a:xfrm>
          <a:prstGeom prst="rect">
            <a:avLst/>
          </a:prstGeom>
          <a:noFill/>
          <a:ln/>
        </p:spPr>
        <p:txBody>
          <a:bodyPr wrap="square" lIns="0" tIns="0" rIns="0" bIns="0" rtlCol="0" anchor="t"/>
          <a:lstStyle/>
          <a:p>
            <a:pPr indent="0" marL="0">
              <a:buNone/>
            </a:pPr>
            <a:r>
              <a:rPr lang="en-US" sz="1180" dirty="0">
                <a:solidFill>
                  <a:srgbClr val="193344"/>
                </a:solidFill>
                <a:latin typeface="Arial" pitchFamily="34" charset="0"/>
                <a:ea typeface="Arial" pitchFamily="34" charset="-122"/>
                <a:cs typeface="Arial" pitchFamily="34" charset="-120"/>
              </a:rPr>
              <a:t>Internal team + support cost</a:t>
            </a:r>
            <a:endParaRPr lang="en-US" sz="1180" dirty="0"/>
          </a:p>
        </p:txBody>
      </p:sp>
      <p:sp>
        <p:nvSpPr>
          <p:cNvPr id="28" name="Text 25"/>
          <p:cNvSpPr/>
          <p:nvPr/>
        </p:nvSpPr>
        <p:spPr>
          <a:xfrm>
            <a:off x="10104120" y="2852928"/>
            <a:ext cx="1481328" cy="219456"/>
          </a:xfrm>
          <a:prstGeom prst="rect">
            <a:avLst/>
          </a:prstGeom>
          <a:noFill/>
          <a:ln/>
        </p:spPr>
        <p:txBody>
          <a:bodyPr wrap="square" lIns="0" tIns="0" rIns="0" bIns="0" rtlCol="0" anchor="t"/>
          <a:lstStyle/>
          <a:p>
            <a:pPr indent="0" marL="0">
              <a:buNone/>
            </a:pPr>
            <a:r>
              <a:rPr lang="en-US" sz="1180" b="1" dirty="0">
                <a:solidFill>
                  <a:srgbClr val="007D73"/>
                </a:solidFill>
                <a:latin typeface="Arial" pitchFamily="34" charset="0"/>
                <a:ea typeface="Arial" pitchFamily="34" charset="-122"/>
                <a:cs typeface="Arial" pitchFamily="34" charset="-120"/>
              </a:rPr>
              <a:t>Preferred</a:t>
            </a:r>
            <a:endParaRPr lang="en-US" sz="1180" dirty="0"/>
          </a:p>
        </p:txBody>
      </p:sp>
      <p:sp>
        <p:nvSpPr>
          <p:cNvPr id="29" name="Shape 26"/>
          <p:cNvSpPr/>
          <p:nvPr/>
        </p:nvSpPr>
        <p:spPr>
          <a:xfrm>
            <a:off x="457200" y="3154680"/>
            <a:ext cx="11283696" cy="0"/>
          </a:xfrm>
          <a:prstGeom prst="line">
            <a:avLst/>
          </a:prstGeom>
          <a:noFill/>
          <a:ln w="17780">
            <a:solidFill>
              <a:srgbClr val="D4E0E5"/>
            </a:solidFill>
            <a:prstDash val="solid"/>
          </a:ln>
        </p:spPr>
      </p:sp>
      <p:sp>
        <p:nvSpPr>
          <p:cNvPr id="30" name="Shape 27"/>
          <p:cNvSpPr/>
          <p:nvPr/>
        </p:nvSpPr>
        <p:spPr>
          <a:xfrm>
            <a:off x="457200" y="3154680"/>
            <a:ext cx="11283696" cy="438912"/>
          </a:xfrm>
          <a:prstGeom prst="rect">
            <a:avLst/>
          </a:prstGeom>
          <a:solidFill>
            <a:srgbClr val="FFFFFF"/>
          </a:solidFill>
          <a:ln w="8890">
            <a:solidFill>
              <a:srgbClr val="FFFFFF"/>
            </a:solidFill>
            <a:prstDash val="solid"/>
          </a:ln>
        </p:spPr>
      </p:sp>
      <p:sp>
        <p:nvSpPr>
          <p:cNvPr id="31" name="Text 28"/>
          <p:cNvSpPr/>
          <p:nvPr/>
        </p:nvSpPr>
        <p:spPr>
          <a:xfrm>
            <a:off x="594360" y="3291840"/>
            <a:ext cx="2807208" cy="219456"/>
          </a:xfrm>
          <a:prstGeom prst="rect">
            <a:avLst/>
          </a:prstGeom>
          <a:noFill/>
          <a:ln/>
        </p:spPr>
        <p:txBody>
          <a:bodyPr wrap="square" lIns="0" tIns="0" rIns="0" bIns="0" rtlCol="0" anchor="t"/>
          <a:lstStyle/>
          <a:p>
            <a:pPr indent="0" marL="0">
              <a:buNone/>
            </a:pPr>
            <a:r>
              <a:rPr lang="en-US" sz="1220" b="1" dirty="0">
                <a:solidFill>
                  <a:srgbClr val="193344"/>
                </a:solidFill>
                <a:latin typeface="Arial" pitchFamily="34" charset="0"/>
                <a:ea typeface="Arial" pitchFamily="34" charset="-122"/>
                <a:cs typeface="Arial" pitchFamily="34" charset="-120"/>
              </a:rPr>
              <a:t>Geo Rep-led delivery</a:t>
            </a:r>
            <a:endParaRPr lang="en-US" sz="1220" dirty="0"/>
          </a:p>
        </p:txBody>
      </p:sp>
      <p:sp>
        <p:nvSpPr>
          <p:cNvPr id="32" name="Text 29"/>
          <p:cNvSpPr/>
          <p:nvPr/>
        </p:nvSpPr>
        <p:spPr>
          <a:xfrm>
            <a:off x="3602736" y="3291840"/>
            <a:ext cx="2999232" cy="219456"/>
          </a:xfrm>
          <a:prstGeom prst="rect">
            <a:avLst/>
          </a:prstGeom>
          <a:noFill/>
          <a:ln/>
        </p:spPr>
        <p:txBody>
          <a:bodyPr wrap="square" lIns="0" tIns="0" rIns="0" bIns="0" rtlCol="0" anchor="t"/>
          <a:lstStyle/>
          <a:p>
            <a:pPr indent="0" marL="0">
              <a:buNone/>
            </a:pPr>
            <a:r>
              <a:rPr lang="en-US" sz="1180" dirty="0">
                <a:solidFill>
                  <a:srgbClr val="193344"/>
                </a:solidFill>
                <a:latin typeface="Arial" pitchFamily="34" charset="0"/>
                <a:ea typeface="Arial" pitchFamily="34" charset="-122"/>
                <a:cs typeface="Arial" pitchFamily="34" charset="-120"/>
              </a:rPr>
              <a:t>Potential delivery/support capacity</a:t>
            </a:r>
            <a:endParaRPr lang="en-US" sz="1180" dirty="0"/>
          </a:p>
        </p:txBody>
      </p:sp>
      <p:sp>
        <p:nvSpPr>
          <p:cNvPr id="33" name="Text 30"/>
          <p:cNvSpPr/>
          <p:nvPr/>
        </p:nvSpPr>
        <p:spPr>
          <a:xfrm>
            <a:off x="6757416" y="3291840"/>
            <a:ext cx="3118104" cy="219456"/>
          </a:xfrm>
          <a:prstGeom prst="rect">
            <a:avLst/>
          </a:prstGeom>
          <a:noFill/>
          <a:ln/>
        </p:spPr>
        <p:txBody>
          <a:bodyPr wrap="square" lIns="0" tIns="0" rIns="0" bIns="0" rtlCol="0" anchor="t"/>
          <a:lstStyle/>
          <a:p>
            <a:pPr indent="0" marL="0">
              <a:buNone/>
            </a:pPr>
            <a:r>
              <a:rPr lang="en-US" sz="1180" dirty="0">
                <a:solidFill>
                  <a:srgbClr val="193344"/>
                </a:solidFill>
                <a:latin typeface="Arial" pitchFamily="34" charset="0"/>
                <a:ea typeface="Arial" pitchFamily="34" charset="-122"/>
                <a:cs typeface="Arial" pitchFamily="34" charset="-120"/>
              </a:rPr>
              <a:t>Contract, API and exit dependence</a:t>
            </a:r>
            <a:endParaRPr lang="en-US" sz="1180" dirty="0"/>
          </a:p>
        </p:txBody>
      </p:sp>
      <p:sp>
        <p:nvSpPr>
          <p:cNvPr id="34" name="Text 31"/>
          <p:cNvSpPr/>
          <p:nvPr/>
        </p:nvSpPr>
        <p:spPr>
          <a:xfrm>
            <a:off x="10104120" y="3291840"/>
            <a:ext cx="1481328" cy="219456"/>
          </a:xfrm>
          <a:prstGeom prst="rect">
            <a:avLst/>
          </a:prstGeom>
          <a:noFill/>
          <a:ln/>
        </p:spPr>
        <p:txBody>
          <a:bodyPr wrap="square" lIns="0" tIns="0" rIns="0" bIns="0" rtlCol="0" anchor="t"/>
          <a:lstStyle/>
          <a:p>
            <a:pPr indent="0" marL="0">
              <a:buNone/>
            </a:pPr>
            <a:r>
              <a:rPr lang="en-US" sz="1180" b="1" dirty="0">
                <a:solidFill>
                  <a:srgbClr val="226B92"/>
                </a:solidFill>
                <a:latin typeface="Arial" pitchFamily="34" charset="0"/>
                <a:ea typeface="Arial" pitchFamily="34" charset="-122"/>
                <a:cs typeface="Arial" pitchFamily="34" charset="-120"/>
              </a:rPr>
              <a:t>Quote + proof</a:t>
            </a:r>
            <a:endParaRPr lang="en-US" sz="1180" dirty="0"/>
          </a:p>
        </p:txBody>
      </p:sp>
      <p:sp>
        <p:nvSpPr>
          <p:cNvPr id="35" name="Shape 32"/>
          <p:cNvSpPr/>
          <p:nvPr/>
        </p:nvSpPr>
        <p:spPr>
          <a:xfrm>
            <a:off x="457200" y="3593592"/>
            <a:ext cx="11283696" cy="0"/>
          </a:xfrm>
          <a:prstGeom prst="line">
            <a:avLst/>
          </a:prstGeom>
          <a:noFill/>
          <a:ln w="17780">
            <a:solidFill>
              <a:srgbClr val="D4E0E5"/>
            </a:solidFill>
            <a:prstDash val="solid"/>
          </a:ln>
        </p:spPr>
      </p:sp>
      <p:sp>
        <p:nvSpPr>
          <p:cNvPr id="36" name="Text 33"/>
          <p:cNvSpPr/>
          <p:nvPr/>
        </p:nvSpPr>
        <p:spPr>
          <a:xfrm>
            <a:off x="457200" y="3877056"/>
            <a:ext cx="5440680" cy="210312"/>
          </a:xfrm>
          <a:prstGeom prst="rect">
            <a:avLst/>
          </a:prstGeom>
          <a:noFill/>
          <a:ln/>
        </p:spPr>
        <p:txBody>
          <a:bodyPr wrap="square" lIns="0" tIns="0" rIns="0" bIns="0" rtlCol="0" anchor="t"/>
          <a:lstStyle/>
          <a:p>
            <a:pPr indent="0" marL="0">
              <a:buNone/>
            </a:pPr>
            <a:r>
              <a:rPr lang="en-US" sz="1200" b="1" dirty="0">
                <a:solidFill>
                  <a:srgbClr val="ED6B14"/>
                </a:solidFill>
                <a:latin typeface="Arial" pitchFamily="34" charset="0"/>
                <a:ea typeface="Arial" pitchFamily="34" charset="-122"/>
                <a:cs typeface="Arial" pitchFamily="34" charset="-120"/>
              </a:rPr>
              <a:t>COST: COMPARE THE FULL 36 MONTHS</a:t>
            </a:r>
            <a:endParaRPr lang="en-US" sz="1200" dirty="0"/>
          </a:p>
        </p:txBody>
      </p:sp>
      <p:sp>
        <p:nvSpPr>
          <p:cNvPr id="37" name="Text 34"/>
          <p:cNvSpPr/>
          <p:nvPr/>
        </p:nvSpPr>
        <p:spPr>
          <a:xfrm>
            <a:off x="457200" y="4215384"/>
            <a:ext cx="5477256" cy="237744"/>
          </a:xfrm>
          <a:prstGeom prst="rect">
            <a:avLst/>
          </a:prstGeom>
          <a:noFill/>
          <a:ln/>
        </p:spPr>
        <p:txBody>
          <a:bodyPr wrap="square" lIns="0" tIns="0" rIns="0" bIns="0" rtlCol="0" anchor="t"/>
          <a:lstStyle/>
          <a:p>
            <a:pPr indent="0" marL="0">
              <a:buNone/>
            </a:pPr>
            <a:r>
              <a:rPr lang="en-US" sz="1400" b="1" dirty="0">
                <a:solidFill>
                  <a:srgbClr val="193344"/>
                </a:solidFill>
                <a:latin typeface="Arial" pitchFamily="34" charset="0"/>
                <a:ea typeface="Arial" pitchFamily="34" charset="-122"/>
                <a:cs typeface="Arial" pitchFamily="34" charset="-120"/>
              </a:rPr>
              <a:t>Setup / migration + 36 x monthly operating cost</a:t>
            </a:r>
            <a:endParaRPr lang="en-US" sz="1400" dirty="0"/>
          </a:p>
        </p:txBody>
      </p:sp>
      <p:sp>
        <p:nvSpPr>
          <p:cNvPr id="38" name="Text 35"/>
          <p:cNvSpPr/>
          <p:nvPr/>
        </p:nvSpPr>
        <p:spPr>
          <a:xfrm>
            <a:off x="457200" y="4581144"/>
            <a:ext cx="5477256" cy="457200"/>
          </a:xfrm>
          <a:prstGeom prst="rect">
            <a:avLst/>
          </a:prstGeom>
          <a:noFill/>
          <a:ln/>
        </p:spPr>
        <p:txBody>
          <a:bodyPr wrap="square" lIns="0" tIns="0" rIns="0" bIns="0" rtlCol="0" anchor="t"/>
          <a:lstStyle/>
          <a:p>
            <a:pPr indent="0" marL="0">
              <a:buNone/>
            </a:pPr>
            <a:r>
              <a:rPr lang="en-US" sz="1300" dirty="0">
                <a:solidFill>
                  <a:srgbClr val="193344"/>
                </a:solidFill>
                <a:latin typeface="Arial" pitchFamily="34" charset="0"/>
                <a:ea typeface="Arial" pitchFamily="34" charset="-122"/>
                <a:cs typeface="Arial" pitchFamily="34" charset="-120"/>
              </a:rPr>
              <a:t>Include people, support, cloud, supplier/API fees, devices,</a:t>
            </a:r>
            <a:endParaRPr lang="en-US" sz="1300" dirty="0"/>
          </a:p>
          <a:p>
            <a:pPr indent="0" marL="0">
              <a:buNone/>
            </a:pPr>
            <a:r>
              <a:rPr lang="en-US" sz="1300" dirty="0">
                <a:solidFill>
                  <a:srgbClr val="193344"/>
                </a:solidFill>
                <a:latin typeface="Arial" pitchFamily="34" charset="0"/>
                <a:ea typeface="Arial" pitchFamily="34" charset="-122"/>
                <a:cs typeface="Arial" pitchFamily="34" charset="-120"/>
              </a:rPr>
              <a:t>AI, image recognition and WhatsApp usage.</a:t>
            </a:r>
            <a:endParaRPr lang="en-US" sz="1300" dirty="0"/>
          </a:p>
        </p:txBody>
      </p:sp>
      <p:sp>
        <p:nvSpPr>
          <p:cNvPr id="39" name="Text 36"/>
          <p:cNvSpPr/>
          <p:nvPr/>
        </p:nvSpPr>
        <p:spPr>
          <a:xfrm>
            <a:off x="457200" y="5157216"/>
            <a:ext cx="5477256" cy="237744"/>
          </a:xfrm>
          <a:prstGeom prst="rect">
            <a:avLst/>
          </a:prstGeom>
          <a:noFill/>
          <a:ln/>
        </p:spPr>
        <p:txBody>
          <a:bodyPr wrap="square" lIns="0" tIns="0" rIns="0" bIns="0" rtlCol="0" anchor="t"/>
          <a:lstStyle/>
          <a:p>
            <a:pPr indent="0" marL="0">
              <a:buNone/>
            </a:pPr>
            <a:r>
              <a:rPr lang="en-US" sz="1260" b="1" dirty="0">
                <a:solidFill>
                  <a:srgbClr val="007D73"/>
                </a:solidFill>
                <a:latin typeface="Arial" pitchFamily="34" charset="0"/>
                <a:ea typeface="Arial" pitchFamily="34" charset="-122"/>
                <a:cs typeface="Arial" pitchFamily="34" charset="-120"/>
              </a:rPr>
              <a:t>R10,000/month difference = R360,000 over 3 years.</a:t>
            </a:r>
            <a:endParaRPr lang="en-US" sz="1260" dirty="0"/>
          </a:p>
        </p:txBody>
      </p:sp>
      <p:sp>
        <p:nvSpPr>
          <p:cNvPr id="40" name="Text 37"/>
          <p:cNvSpPr/>
          <p:nvPr/>
        </p:nvSpPr>
        <p:spPr>
          <a:xfrm>
            <a:off x="457200" y="5559552"/>
            <a:ext cx="5477256" cy="393192"/>
          </a:xfrm>
          <a:prstGeom prst="rect">
            <a:avLst/>
          </a:prstGeom>
          <a:noFill/>
          <a:ln/>
        </p:spPr>
        <p:txBody>
          <a:bodyPr wrap="square" lIns="0" tIns="0" rIns="0" bIns="0" rtlCol="0" anchor="t"/>
          <a:lstStyle/>
          <a:p>
            <a:pPr indent="0" marL="0">
              <a:buNone/>
            </a:pPr>
            <a:r>
              <a:rPr lang="en-US" sz="1190" dirty="0">
                <a:solidFill>
                  <a:srgbClr val="596F7B"/>
                </a:solidFill>
                <a:latin typeface="Arial" pitchFamily="34" charset="0"/>
                <a:ea typeface="Arial" pitchFamily="34" charset="-122"/>
                <a:cs typeface="Arial" pitchFamily="34" charset="-120"/>
              </a:rPr>
              <a:t>No verified quotes or workload estimate: savings are unproven.</a:t>
            </a:r>
            <a:endParaRPr lang="en-US" sz="1190" dirty="0"/>
          </a:p>
          <a:p>
            <a:pPr indent="0" marL="0">
              <a:buNone/>
            </a:pPr>
            <a:r>
              <a:rPr lang="en-US" sz="1190" dirty="0">
                <a:solidFill>
                  <a:srgbClr val="596F7B"/>
                </a:solidFill>
                <a:latin typeface="Arial" pitchFamily="34" charset="0"/>
                <a:ea typeface="Arial" pitchFamily="34" charset="-122"/>
                <a:cs typeface="Arial" pitchFamily="34" charset="-120"/>
              </a:rPr>
              <a:t>Track cost per active field user, accepted order and visit.</a:t>
            </a:r>
            <a:endParaRPr lang="en-US" sz="1190" dirty="0"/>
          </a:p>
        </p:txBody>
      </p:sp>
      <p:sp>
        <p:nvSpPr>
          <p:cNvPr id="41" name="Shape 38"/>
          <p:cNvSpPr/>
          <p:nvPr/>
        </p:nvSpPr>
        <p:spPr>
          <a:xfrm>
            <a:off x="6099048" y="3877056"/>
            <a:ext cx="0" cy="2075688"/>
          </a:xfrm>
          <a:prstGeom prst="line">
            <a:avLst/>
          </a:prstGeom>
          <a:noFill/>
          <a:ln w="17780">
            <a:solidFill>
              <a:srgbClr val="D4E0E5"/>
            </a:solidFill>
            <a:prstDash val="solid"/>
          </a:ln>
        </p:spPr>
      </p:sp>
      <p:sp>
        <p:nvSpPr>
          <p:cNvPr id="42" name="Text 39"/>
          <p:cNvSpPr/>
          <p:nvPr/>
        </p:nvSpPr>
        <p:spPr>
          <a:xfrm>
            <a:off x="6364224" y="3877056"/>
            <a:ext cx="5367528" cy="210312"/>
          </a:xfrm>
          <a:prstGeom prst="rect">
            <a:avLst/>
          </a:prstGeom>
          <a:noFill/>
          <a:ln/>
        </p:spPr>
        <p:txBody>
          <a:bodyPr wrap="square" lIns="0" tIns="0" rIns="0" bIns="0" rtlCol="0" anchor="t"/>
          <a:lstStyle/>
          <a:p>
            <a:pPr indent="0" marL="0">
              <a:buNone/>
            </a:pPr>
            <a:r>
              <a:rPr lang="en-US" sz="1200" b="1" dirty="0">
                <a:solidFill>
                  <a:srgbClr val="226B92"/>
                </a:solidFill>
                <a:latin typeface="Arial" pitchFamily="34" charset="0"/>
                <a:ea typeface="Arial" pitchFamily="34" charset="-122"/>
                <a:cs typeface="Arial" pitchFamily="34" charset="-120"/>
              </a:rPr>
              <a:t>90-DAY ASSURANCE PLAN / PROPOSED</a:t>
            </a:r>
            <a:endParaRPr lang="en-US" sz="1200" dirty="0"/>
          </a:p>
        </p:txBody>
      </p:sp>
      <p:sp>
        <p:nvSpPr>
          <p:cNvPr id="43" name="Text 40"/>
          <p:cNvSpPr/>
          <p:nvPr/>
        </p:nvSpPr>
        <p:spPr>
          <a:xfrm>
            <a:off x="6364224" y="4279392"/>
            <a:ext cx="384048" cy="219456"/>
          </a:xfrm>
          <a:prstGeom prst="rect">
            <a:avLst/>
          </a:prstGeom>
          <a:noFill/>
          <a:ln/>
        </p:spPr>
        <p:txBody>
          <a:bodyPr wrap="square" lIns="0" tIns="0" rIns="0" bIns="0" rtlCol="0" anchor="t"/>
          <a:lstStyle/>
          <a:p>
            <a:pPr indent="0" marL="0">
              <a:buNone/>
            </a:pPr>
            <a:r>
              <a:rPr lang="en-US" sz="1300" b="1" dirty="0">
                <a:solidFill>
                  <a:srgbClr val="ED6B14"/>
                </a:solidFill>
                <a:latin typeface="Arial" pitchFamily="34" charset="0"/>
                <a:ea typeface="Arial" pitchFamily="34" charset="-122"/>
                <a:cs typeface="Arial" pitchFamily="34" charset="-120"/>
              </a:rPr>
              <a:t>01</a:t>
            </a:r>
            <a:endParaRPr lang="en-US" sz="1300" dirty="0"/>
          </a:p>
        </p:txBody>
      </p:sp>
      <p:sp>
        <p:nvSpPr>
          <p:cNvPr id="44" name="Text 41"/>
          <p:cNvSpPr/>
          <p:nvPr/>
        </p:nvSpPr>
        <p:spPr>
          <a:xfrm>
            <a:off x="6848856" y="4242816"/>
            <a:ext cx="1014984" cy="219456"/>
          </a:xfrm>
          <a:prstGeom prst="rect">
            <a:avLst/>
          </a:prstGeom>
          <a:noFill/>
          <a:ln/>
        </p:spPr>
        <p:txBody>
          <a:bodyPr wrap="square" lIns="0" tIns="0" rIns="0" bIns="0" rtlCol="0" anchor="t"/>
          <a:lstStyle/>
          <a:p>
            <a:pPr indent="0" marL="0">
              <a:buNone/>
            </a:pPr>
            <a:r>
              <a:rPr lang="en-US" sz="1160" b="1" dirty="0">
                <a:solidFill>
                  <a:srgbClr val="193344"/>
                </a:solidFill>
                <a:latin typeface="Arial" pitchFamily="34" charset="0"/>
                <a:ea typeface="Arial" pitchFamily="34" charset="-122"/>
                <a:cs typeface="Arial" pitchFamily="34" charset="-120"/>
              </a:rPr>
              <a:t>Days 0-30</a:t>
            </a:r>
            <a:endParaRPr lang="en-US" sz="1160" dirty="0"/>
          </a:p>
        </p:txBody>
      </p:sp>
      <p:sp>
        <p:nvSpPr>
          <p:cNvPr id="45" name="Text 42"/>
          <p:cNvSpPr/>
          <p:nvPr/>
        </p:nvSpPr>
        <p:spPr>
          <a:xfrm>
            <a:off x="7991856" y="4242816"/>
            <a:ext cx="3749040" cy="393192"/>
          </a:xfrm>
          <a:prstGeom prst="rect">
            <a:avLst/>
          </a:prstGeom>
          <a:noFill/>
          <a:ln/>
        </p:spPr>
        <p:txBody>
          <a:bodyPr wrap="square" lIns="0" tIns="0" rIns="0" bIns="0" rtlCol="0" anchor="t"/>
          <a:lstStyle/>
          <a:p>
            <a:pPr indent="0" marL="0">
              <a:buNone/>
            </a:pPr>
            <a:r>
              <a:rPr lang="en-US" sz="1190" dirty="0">
                <a:solidFill>
                  <a:srgbClr val="193344"/>
                </a:solidFill>
                <a:latin typeface="Arial" pitchFamily="34" charset="0"/>
                <a:ea typeface="Arial" pitchFamily="34" charset="-122"/>
                <a:cs typeface="Arial" pitchFamily="34" charset="-120"/>
              </a:rPr>
              <a:t>Confirm platform, team cover and budget;</a:t>
            </a:r>
            <a:endParaRPr lang="en-US" sz="1190" dirty="0"/>
          </a:p>
          <a:p>
            <a:pPr indent="0" marL="0">
              <a:buNone/>
            </a:pPr>
            <a:r>
              <a:rPr lang="en-US" sz="1190" dirty="0">
                <a:solidFill>
                  <a:srgbClr val="193344"/>
                </a:solidFill>
                <a:latin typeface="Arial" pitchFamily="34" charset="0"/>
                <a:ea typeface="Arial" pitchFamily="34" charset="-122"/>
                <a:cs typeface="Arial" pitchFamily="34" charset="-120"/>
              </a:rPr>
              <a:t>prove access controls and backup recovery.</a:t>
            </a:r>
            <a:endParaRPr lang="en-US" sz="1190" dirty="0"/>
          </a:p>
        </p:txBody>
      </p:sp>
      <p:sp>
        <p:nvSpPr>
          <p:cNvPr id="46" name="Text 43"/>
          <p:cNvSpPr/>
          <p:nvPr/>
        </p:nvSpPr>
        <p:spPr>
          <a:xfrm>
            <a:off x="6364224" y="4846320"/>
            <a:ext cx="384048" cy="219456"/>
          </a:xfrm>
          <a:prstGeom prst="rect">
            <a:avLst/>
          </a:prstGeom>
          <a:noFill/>
          <a:ln/>
        </p:spPr>
        <p:txBody>
          <a:bodyPr wrap="square" lIns="0" tIns="0" rIns="0" bIns="0" rtlCol="0" anchor="t"/>
          <a:lstStyle/>
          <a:p>
            <a:pPr indent="0" marL="0">
              <a:buNone/>
            </a:pPr>
            <a:r>
              <a:rPr lang="en-US" sz="1300" b="1" dirty="0">
                <a:solidFill>
                  <a:srgbClr val="ED6B14"/>
                </a:solidFill>
                <a:latin typeface="Arial" pitchFamily="34" charset="0"/>
                <a:ea typeface="Arial" pitchFamily="34" charset="-122"/>
                <a:cs typeface="Arial" pitchFamily="34" charset="-120"/>
              </a:rPr>
              <a:t>02</a:t>
            </a:r>
            <a:endParaRPr lang="en-US" sz="1300" dirty="0"/>
          </a:p>
        </p:txBody>
      </p:sp>
      <p:sp>
        <p:nvSpPr>
          <p:cNvPr id="47" name="Text 44"/>
          <p:cNvSpPr/>
          <p:nvPr/>
        </p:nvSpPr>
        <p:spPr>
          <a:xfrm>
            <a:off x="6848856" y="4809744"/>
            <a:ext cx="1014984" cy="219456"/>
          </a:xfrm>
          <a:prstGeom prst="rect">
            <a:avLst/>
          </a:prstGeom>
          <a:noFill/>
          <a:ln/>
        </p:spPr>
        <p:txBody>
          <a:bodyPr wrap="square" lIns="0" tIns="0" rIns="0" bIns="0" rtlCol="0" anchor="t"/>
          <a:lstStyle/>
          <a:p>
            <a:pPr indent="0" marL="0">
              <a:buNone/>
            </a:pPr>
            <a:r>
              <a:rPr lang="en-US" sz="1160" b="1" dirty="0">
                <a:solidFill>
                  <a:srgbClr val="193344"/>
                </a:solidFill>
                <a:latin typeface="Arial" pitchFamily="34" charset="0"/>
                <a:ea typeface="Arial" pitchFamily="34" charset="-122"/>
                <a:cs typeface="Arial" pitchFamily="34" charset="-120"/>
              </a:rPr>
              <a:t>Days 31-60</a:t>
            </a:r>
            <a:endParaRPr lang="en-US" sz="1160" dirty="0"/>
          </a:p>
        </p:txBody>
      </p:sp>
      <p:sp>
        <p:nvSpPr>
          <p:cNvPr id="48" name="Text 45"/>
          <p:cNvSpPr/>
          <p:nvPr/>
        </p:nvSpPr>
        <p:spPr>
          <a:xfrm>
            <a:off x="7991856" y="4809744"/>
            <a:ext cx="3749040" cy="393192"/>
          </a:xfrm>
          <a:prstGeom prst="rect">
            <a:avLst/>
          </a:prstGeom>
          <a:noFill/>
          <a:ln/>
        </p:spPr>
        <p:txBody>
          <a:bodyPr wrap="square" lIns="0" tIns="0" rIns="0" bIns="0" rtlCol="0" anchor="t"/>
          <a:lstStyle/>
          <a:p>
            <a:pPr indent="0" marL="0">
              <a:buNone/>
            </a:pPr>
            <a:r>
              <a:rPr lang="en-US" sz="1190" dirty="0">
                <a:solidFill>
                  <a:srgbClr val="193344"/>
                </a:solidFill>
                <a:latin typeface="Arial" pitchFamily="34" charset="0"/>
                <a:ea typeface="Arial" pitchFamily="34" charset="-122"/>
                <a:cs typeface="Arial" pitchFamily="34" charset="-120"/>
              </a:rPr>
              <a:t>Pilot field sync, supplier feeds and orders;</a:t>
            </a:r>
            <a:endParaRPr lang="en-US" sz="1190" dirty="0"/>
          </a:p>
          <a:p>
            <a:pPr indent="0" marL="0">
              <a:buNone/>
            </a:pPr>
            <a:r>
              <a:rPr lang="en-US" sz="1190" dirty="0">
                <a:solidFill>
                  <a:srgbClr val="193344"/>
                </a:solidFill>
                <a:latin typeface="Arial" pitchFamily="34" charset="0"/>
                <a:ea typeface="Arial" pitchFamily="34" charset="-122"/>
                <a:cs typeface="Arial" pitchFamily="34" charset="-120"/>
              </a:rPr>
              <a:t>reconcile data and test rollback.</a:t>
            </a:r>
            <a:endParaRPr lang="en-US" sz="1190" dirty="0"/>
          </a:p>
        </p:txBody>
      </p:sp>
      <p:sp>
        <p:nvSpPr>
          <p:cNvPr id="49" name="Text 46"/>
          <p:cNvSpPr/>
          <p:nvPr/>
        </p:nvSpPr>
        <p:spPr>
          <a:xfrm>
            <a:off x="6364224" y="5413248"/>
            <a:ext cx="384048" cy="219456"/>
          </a:xfrm>
          <a:prstGeom prst="rect">
            <a:avLst/>
          </a:prstGeom>
          <a:noFill/>
          <a:ln/>
        </p:spPr>
        <p:txBody>
          <a:bodyPr wrap="square" lIns="0" tIns="0" rIns="0" bIns="0" rtlCol="0" anchor="t"/>
          <a:lstStyle/>
          <a:p>
            <a:pPr indent="0" marL="0">
              <a:buNone/>
            </a:pPr>
            <a:r>
              <a:rPr lang="en-US" sz="1300" b="1" dirty="0">
                <a:solidFill>
                  <a:srgbClr val="ED6B14"/>
                </a:solidFill>
                <a:latin typeface="Arial" pitchFamily="34" charset="0"/>
                <a:ea typeface="Arial" pitchFamily="34" charset="-122"/>
                <a:cs typeface="Arial" pitchFamily="34" charset="-120"/>
              </a:rPr>
              <a:t>03</a:t>
            </a:r>
            <a:endParaRPr lang="en-US" sz="1300" dirty="0"/>
          </a:p>
        </p:txBody>
      </p:sp>
      <p:sp>
        <p:nvSpPr>
          <p:cNvPr id="50" name="Text 47"/>
          <p:cNvSpPr/>
          <p:nvPr/>
        </p:nvSpPr>
        <p:spPr>
          <a:xfrm>
            <a:off x="6848856" y="5376672"/>
            <a:ext cx="1014984" cy="219456"/>
          </a:xfrm>
          <a:prstGeom prst="rect">
            <a:avLst/>
          </a:prstGeom>
          <a:noFill/>
          <a:ln/>
        </p:spPr>
        <p:txBody>
          <a:bodyPr wrap="square" lIns="0" tIns="0" rIns="0" bIns="0" rtlCol="0" anchor="t"/>
          <a:lstStyle/>
          <a:p>
            <a:pPr indent="0" marL="0">
              <a:buNone/>
            </a:pPr>
            <a:r>
              <a:rPr lang="en-US" sz="1160" b="1" dirty="0">
                <a:solidFill>
                  <a:srgbClr val="193344"/>
                </a:solidFill>
                <a:latin typeface="Arial" pitchFamily="34" charset="0"/>
                <a:ea typeface="Arial" pitchFamily="34" charset="-122"/>
                <a:cs typeface="Arial" pitchFamily="34" charset="-120"/>
              </a:rPr>
              <a:t>Days 61-90</a:t>
            </a:r>
            <a:endParaRPr lang="en-US" sz="1160" dirty="0"/>
          </a:p>
        </p:txBody>
      </p:sp>
      <p:sp>
        <p:nvSpPr>
          <p:cNvPr id="51" name="Text 48"/>
          <p:cNvSpPr/>
          <p:nvPr/>
        </p:nvSpPr>
        <p:spPr>
          <a:xfrm>
            <a:off x="7991856" y="5376672"/>
            <a:ext cx="3749040" cy="393192"/>
          </a:xfrm>
          <a:prstGeom prst="rect">
            <a:avLst/>
          </a:prstGeom>
          <a:noFill/>
          <a:ln/>
        </p:spPr>
        <p:txBody>
          <a:bodyPr wrap="square" lIns="0" tIns="0" rIns="0" bIns="0" rtlCol="0" anchor="t"/>
          <a:lstStyle/>
          <a:p>
            <a:pPr indent="0" marL="0">
              <a:buNone/>
            </a:pPr>
            <a:r>
              <a:rPr lang="en-US" sz="1190" dirty="0">
                <a:solidFill>
                  <a:srgbClr val="193344"/>
                </a:solidFill>
                <a:latin typeface="Arial" pitchFamily="34" charset="0"/>
                <a:ea typeface="Arial" pitchFamily="34" charset="-122"/>
                <a:cs typeface="Arial" pitchFamily="34" charset="-120"/>
              </a:rPr>
              <a:t>Expand after business acceptance; stage</a:t>
            </a:r>
            <a:endParaRPr lang="en-US" sz="1190" dirty="0"/>
          </a:p>
          <a:p>
            <a:pPr indent="0" marL="0">
              <a:buNone/>
            </a:pPr>
            <a:r>
              <a:rPr lang="en-US" sz="1190" dirty="0">
                <a:solidFill>
                  <a:srgbClr val="193344"/>
                </a:solidFill>
                <a:latin typeface="Arial" pitchFamily="34" charset="0"/>
                <a:ea typeface="Arial" pitchFamily="34" charset="-122"/>
                <a:cs typeface="Arial" pitchFamily="34" charset="-120"/>
              </a:rPr>
              <a:t>IR and WhatsApp behind separate gates.</a:t>
            </a:r>
            <a:endParaRPr lang="en-US" sz="1190" dirty="0"/>
          </a:p>
        </p:txBody>
      </p:sp>
      <p:sp>
        <p:nvSpPr>
          <p:cNvPr id="52" name="Shape 49"/>
          <p:cNvSpPr/>
          <p:nvPr/>
        </p:nvSpPr>
        <p:spPr>
          <a:xfrm>
            <a:off x="457200" y="6099048"/>
            <a:ext cx="11283696" cy="329184"/>
          </a:xfrm>
          <a:prstGeom prst="rect">
            <a:avLst/>
          </a:prstGeom>
          <a:solidFill>
            <a:srgbClr val="08253D"/>
          </a:solidFill>
          <a:ln w="8890">
            <a:solidFill>
              <a:srgbClr val="08253D"/>
            </a:solidFill>
            <a:prstDash val="solid"/>
          </a:ln>
        </p:spPr>
      </p:sp>
      <p:sp>
        <p:nvSpPr>
          <p:cNvPr id="53" name="Text 50"/>
          <p:cNvSpPr/>
          <p:nvPr/>
        </p:nvSpPr>
        <p:spPr>
          <a:xfrm>
            <a:off x="603504" y="6190488"/>
            <a:ext cx="10972800" cy="201168"/>
          </a:xfrm>
          <a:prstGeom prst="rect">
            <a:avLst/>
          </a:prstGeom>
          <a:noFill/>
          <a:ln/>
        </p:spPr>
        <p:txBody>
          <a:bodyPr wrap="square" lIns="0" tIns="0" rIns="0" bIns="0" rtlCol="0" anchor="t"/>
          <a:lstStyle/>
          <a:p>
            <a:pPr indent="0" marL="0">
              <a:buNone/>
            </a:pPr>
            <a:r>
              <a:rPr lang="en-US" sz="1240" b="1" dirty="0">
                <a:solidFill>
                  <a:srgbClr val="FFFFFF"/>
                </a:solidFill>
                <a:latin typeface="Arial" pitchFamily="34" charset="0"/>
                <a:ea typeface="Arial" pitchFamily="34" charset="-122"/>
                <a:cs typeface="Arial" pitchFamily="34" charset="-120"/>
              </a:rPr>
              <a:t>APPROVE: Meridian-led Nexus, named backup and funded support. Retain suppliers until replacements pass.</a:t>
            </a:r>
            <a:endParaRPr lang="en-US" sz="1240" dirty="0"/>
          </a:p>
        </p:txBody>
      </p:sp>
      <p:sp>
        <p:nvSpPr>
          <p:cNvPr id="54" name="Text 51">
            <a:hlinkClick r:id="rId2" tooltip=""/>
          </p:cNvPr>
          <p:cNvSpPr/>
          <p:nvPr/>
        </p:nvSpPr>
        <p:spPr>
          <a:xfrm>
            <a:off x="1810512" y="6583680"/>
            <a:ext cx="1508760" cy="182880"/>
          </a:xfrm>
          <a:prstGeom prst="rect">
            <a:avLst/>
          </a:prstGeom>
          <a:noFill/>
          <a:ln/>
        </p:spPr>
        <p:txBody>
          <a:bodyPr wrap="square" lIns="0" tIns="0" rIns="0" bIns="0" rtlCol="0" anchor="t"/>
          <a:lstStyle/>
          <a:p>
            <a:pPr indent="0" marL="0">
              <a:buNone/>
            </a:pPr>
            <a:r>
              <a:rPr lang="en-US" sz="910" u="sng" dirty="0">
                <a:solidFill>
                  <a:srgbClr val="226B92"/>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Cost tools: Azure [6]</a:t>
            </a:r>
            <a:endParaRPr lang="en-US" sz="910" dirty="0"/>
          </a:p>
        </p:txBody>
      </p:sp>
      <p:sp>
        <p:nvSpPr>
          <p:cNvPr id="55" name="Text 52">
            <a:hlinkClick r:id="rId3" tooltip=""/>
          </p:cNvPr>
          <p:cNvSpPr/>
          <p:nvPr/>
        </p:nvSpPr>
        <p:spPr>
          <a:xfrm>
            <a:off x="3502152" y="6583680"/>
            <a:ext cx="1380744" cy="182880"/>
          </a:xfrm>
          <a:prstGeom prst="rect">
            <a:avLst/>
          </a:prstGeom>
          <a:noFill/>
          <a:ln/>
        </p:spPr>
        <p:txBody>
          <a:bodyPr wrap="square" lIns="0" tIns="0" rIns="0" bIns="0" rtlCol="0" anchor="t"/>
          <a:lstStyle/>
          <a:p>
            <a:pPr indent="0" marL="0">
              <a:buNone/>
            </a:pPr>
            <a:r>
              <a:rPr lang="en-US" sz="910" u="sng" dirty="0">
                <a:solidFill>
                  <a:srgbClr val="226B92"/>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Google Cloud [7]</a:t>
            </a:r>
            <a:endParaRPr lang="en-US" sz="910" dirty="0"/>
          </a:p>
        </p:txBody>
      </p:sp>
      <p:sp>
        <p:nvSpPr>
          <p:cNvPr id="56" name="Text 53"/>
          <p:cNvSpPr/>
          <p:nvPr/>
        </p:nvSpPr>
        <p:spPr>
          <a:xfrm>
            <a:off x="5202936" y="6583680"/>
            <a:ext cx="5577840" cy="182880"/>
          </a:xfrm>
          <a:prstGeom prst="rect">
            <a:avLst/>
          </a:prstGeom>
          <a:noFill/>
          <a:ln/>
        </p:spPr>
        <p:txBody>
          <a:bodyPr wrap="square" lIns="0" tIns="0" rIns="0" bIns="0" rtlCol="0" anchor="t"/>
          <a:lstStyle/>
          <a:p>
            <a:pPr algn="r" indent="0" marL="0">
              <a:buNone/>
            </a:pPr>
            <a:r>
              <a:rPr lang="en-US" sz="910" dirty="0">
                <a:solidFill>
                  <a:srgbClr val="596F7B"/>
                </a:solidFill>
                <a:latin typeface="Arial" pitchFamily="34" charset="0"/>
                <a:ea typeface="Arial" pitchFamily="34" charset="-122"/>
                <a:cs typeface="Arial" pitchFamily="34" charset="-120"/>
              </a:rPr>
              <a:t>Phases are a proposal, not a migration or feature-delivery promise</a:t>
            </a:r>
            <a:endParaRPr lang="en-US" sz="9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Meridian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Nexus | In-House Risk and Benefit Assessment</dc:title>
  <dc:subject>Meridian-led development, Johannesburg hosting and field operations</dc:subject>
  <dc:creator>Meridian | Software and AI</dc:creator>
  <cp:lastModifiedBy>Meridian | Software and AI</cp:lastModifiedBy>
  <cp:revision>1</cp:revision>
  <dcterms:created xsi:type="dcterms:W3CDTF">2026-09-09T08:37:24Z</dcterms:created>
  <dcterms:modified xsi:type="dcterms:W3CDTF">2026-09-09T08:37:24Z</dcterms:modified>
</cp:coreProperties>
</file>