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 PURPOSE
Meridian is a sales and merchandising business, not principally a software or dashboard business. The primary design problem is helping sales reps and merchandisers complete a productive store visit under variable network coverage. Managers, directors, BI teams and external clients need trustworthy evidence and exceptions. Approximately 1,000 users is the total across roles, not an approved field licence quantity.
ARCHITECTURE STATUS
The diagram is a logical target, not an assertion that Nexus has migrated. The user has selected AWS hosting operated by Geo Rep. Account ownership is unresolved. Recommend an AWS account controlled by Meridian, with delegated Geo Rep access. Geo Rep's proposal calls the future white-labelled app Nexus Field; it is not an independently verified live Meridian product. Mobile-to-Nexus data flows through the agreed Geo Rep API; do not assume the existing mobile app writes directly to a new Nexus database.
TECHNICAL SCOPE
Nexus currently depends on Firebase Auth, Firestore, Storage and Functions. Full AWS migration requires identity and claims mapping, API and background-job ports, data conversion, file movement, equivalent tenant permissions and parallel-run validation. A copied front end or an AWS web host alone does not remove these dependencies. Candidate implementation: a secured web front end, API and container/job services, a transactional database, S3 evidence storage and a separate analytical data layer. Do not force sales-history workloads into the operational task database. Final service selection, limits and region availability require Geo Rep's technical design.
OWNERSHIP
Keep Meridian repositories, release approval, domains, data export and budget visibility under Meridian control. Provider access should use narrowly scoped roles, temporary credentials and audit trails, not shared root credentials. If Geo Rep insists on its own account, require a clearly isolated environment, direct export arrangements, tested exit and a named support responsibility matrix before approval.
FUTURE ORDERING
Order capture is distinct from retailer sell-out. Validate product, price, customer and availability at submission; preserve an offline draft and an idempotency key, then show pending/accepted/rejected states. Never treat an offline draft as accepted fulfilment.
SOURCES
Meridian brief and supplied Geo_Rep_Meridian_Partnership.pptx, especially slides 4, 6, 15, 16 and 20. AWS regional location [1]: https://docs.aws.amazon.com/global-infrastructure/latest/regions/aws-regions.html
Third-party role guidance: https://docs.aws.amazon.com/IAM/latest/UserGuide/id_roles_common-scenarios_third-party.html
The supplier's region is not yet verified. No live infrastructure change was made for this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FIELD EMPHASIS MATTERS
The provider proposal says Geo Rep already supports Meridian's field operation. Its public product pages describe schedules, forms, tasks, sales capture and offline use. These are supplier statements, not proof that every capability, API or commercial entitlement is included for Meridian. The proposed Nexus Field name is white-labelling, not automatically ownership of Geo Rep's platform or source code.
PILOT DESIGN
Use sales reps and merchandisers across representative stores, regions, devices and connectivity conditions; include supervisors and client-specific permission scenarios. Agree sample size and pilot dates with Meridian and Geo Rep. Proposed acceptance tests: complete a shift offline; persist drafts and photo upload queues through application restart; reconcile submissions after reconnection without silent loss; avoid duplicate orders using idempotent submission; retain failed/pending states users can understand; and check that a person can only see assigned client/store data. Measure battery use, data consumption, crashes and p95 screen/action latency. Suggested initial targets for negotiation, not supplier commitments: cached daily work opens within two seconds on agreed devices, and queued activity begins syncing within one minute of stable connectivity. Agree payload and network conditions first.
PERFORMANCE ASSESSMENT
There is no validated end-to-end mobile, concurrent-user or production SLA benchmark in this presentation. Login-page transfer time does not establish field performance. The prior small API-read sample is not a contractual speed measure and is not used here to certify the supplier. Require documented rate limits, cursor/delta pagination, webhook availability, retry-after handling, endpoint coverage and resumable synchronization. Do not put heavy upstream API requests in the critical path of every screen.
SECURITY AND SUPPORT
Device loss and offline local data are key risks. Require encrypted cached business data, short-lived sessions, a clear revocation process, device management policy and reauthentication controls. Location data should serve agreed attendance/visit purposes with proportionate access and retention; location alone is not proof of productive work. Minimise incidental personal data in shelf photos. Human users and AI tools must respect client/store permissions. Inspect current security assurance reports for the correct entity, scope and exceptions rather than accepting logos as certification evidence. Contract support coverage, response and restoration objectives, escalation, backup ownership and restoration drills.
AI / IMAGE RECOGNITION / WHATSAPP
Treat these as phased integrations, not accepted deliverables merely because they appear in the pitch. Keep Gemini Flash as the current Nexus AI constraint unless Meridian explicitly changes it. Region, privacy, service access and cost must be checked before production. IR needs Meridian retailer/SKU ground truth, confidence thresholds and human review before commercial compliance reporting. WhatsApp needs identity verification, appropriate messaging permissions, retention controls and escalation. AI can draft a task; consequential orders and external messages need authorised confirmation.
SOURCES
Geo Rep product pages [2]: https://georep.com/product-features/
Meridian-supplied Geo_Rep_Meridian_Partnership.pptx slides 4, 11-17 and 20. Supplier six-week AI and uninterrupted-transition claims are not accepted timelines or service guarantees.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CATALYST ROLE AND EVIDENCE
Meridian states that Catalyst is an external AWS-hosted supplier that automates retailer sales and inventory collection, including Clicks and Shoprite. Its API access is pending. This is a logical integration diagram, not an audited view of Catalyst's infrastructure. Do not assume specific endpoints, update cadence, retail coverage, retention, service region, prices or handover rights. The supplied Geo Rep proposal lists replacing Catalyst as a workstream; it does not establish that the replacement already exists.
DATA CONTRACT
Obtain authorised retailer access, source file/API formats, business definitions, identifiers, delivery schedule, backfill coverage, cancellations/corrections, data ownership and error handling. Map Meridian store and product masters before creating tasks. Reconcile retailer totals and selected client/store/SKU samples against the handed-over Insights source. Preserve raw source versions, freshness and quality status. Field orders are not retailer sell-out; shelf observations, system stock and actual sale are different measures. A daily source is not real-time and cannot support current availability claims without an explicit timestamp and definition.
FUTURE MIGRATION OF CATALYST'S FUNCTION
Retain the existing supplier until a replacement passes retail-access authorisation, historical reconciliation, fresh-feed comparison, recovery from missed runs, alerting and support acceptance. Dual-run a controlled retailer subset before decommissioning. Obtain the right to use the connector code and maintain source access; moving a function does not mean ownership of a supplier's company or product.
COST AND VALUE
No supplier quote or workload-sized AWS estimate is available. The previous general cloud allowances were illustrative and are not adopted as a field-operations budget. Request comparable 36-month pricing for setup/migration, AWS consumption, active field/mobile licences, manager/client access, white-label/API entitlements, support, retailer feeds, connectivity and device management, AI tokens, images, WhatsApp messages, backup/egress, and exit/export assistance. Distinguish once-off costs, recurring commitments and variable consumption; identify taxes and overage rates. Ask whether a managed package includes AWS consumption to avoid double-counting. Build low/base/peak cases with actual concurrent users, visits, orders, image count/size/retention, sync traffic, warehouse scans and message volumes. About 1,000 total users is not automatically 1,000 chargeable Geo Rep seats. Cost per accepted order, active field user and completed visit should be compared against a measured baseline, not claimed ROI.
DECISION OPTIONS
Preferred: Meridian-owned AWS account and repositories, operated by Geo Rep under a scoped agreement and Meridian release acceptance. Alternative: a dedicated Meridian environment in Geo Rep's AWS account only if isolation, access, security, budgets and a tested exit are adequate. Retained in-house delivery remains a fallback if the provider cannot meet these conditions. AWS alone does not prove better application performance or lower total cost.
PHASES
First prove an end-to-end Stock Fix cycle: retailer signal, validated task, mobile execution, evidence, closure and reporting. Then complete SSO/access, historical reconciliation and recovery acceptance. Add mobile ordering only after price/availability checks, duplicate prevention and approval routing are proven. Add IR, Gemini Flash AI and WhatsApp with dataset-based evaluation and human approval for consequential actions. Timelines are to be scoped; no unconditional cutover or zero-downtime guarantee is asserted.
SOURCES
Catalyst description: Meridian brief. Geo Rep proposed replacement: supplied pitch slides 17 and 20. AWS pricing [3]: https://aws.amazon.com/pricing/
Workload estimate: https://calculator.aws/
AWS role model: https://docs.aws.amazon.com/IAM/latest/UserGuide/id_roles_common-scenarios_third-party.html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docs.aws.amazon.com/global-infrastructure/latest/regions/aws-regions.html" TargetMode="External"/><Relationship Id="rId1"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georep.com/product-features/" TargetMode="External"/><Relationship Id="rId1" Type="http://schemas.openxmlformats.org/officeDocument/2006/relationships/image" Target="../media/image-2-1.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aws.amazon.com/pricing/" TargetMode="External"/><Relationship Id="rId1"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0"/>
          </a:xfrm>
          <a:prstGeom prst="rect">
            <a:avLst>
              <a:gd name="adj" fmla="val 8571"/>
            </a:avLst>
          </a:prstGeom>
          <a:solidFill>
            <a:srgbClr val="08253D"/>
          </a:solidFill>
          <a:ln w="10160">
            <a:solidFill>
              <a:srgbClr val="08253D"/>
            </a:solidFill>
            <a:prstDash val="solid"/>
          </a:ln>
        </p:spPr>
      </p:sp>
      <p:sp>
        <p:nvSpPr>
          <p:cNvPr id="3" name="Shape 1"/>
          <p:cNvSpPr/>
          <p:nvPr/>
        </p:nvSpPr>
        <p:spPr>
          <a:xfrm>
            <a:off x="0" y="640080"/>
            <a:ext cx="12191695" cy="41148"/>
          </a:xfrm>
          <a:prstGeom prst="rect">
            <a:avLst>
              <a:gd name="adj" fmla="val 133333"/>
            </a:avLst>
          </a:prstGeom>
          <a:solidFill>
            <a:srgbClr val="F37017"/>
          </a:solidFill>
          <a:ln w="10160">
            <a:solidFill>
              <a:srgbClr val="F37017"/>
            </a:solidFill>
            <a:prstDash val="solid"/>
          </a:ln>
        </p:spPr>
      </p:sp>
      <p:pic>
        <p:nvPicPr>
          <p:cNvPr id="4" name="Image 0" descr="C:\Users\PC\MeridianNexus\public\assets\callcycle\meridian.png">    </p:cNvPr>
          <p:cNvPicPr>
            <a:picLocks noChangeAspect="1"/>
          </p:cNvPicPr>
          <p:nvPr/>
        </p:nvPicPr>
        <p:blipFill>
          <a:blip r:embed="rId1"/>
          <a:stretch>
            <a:fillRect/>
          </a:stretch>
        </p:blipFill>
        <p:spPr>
          <a:xfrm>
            <a:off x="420624" y="100584"/>
            <a:ext cx="1306830" cy="448056"/>
          </a:xfrm>
          <a:prstGeom prst="rect">
            <a:avLst/>
          </a:prstGeom>
        </p:spPr>
      </p:pic>
      <p:sp>
        <p:nvSpPr>
          <p:cNvPr id="5" name="Text 2"/>
          <p:cNvSpPr/>
          <p:nvPr/>
        </p:nvSpPr>
        <p:spPr>
          <a:xfrm>
            <a:off x="2194560" y="219456"/>
            <a:ext cx="4800600" cy="210312"/>
          </a:xfrm>
          <a:prstGeom prst="rect">
            <a:avLst/>
          </a:prstGeom>
          <a:noFill/>
          <a:ln/>
        </p:spPr>
        <p:txBody>
          <a:bodyPr wrap="square" lIns="0" tIns="0" rIns="0" bIns="0" rtlCol="0" anchor="t"/>
          <a:lstStyle/>
          <a:p>
            <a:pPr indent="0" marL="0">
              <a:buNone/>
            </a:pPr>
            <a:r>
              <a:rPr lang="en-US" sz="1180" b="1" dirty="0">
                <a:solidFill>
                  <a:srgbClr val="FFFFFF"/>
                </a:solidFill>
                <a:latin typeface="Arial" pitchFamily="34" charset="0"/>
                <a:ea typeface="Arial" pitchFamily="34" charset="-122"/>
                <a:cs typeface="Arial" pitchFamily="34" charset="-120"/>
              </a:rPr>
              <a:t>NEXUS  /  FIELD OPERATIONS</a:t>
            </a:r>
            <a:endParaRPr lang="en-US" sz="1180" dirty="0"/>
          </a:p>
        </p:txBody>
      </p:sp>
      <p:sp>
        <p:nvSpPr>
          <p:cNvPr id="6" name="Text 3"/>
          <p:cNvSpPr/>
          <p:nvPr/>
        </p:nvSpPr>
        <p:spPr>
          <a:xfrm>
            <a:off x="8394192" y="219456"/>
            <a:ext cx="3337560" cy="210312"/>
          </a:xfrm>
          <a:prstGeom prst="rect">
            <a:avLst/>
          </a:prstGeom>
          <a:noFill/>
          <a:ln/>
        </p:spPr>
        <p:txBody>
          <a:bodyPr wrap="square" lIns="0" tIns="0" rIns="0" bIns="0" rtlCol="0" anchor="t"/>
          <a:lstStyle/>
          <a:p>
            <a:pPr algn="r" indent="0" marL="0">
              <a:buNone/>
            </a:pPr>
            <a:r>
              <a:rPr lang="en-US" sz="1060" dirty="0">
                <a:solidFill>
                  <a:srgbClr val="D8E5ED"/>
                </a:solidFill>
                <a:latin typeface="Arial" pitchFamily="34" charset="0"/>
                <a:ea typeface="Arial" pitchFamily="34" charset="-122"/>
                <a:cs typeface="Arial" pitchFamily="34" charset="-120"/>
              </a:rPr>
              <a:t>CEO &amp; MD  |  08 SEPTEMBER 2026</a:t>
            </a:r>
            <a:endParaRPr lang="en-US" sz="1060" dirty="0"/>
          </a:p>
        </p:txBody>
      </p:sp>
      <p:sp>
        <p:nvSpPr>
          <p:cNvPr id="7" name="Text 4"/>
          <p:cNvSpPr/>
          <p:nvPr/>
        </p:nvSpPr>
        <p:spPr>
          <a:xfrm>
            <a:off x="438912" y="886968"/>
            <a:ext cx="11311128" cy="420624"/>
          </a:xfrm>
          <a:prstGeom prst="rect">
            <a:avLst/>
          </a:prstGeom>
          <a:noFill/>
          <a:ln/>
        </p:spPr>
        <p:txBody>
          <a:bodyPr wrap="square" lIns="0" tIns="0" rIns="0" bIns="0" rtlCol="0" anchor="t"/>
          <a:lstStyle/>
          <a:p>
            <a:pPr indent="0" marL="0">
              <a:buNone/>
            </a:pPr>
            <a:r>
              <a:rPr lang="en-US" sz="2800" b="1" dirty="0">
                <a:solidFill>
                  <a:srgbClr val="183544"/>
                </a:solidFill>
                <a:latin typeface="Arial" pitchFamily="34" charset="0"/>
                <a:ea typeface="Arial" pitchFamily="34" charset="-122"/>
                <a:cs typeface="Arial" pitchFamily="34" charset="-120"/>
              </a:rPr>
              <a:t>Meridian Nexus, built around the store visit</a:t>
            </a:r>
            <a:endParaRPr lang="en-US" sz="2800" dirty="0"/>
          </a:p>
        </p:txBody>
      </p:sp>
      <p:sp>
        <p:nvSpPr>
          <p:cNvPr id="8" name="Text 5"/>
          <p:cNvSpPr/>
          <p:nvPr/>
        </p:nvSpPr>
        <p:spPr>
          <a:xfrm>
            <a:off x="457200" y="1408176"/>
            <a:ext cx="11155680" cy="384048"/>
          </a:xfrm>
          <a:prstGeom prst="rect">
            <a:avLst/>
          </a:prstGeom>
          <a:noFill/>
          <a:ln/>
        </p:spPr>
        <p:txBody>
          <a:bodyPr wrap="square" lIns="0" tIns="0" rIns="0" bIns="0" rtlCol="0" anchor="t"/>
          <a:lstStyle/>
          <a:p>
            <a:pPr indent="0" marL="0">
              <a:buNone/>
            </a:pPr>
            <a:r>
              <a:rPr lang="en-US" sz="1380" dirty="0">
                <a:solidFill>
                  <a:srgbClr val="5B6E7B"/>
                </a:solidFill>
                <a:latin typeface="Arial" pitchFamily="34" charset="0"/>
                <a:ea typeface="Arial" pitchFamily="34" charset="-122"/>
                <a:cs typeface="Arial" pitchFamily="34" charset="-120"/>
              </a:rPr>
              <a:t>Sales reps and merchandisers are the primary users. Managers and clients use the evidence to guide action.</a:t>
            </a:r>
            <a:endParaRPr lang="en-US" sz="1380" dirty="0"/>
          </a:p>
        </p:txBody>
      </p:sp>
      <p:sp>
        <p:nvSpPr>
          <p:cNvPr id="9" name="Shape 6"/>
          <p:cNvSpPr/>
          <p:nvPr/>
        </p:nvSpPr>
        <p:spPr>
          <a:xfrm>
            <a:off x="438912" y="6473952"/>
            <a:ext cx="11320272" cy="0"/>
          </a:xfrm>
          <a:prstGeom prst="line">
            <a:avLst/>
          </a:prstGeom>
          <a:noFill/>
          <a:ln w="19050">
            <a:solidFill>
              <a:srgbClr val="D4E0E5"/>
            </a:solidFill>
            <a:prstDash val="solid"/>
          </a:ln>
        </p:spPr>
      </p:sp>
      <p:sp>
        <p:nvSpPr>
          <p:cNvPr id="10" name="Text 7"/>
          <p:cNvSpPr/>
          <p:nvPr/>
        </p:nvSpPr>
        <p:spPr>
          <a:xfrm>
            <a:off x="457200" y="6583680"/>
            <a:ext cx="9875520" cy="164592"/>
          </a:xfrm>
          <a:prstGeom prst="rect">
            <a:avLst/>
          </a:prstGeom>
          <a:noFill/>
          <a:ln/>
        </p:spPr>
        <p:txBody>
          <a:bodyPr wrap="square" lIns="0" tIns="0" rIns="0" bIns="0" rtlCol="0" anchor="t"/>
          <a:lstStyle/>
          <a:p>
            <a:pPr indent="0" marL="0">
              <a:buNone/>
            </a:pPr>
            <a:r>
              <a:rPr lang="en-US" sz="860" dirty="0">
                <a:solidFill>
                  <a:srgbClr val="5B6E7B"/>
                </a:solidFill>
                <a:latin typeface="Arial" pitchFamily="34" charset="0"/>
                <a:ea typeface="Arial" pitchFamily="34" charset="-122"/>
                <a:cs typeface="Arial" pitchFamily="34" charset="-120"/>
              </a:rPr>
              <a:t>CONFIDENTIAL  |  1. NEXUS TARGET ARCHITECTURE</a:t>
            </a:r>
            <a:endParaRPr lang="en-US" sz="860" dirty="0"/>
          </a:p>
        </p:txBody>
      </p:sp>
      <p:sp>
        <p:nvSpPr>
          <p:cNvPr id="11" name="Text 8"/>
          <p:cNvSpPr/>
          <p:nvPr/>
        </p:nvSpPr>
        <p:spPr>
          <a:xfrm>
            <a:off x="11064240" y="6537960"/>
            <a:ext cx="676656" cy="228600"/>
          </a:xfrm>
          <a:prstGeom prst="rect">
            <a:avLst/>
          </a:prstGeom>
          <a:noFill/>
          <a:ln/>
        </p:spPr>
        <p:txBody>
          <a:bodyPr wrap="square" lIns="0" tIns="0" rIns="0" bIns="0" rtlCol="0" anchor="t"/>
          <a:lstStyle/>
          <a:p>
            <a:pPr algn="r" indent="0" marL="0">
              <a:buNone/>
            </a:pPr>
            <a:r>
              <a:rPr lang="en-US" sz="1150" b="1" dirty="0">
                <a:solidFill>
                  <a:srgbClr val="183544"/>
                </a:solidFill>
                <a:latin typeface="Arial" pitchFamily="34" charset="0"/>
                <a:ea typeface="Arial" pitchFamily="34" charset="-122"/>
                <a:cs typeface="Arial" pitchFamily="34" charset="-120"/>
              </a:rPr>
              <a:t>1 / 3</a:t>
            </a:r>
            <a:endParaRPr lang="en-US" sz="1150" dirty="0"/>
          </a:p>
        </p:txBody>
      </p:sp>
      <p:sp>
        <p:nvSpPr>
          <p:cNvPr id="12" name="Shape 9"/>
          <p:cNvSpPr/>
          <p:nvPr/>
        </p:nvSpPr>
        <p:spPr>
          <a:xfrm>
            <a:off x="2697480" y="1929384"/>
            <a:ext cx="5257800" cy="2642616"/>
          </a:xfrm>
          <a:prstGeom prst="rect">
            <a:avLst>
              <a:gd name="adj" fmla="val 2076"/>
            </a:avLst>
          </a:prstGeom>
          <a:solidFill>
            <a:srgbClr val="F2F6F8"/>
          </a:solidFill>
          <a:ln w="10160">
            <a:solidFill>
              <a:srgbClr val="D4E0E5"/>
            </a:solidFill>
            <a:prstDash val="solid"/>
          </a:ln>
        </p:spPr>
      </p:sp>
      <p:sp>
        <p:nvSpPr>
          <p:cNvPr id="13" name="Shape 10"/>
          <p:cNvSpPr/>
          <p:nvPr/>
        </p:nvSpPr>
        <p:spPr>
          <a:xfrm>
            <a:off x="2697480" y="1929384"/>
            <a:ext cx="5257800" cy="384048"/>
          </a:xfrm>
          <a:prstGeom prst="rect">
            <a:avLst>
              <a:gd name="adj" fmla="val 14286"/>
            </a:avLst>
          </a:prstGeom>
          <a:solidFill>
            <a:srgbClr val="08253D"/>
          </a:solidFill>
          <a:ln w="10160">
            <a:solidFill>
              <a:srgbClr val="08253D"/>
            </a:solidFill>
            <a:prstDash val="solid"/>
          </a:ln>
        </p:spPr>
      </p:sp>
      <p:sp>
        <p:nvSpPr>
          <p:cNvPr id="14" name="Text 11"/>
          <p:cNvSpPr/>
          <p:nvPr/>
        </p:nvSpPr>
        <p:spPr>
          <a:xfrm>
            <a:off x="2852928" y="2029968"/>
            <a:ext cx="4901184" cy="210312"/>
          </a:xfrm>
          <a:prstGeom prst="rect">
            <a:avLst/>
          </a:prstGeom>
          <a:noFill/>
          <a:ln/>
        </p:spPr>
        <p:txBody>
          <a:bodyPr wrap="square" lIns="0" tIns="0" rIns="0" bIns="0" rtlCol="0" anchor="t"/>
          <a:lstStyle/>
          <a:p>
            <a:pPr indent="0" marL="0">
              <a:buNone/>
            </a:pPr>
            <a:r>
              <a:rPr lang="en-US" sz="1180" b="1" dirty="0">
                <a:solidFill>
                  <a:srgbClr val="FFFFFF"/>
                </a:solidFill>
                <a:latin typeface="Arial" pitchFamily="34" charset="0"/>
                <a:ea typeface="Arial" pitchFamily="34" charset="-122"/>
                <a:cs typeface="Arial" pitchFamily="34" charset="-120"/>
              </a:rPr>
              <a:t>MERIDIAN NEXUS  |  AWS, GEO REP-OPERATED</a:t>
            </a:r>
            <a:endParaRPr lang="en-US" sz="1180" dirty="0"/>
          </a:p>
        </p:txBody>
      </p:sp>
      <p:sp>
        <p:nvSpPr>
          <p:cNvPr id="15" name="Shape 12"/>
          <p:cNvSpPr/>
          <p:nvPr/>
        </p:nvSpPr>
        <p:spPr>
          <a:xfrm>
            <a:off x="457200" y="2157984"/>
            <a:ext cx="1856232" cy="1005840"/>
          </a:xfrm>
          <a:prstGeom prst="rect">
            <a:avLst>
              <a:gd name="adj" fmla="val 5455"/>
            </a:avLst>
          </a:prstGeom>
          <a:solidFill>
            <a:srgbClr val="FFF3E9"/>
          </a:solidFill>
          <a:ln w="10160">
            <a:solidFill>
              <a:srgbClr val="F8C6A1"/>
            </a:solidFill>
            <a:prstDash val="solid"/>
          </a:ln>
        </p:spPr>
      </p:sp>
      <p:sp>
        <p:nvSpPr>
          <p:cNvPr id="16" name="Text 13"/>
          <p:cNvSpPr/>
          <p:nvPr/>
        </p:nvSpPr>
        <p:spPr>
          <a:xfrm>
            <a:off x="594360" y="2286000"/>
            <a:ext cx="1581912" cy="219456"/>
          </a:xfrm>
          <a:prstGeom prst="rect">
            <a:avLst/>
          </a:prstGeom>
          <a:noFill/>
          <a:ln/>
        </p:spPr>
        <p:txBody>
          <a:bodyPr wrap="square" lIns="0" tIns="0" rIns="0" bIns="0" rtlCol="0" anchor="t"/>
          <a:lstStyle/>
          <a:p>
            <a:pPr indent="0" marL="0">
              <a:buNone/>
            </a:pPr>
            <a:r>
              <a:rPr lang="en-US" sz="1170" b="1" dirty="0">
                <a:solidFill>
                  <a:srgbClr val="F37017"/>
                </a:solidFill>
                <a:latin typeface="Arial" pitchFamily="34" charset="0"/>
                <a:ea typeface="Arial" pitchFamily="34" charset="-122"/>
                <a:cs typeface="Arial" pitchFamily="34" charset="-120"/>
              </a:rPr>
              <a:t>FIELD AGENTS</a:t>
            </a:r>
            <a:endParaRPr lang="en-US" sz="1170" dirty="0"/>
          </a:p>
        </p:txBody>
      </p:sp>
      <p:sp>
        <p:nvSpPr>
          <p:cNvPr id="17" name="Text 14"/>
          <p:cNvSpPr/>
          <p:nvPr/>
        </p:nvSpPr>
        <p:spPr>
          <a:xfrm>
            <a:off x="594360" y="2606040"/>
            <a:ext cx="1581912" cy="420624"/>
          </a:xfrm>
          <a:prstGeom prst="rect">
            <a:avLst/>
          </a:prstGeom>
          <a:noFill/>
          <a:ln/>
        </p:spPr>
        <p:txBody>
          <a:bodyPr wrap="square" lIns="0" tIns="0" rIns="0" bIns="0" rtlCol="0" anchor="t"/>
          <a:lstStyle/>
          <a:p>
            <a:pPr indent="0" marL="0">
              <a:buNone/>
            </a:pPr>
            <a:r>
              <a:rPr lang="en-US" sz="1160" dirty="0">
                <a:solidFill>
                  <a:srgbClr val="183544"/>
                </a:solidFill>
                <a:latin typeface="Arial" pitchFamily="34" charset="0"/>
                <a:ea typeface="Arial" pitchFamily="34" charset="-122"/>
                <a:cs typeface="Arial" pitchFamily="34" charset="-120"/>
              </a:rPr>
              <a:t>Geo Rep mobile + API</a:t>
            </a:r>
            <a:endParaRPr lang="en-US" sz="1160" dirty="0"/>
          </a:p>
          <a:p>
            <a:pPr indent="0" marL="0">
              <a:buNone/>
            </a:pPr>
            <a:r>
              <a:rPr lang="en-US" sz="1160" dirty="0">
                <a:solidFill>
                  <a:srgbClr val="183544"/>
                </a:solidFill>
                <a:latin typeface="Arial" pitchFamily="34" charset="0"/>
                <a:ea typeface="Arial" pitchFamily="34" charset="-122"/>
                <a:cs typeface="Arial" pitchFamily="34" charset="-120"/>
              </a:rPr>
              <a:t>Nexus Field proposed</a:t>
            </a:r>
            <a:endParaRPr lang="en-US" sz="1160" dirty="0"/>
          </a:p>
        </p:txBody>
      </p:sp>
      <p:sp>
        <p:nvSpPr>
          <p:cNvPr id="18" name="Shape 15"/>
          <p:cNvSpPr/>
          <p:nvPr/>
        </p:nvSpPr>
        <p:spPr>
          <a:xfrm>
            <a:off x="2322576" y="2660904"/>
            <a:ext cx="338328" cy="0"/>
          </a:xfrm>
          <a:prstGeom prst="line">
            <a:avLst/>
          </a:prstGeom>
          <a:noFill/>
          <a:ln w="19050">
            <a:solidFill>
              <a:srgbClr val="F37017"/>
            </a:solidFill>
            <a:prstDash val="solid"/>
            <a:tailEnd type="triangle"/>
          </a:ln>
        </p:spPr>
      </p:sp>
      <p:sp>
        <p:nvSpPr>
          <p:cNvPr id="19" name="Shape 16"/>
          <p:cNvSpPr/>
          <p:nvPr/>
        </p:nvSpPr>
        <p:spPr>
          <a:xfrm>
            <a:off x="457200" y="3465576"/>
            <a:ext cx="1856232" cy="1005840"/>
          </a:xfrm>
          <a:prstGeom prst="rect">
            <a:avLst>
              <a:gd name="adj" fmla="val 5455"/>
            </a:avLst>
          </a:prstGeom>
          <a:solidFill>
            <a:srgbClr val="EAF5F3"/>
          </a:solidFill>
          <a:ln w="10160">
            <a:solidFill>
              <a:srgbClr val="A7D2CD"/>
            </a:solidFill>
            <a:prstDash val="solid"/>
          </a:ln>
        </p:spPr>
      </p:sp>
      <p:sp>
        <p:nvSpPr>
          <p:cNvPr id="20" name="Text 17"/>
          <p:cNvSpPr/>
          <p:nvPr/>
        </p:nvSpPr>
        <p:spPr>
          <a:xfrm>
            <a:off x="594360" y="3602736"/>
            <a:ext cx="1581912" cy="219456"/>
          </a:xfrm>
          <a:prstGeom prst="rect">
            <a:avLst/>
          </a:prstGeom>
          <a:noFill/>
          <a:ln/>
        </p:spPr>
        <p:txBody>
          <a:bodyPr wrap="square" lIns="0" tIns="0" rIns="0" bIns="0" rtlCol="0" anchor="t"/>
          <a:lstStyle/>
          <a:p>
            <a:pPr indent="0" marL="0">
              <a:buNone/>
            </a:pPr>
            <a:r>
              <a:rPr lang="en-US" sz="1170" b="1" dirty="0">
                <a:solidFill>
                  <a:srgbClr val="008782"/>
                </a:solidFill>
                <a:latin typeface="Arial" pitchFamily="34" charset="0"/>
                <a:ea typeface="Arial" pitchFamily="34" charset="-122"/>
                <a:cs typeface="Arial" pitchFamily="34" charset="-120"/>
              </a:rPr>
              <a:t>OFFICE + CLIENTS</a:t>
            </a:r>
            <a:endParaRPr lang="en-US" sz="1170" dirty="0"/>
          </a:p>
        </p:txBody>
      </p:sp>
      <p:sp>
        <p:nvSpPr>
          <p:cNvPr id="21" name="Text 18"/>
          <p:cNvSpPr/>
          <p:nvPr/>
        </p:nvSpPr>
        <p:spPr>
          <a:xfrm>
            <a:off x="594360" y="3904488"/>
            <a:ext cx="1581912" cy="438912"/>
          </a:xfrm>
          <a:prstGeom prst="rect">
            <a:avLst/>
          </a:prstGeom>
          <a:noFill/>
          <a:ln/>
        </p:spPr>
        <p:txBody>
          <a:bodyPr wrap="square" lIns="0" tIns="0" rIns="0" bIns="0" rtlCol="0" anchor="t"/>
          <a:lstStyle/>
          <a:p>
            <a:pPr indent="0" marL="0">
              <a:buNone/>
            </a:pPr>
            <a:r>
              <a:rPr lang="en-US" sz="1110" dirty="0">
                <a:solidFill>
                  <a:srgbClr val="183544"/>
                </a:solidFill>
                <a:latin typeface="Arial" pitchFamily="34" charset="0"/>
                <a:ea typeface="Arial" pitchFamily="34" charset="-122"/>
                <a:cs typeface="Arial" pitchFamily="34" charset="-120"/>
              </a:rPr>
              <a:t>Nexus web dashboards</a:t>
            </a:r>
            <a:endParaRPr lang="en-US" sz="1110" dirty="0"/>
          </a:p>
          <a:p>
            <a:pPr indent="0" marL="0">
              <a:buNone/>
            </a:pPr>
            <a:r>
              <a:rPr lang="en-US" sz="1110" dirty="0">
                <a:solidFill>
                  <a:srgbClr val="183544"/>
                </a:solidFill>
                <a:latin typeface="Arial" pitchFamily="34" charset="0"/>
                <a:ea typeface="Arial" pitchFamily="34" charset="-122"/>
                <a:cs typeface="Arial" pitchFamily="34" charset="-120"/>
              </a:rPr>
              <a:t>Existing sidebar retained</a:t>
            </a:r>
            <a:endParaRPr lang="en-US" sz="1110" dirty="0"/>
          </a:p>
        </p:txBody>
      </p:sp>
      <p:sp>
        <p:nvSpPr>
          <p:cNvPr id="22" name="Shape 19"/>
          <p:cNvSpPr/>
          <p:nvPr/>
        </p:nvSpPr>
        <p:spPr>
          <a:xfrm>
            <a:off x="2322576" y="3950208"/>
            <a:ext cx="338328" cy="0"/>
          </a:xfrm>
          <a:prstGeom prst="line">
            <a:avLst/>
          </a:prstGeom>
          <a:noFill/>
          <a:ln w="19050">
            <a:solidFill>
              <a:srgbClr val="008782"/>
            </a:solidFill>
            <a:prstDash val="solid"/>
            <a:tailEnd type="triangle"/>
          </a:ln>
        </p:spPr>
      </p:sp>
      <p:sp>
        <p:nvSpPr>
          <p:cNvPr id="23" name="Shape 20"/>
          <p:cNvSpPr/>
          <p:nvPr/>
        </p:nvSpPr>
        <p:spPr>
          <a:xfrm>
            <a:off x="2880360" y="2542032"/>
            <a:ext cx="2267712" cy="576072"/>
          </a:xfrm>
          <a:prstGeom prst="rect">
            <a:avLst>
              <a:gd name="adj" fmla="val 9524"/>
            </a:avLst>
          </a:prstGeom>
          <a:solidFill>
            <a:srgbClr val="FFFFFF"/>
          </a:solidFill>
          <a:ln w="10160">
            <a:solidFill>
              <a:srgbClr val="D4E0E5"/>
            </a:solidFill>
            <a:prstDash val="solid"/>
          </a:ln>
        </p:spPr>
      </p:sp>
      <p:sp>
        <p:nvSpPr>
          <p:cNvPr id="24" name="Text 21"/>
          <p:cNvSpPr/>
          <p:nvPr/>
        </p:nvSpPr>
        <p:spPr>
          <a:xfrm>
            <a:off x="3026664" y="2724912"/>
            <a:ext cx="1975104" cy="201168"/>
          </a:xfrm>
          <a:prstGeom prst="rect">
            <a:avLst/>
          </a:prstGeom>
          <a:noFill/>
          <a:ln/>
        </p:spPr>
        <p:txBody>
          <a:bodyPr wrap="square" lIns="0" tIns="0" rIns="0" bIns="0" rtlCol="0" anchor="t"/>
          <a:lstStyle/>
          <a:p>
            <a:pPr indent="0" marL="0">
              <a:buNone/>
            </a:pPr>
            <a:r>
              <a:rPr lang="en-US" sz="1220" b="1" dirty="0">
                <a:solidFill>
                  <a:srgbClr val="183544"/>
                </a:solidFill>
                <a:latin typeface="Arial" pitchFamily="34" charset="0"/>
                <a:ea typeface="Arial" pitchFamily="34" charset="-122"/>
                <a:cs typeface="Arial" pitchFamily="34" charset="-120"/>
              </a:rPr>
              <a:t>Secure APIs + sign-in</a:t>
            </a:r>
            <a:endParaRPr lang="en-US" sz="1220" dirty="0"/>
          </a:p>
        </p:txBody>
      </p:sp>
      <p:sp>
        <p:nvSpPr>
          <p:cNvPr id="25" name="Shape 22"/>
          <p:cNvSpPr/>
          <p:nvPr/>
        </p:nvSpPr>
        <p:spPr>
          <a:xfrm>
            <a:off x="5394960" y="2542032"/>
            <a:ext cx="2359152" cy="576072"/>
          </a:xfrm>
          <a:prstGeom prst="rect">
            <a:avLst>
              <a:gd name="adj" fmla="val 9524"/>
            </a:avLst>
          </a:prstGeom>
          <a:solidFill>
            <a:srgbClr val="FFFFFF"/>
          </a:solidFill>
          <a:ln w="10160">
            <a:solidFill>
              <a:srgbClr val="D4E0E5"/>
            </a:solidFill>
            <a:prstDash val="solid"/>
          </a:ln>
        </p:spPr>
      </p:sp>
      <p:sp>
        <p:nvSpPr>
          <p:cNvPr id="26" name="Text 23"/>
          <p:cNvSpPr/>
          <p:nvPr/>
        </p:nvSpPr>
        <p:spPr>
          <a:xfrm>
            <a:off x="5522976" y="2724912"/>
            <a:ext cx="2112264" cy="201168"/>
          </a:xfrm>
          <a:prstGeom prst="rect">
            <a:avLst/>
          </a:prstGeom>
          <a:noFill/>
          <a:ln/>
        </p:spPr>
        <p:txBody>
          <a:bodyPr wrap="square" lIns="0" tIns="0" rIns="0" bIns="0" rtlCol="0" anchor="t"/>
          <a:lstStyle/>
          <a:p>
            <a:pPr indent="0" marL="0">
              <a:buNone/>
            </a:pPr>
            <a:r>
              <a:rPr lang="en-US" sz="1100" b="1" dirty="0">
                <a:solidFill>
                  <a:srgbClr val="183544"/>
                </a:solidFill>
                <a:latin typeface="Arial" pitchFamily="34" charset="0"/>
                <a:ea typeface="Arial" pitchFamily="34" charset="-122"/>
                <a:cs typeface="Arial" pitchFamily="34" charset="-120"/>
              </a:rPr>
              <a:t>Workflows + background jobs</a:t>
            </a:r>
            <a:endParaRPr lang="en-US" sz="1100" dirty="0"/>
          </a:p>
        </p:txBody>
      </p:sp>
      <p:sp>
        <p:nvSpPr>
          <p:cNvPr id="27" name="Shape 24"/>
          <p:cNvSpPr/>
          <p:nvPr/>
        </p:nvSpPr>
        <p:spPr>
          <a:xfrm>
            <a:off x="5166360" y="2825496"/>
            <a:ext cx="201168" cy="0"/>
          </a:xfrm>
          <a:prstGeom prst="line">
            <a:avLst/>
          </a:prstGeom>
          <a:noFill/>
          <a:ln w="19050">
            <a:solidFill>
              <a:srgbClr val="226B92"/>
            </a:solidFill>
            <a:prstDash val="solid"/>
            <a:tailEnd type="triangle"/>
          </a:ln>
        </p:spPr>
      </p:sp>
      <p:sp>
        <p:nvSpPr>
          <p:cNvPr id="28" name="Shape 25"/>
          <p:cNvSpPr/>
          <p:nvPr/>
        </p:nvSpPr>
        <p:spPr>
          <a:xfrm>
            <a:off x="6574536" y="3127248"/>
            <a:ext cx="0" cy="137160"/>
          </a:xfrm>
          <a:prstGeom prst="line">
            <a:avLst/>
          </a:prstGeom>
          <a:noFill/>
          <a:ln w="19050">
            <a:solidFill>
              <a:srgbClr val="226B92"/>
            </a:solidFill>
            <a:prstDash val="solid"/>
          </a:ln>
        </p:spPr>
      </p:sp>
      <p:sp>
        <p:nvSpPr>
          <p:cNvPr id="29" name="Shape 26"/>
          <p:cNvSpPr/>
          <p:nvPr/>
        </p:nvSpPr>
        <p:spPr>
          <a:xfrm>
            <a:off x="3639312" y="3264408"/>
            <a:ext cx="3355848" cy="0"/>
          </a:xfrm>
          <a:prstGeom prst="line">
            <a:avLst/>
          </a:prstGeom>
          <a:noFill/>
          <a:ln w="19050">
            <a:solidFill>
              <a:srgbClr val="226B92"/>
            </a:solidFill>
            <a:prstDash val="solid"/>
          </a:ln>
        </p:spPr>
      </p:sp>
      <p:sp>
        <p:nvSpPr>
          <p:cNvPr id="30" name="Shape 27"/>
          <p:cNvSpPr/>
          <p:nvPr/>
        </p:nvSpPr>
        <p:spPr>
          <a:xfrm>
            <a:off x="3639312" y="3264408"/>
            <a:ext cx="0" cy="137160"/>
          </a:xfrm>
          <a:prstGeom prst="line">
            <a:avLst/>
          </a:prstGeom>
          <a:noFill/>
          <a:ln w="19050">
            <a:solidFill>
              <a:srgbClr val="226B92"/>
            </a:solidFill>
            <a:prstDash val="solid"/>
            <a:tailEnd type="triangle"/>
          </a:ln>
        </p:spPr>
      </p:sp>
      <p:sp>
        <p:nvSpPr>
          <p:cNvPr id="31" name="Shape 28"/>
          <p:cNvSpPr/>
          <p:nvPr/>
        </p:nvSpPr>
        <p:spPr>
          <a:xfrm>
            <a:off x="5321808" y="3264408"/>
            <a:ext cx="0" cy="137160"/>
          </a:xfrm>
          <a:prstGeom prst="line">
            <a:avLst/>
          </a:prstGeom>
          <a:noFill/>
          <a:ln w="19050">
            <a:solidFill>
              <a:srgbClr val="226B92"/>
            </a:solidFill>
            <a:prstDash val="solid"/>
            <a:tailEnd type="triangle"/>
          </a:ln>
        </p:spPr>
      </p:sp>
      <p:sp>
        <p:nvSpPr>
          <p:cNvPr id="32" name="Shape 29"/>
          <p:cNvSpPr/>
          <p:nvPr/>
        </p:nvSpPr>
        <p:spPr>
          <a:xfrm>
            <a:off x="6995160" y="3264408"/>
            <a:ext cx="0" cy="137160"/>
          </a:xfrm>
          <a:prstGeom prst="line">
            <a:avLst/>
          </a:prstGeom>
          <a:noFill/>
          <a:ln w="19050">
            <a:solidFill>
              <a:srgbClr val="226B92"/>
            </a:solidFill>
            <a:prstDash val="solid"/>
            <a:tailEnd type="triangle"/>
          </a:ln>
        </p:spPr>
      </p:sp>
      <p:sp>
        <p:nvSpPr>
          <p:cNvPr id="33" name="Shape 30"/>
          <p:cNvSpPr/>
          <p:nvPr/>
        </p:nvSpPr>
        <p:spPr>
          <a:xfrm>
            <a:off x="2880360" y="3429000"/>
            <a:ext cx="1508760" cy="640080"/>
          </a:xfrm>
          <a:prstGeom prst="rect">
            <a:avLst>
              <a:gd name="adj" fmla="val 8571"/>
            </a:avLst>
          </a:prstGeom>
          <a:solidFill>
            <a:srgbClr val="FFFFFF"/>
          </a:solidFill>
          <a:ln w="10160">
            <a:solidFill>
              <a:srgbClr val="D4E0E5"/>
            </a:solidFill>
            <a:prstDash val="solid"/>
          </a:ln>
        </p:spPr>
      </p:sp>
      <p:sp>
        <p:nvSpPr>
          <p:cNvPr id="34" name="Text 31"/>
          <p:cNvSpPr/>
          <p:nvPr/>
        </p:nvSpPr>
        <p:spPr>
          <a:xfrm>
            <a:off x="2962656" y="3557016"/>
            <a:ext cx="1353312" cy="210312"/>
          </a:xfrm>
          <a:prstGeom prst="rect">
            <a:avLst/>
          </a:prstGeom>
          <a:noFill/>
          <a:ln/>
        </p:spPr>
        <p:txBody>
          <a:bodyPr wrap="square" lIns="0" tIns="0" rIns="0" bIns="0" rtlCol="0" anchor="t"/>
          <a:lstStyle/>
          <a:p>
            <a:pPr indent="0" marL="0">
              <a:buNone/>
            </a:pPr>
            <a:r>
              <a:rPr lang="en-US" sz="1140" b="1" dirty="0">
                <a:solidFill>
                  <a:srgbClr val="226B92"/>
                </a:solidFill>
                <a:latin typeface="Arial" pitchFamily="34" charset="0"/>
                <a:ea typeface="Arial" pitchFamily="34" charset="-122"/>
                <a:cs typeface="Arial" pitchFamily="34" charset="-120"/>
              </a:rPr>
              <a:t>Orders + tasks</a:t>
            </a:r>
            <a:endParaRPr lang="en-US" sz="1140" dirty="0"/>
          </a:p>
        </p:txBody>
      </p:sp>
      <p:sp>
        <p:nvSpPr>
          <p:cNvPr id="35" name="Text 32"/>
          <p:cNvSpPr/>
          <p:nvPr/>
        </p:nvSpPr>
        <p:spPr>
          <a:xfrm>
            <a:off x="2962656" y="3822192"/>
            <a:ext cx="1353312" cy="173736"/>
          </a:xfrm>
          <a:prstGeom prst="rect">
            <a:avLst/>
          </a:prstGeom>
          <a:noFill/>
          <a:ln/>
        </p:spPr>
        <p:txBody>
          <a:bodyPr wrap="square" lIns="0" tIns="0" rIns="0" bIns="0" rtlCol="0" anchor="t"/>
          <a:lstStyle/>
          <a:p>
            <a:pPr indent="0" marL="0">
              <a:buNone/>
            </a:pPr>
            <a:r>
              <a:rPr lang="en-US" sz="920" dirty="0">
                <a:solidFill>
                  <a:srgbClr val="5B6E7B"/>
                </a:solidFill>
                <a:latin typeface="Arial" pitchFamily="34" charset="0"/>
                <a:ea typeface="Arial" pitchFamily="34" charset="-122"/>
                <a:cs typeface="Arial" pitchFamily="34" charset="-120"/>
              </a:rPr>
              <a:t>Operational database</a:t>
            </a:r>
            <a:endParaRPr lang="en-US" sz="920" dirty="0"/>
          </a:p>
        </p:txBody>
      </p:sp>
      <p:sp>
        <p:nvSpPr>
          <p:cNvPr id="36" name="Shape 33"/>
          <p:cNvSpPr/>
          <p:nvPr/>
        </p:nvSpPr>
        <p:spPr>
          <a:xfrm>
            <a:off x="4562856" y="3429000"/>
            <a:ext cx="1508760" cy="640080"/>
          </a:xfrm>
          <a:prstGeom prst="rect">
            <a:avLst>
              <a:gd name="adj" fmla="val 8571"/>
            </a:avLst>
          </a:prstGeom>
          <a:solidFill>
            <a:srgbClr val="FFFFFF"/>
          </a:solidFill>
          <a:ln w="10160">
            <a:solidFill>
              <a:srgbClr val="D4E0E5"/>
            </a:solidFill>
            <a:prstDash val="solid"/>
          </a:ln>
        </p:spPr>
      </p:sp>
      <p:sp>
        <p:nvSpPr>
          <p:cNvPr id="37" name="Text 34"/>
          <p:cNvSpPr/>
          <p:nvPr/>
        </p:nvSpPr>
        <p:spPr>
          <a:xfrm>
            <a:off x="4645152" y="3557016"/>
            <a:ext cx="1353312" cy="210312"/>
          </a:xfrm>
          <a:prstGeom prst="rect">
            <a:avLst/>
          </a:prstGeom>
          <a:noFill/>
          <a:ln/>
        </p:spPr>
        <p:txBody>
          <a:bodyPr wrap="square" lIns="0" tIns="0" rIns="0" bIns="0" rtlCol="0" anchor="t"/>
          <a:lstStyle/>
          <a:p>
            <a:pPr indent="0" marL="0">
              <a:buNone/>
            </a:pPr>
            <a:r>
              <a:rPr lang="en-US" sz="1140" b="1" dirty="0">
                <a:solidFill>
                  <a:srgbClr val="F37017"/>
                </a:solidFill>
                <a:latin typeface="Arial" pitchFamily="34" charset="0"/>
                <a:ea typeface="Arial" pitchFamily="34" charset="-122"/>
                <a:cs typeface="Arial" pitchFamily="34" charset="-120"/>
              </a:rPr>
              <a:t>Photos + files</a:t>
            </a:r>
            <a:endParaRPr lang="en-US" sz="1140" dirty="0"/>
          </a:p>
        </p:txBody>
      </p:sp>
      <p:sp>
        <p:nvSpPr>
          <p:cNvPr id="38" name="Text 35"/>
          <p:cNvSpPr/>
          <p:nvPr/>
        </p:nvSpPr>
        <p:spPr>
          <a:xfrm>
            <a:off x="4645152" y="3822192"/>
            <a:ext cx="1353312" cy="173736"/>
          </a:xfrm>
          <a:prstGeom prst="rect">
            <a:avLst/>
          </a:prstGeom>
          <a:noFill/>
          <a:ln/>
        </p:spPr>
        <p:txBody>
          <a:bodyPr wrap="square" lIns="0" tIns="0" rIns="0" bIns="0" rtlCol="0" anchor="t"/>
          <a:lstStyle/>
          <a:p>
            <a:pPr indent="0" marL="0">
              <a:buNone/>
            </a:pPr>
            <a:r>
              <a:rPr lang="en-US" sz="920" dirty="0">
                <a:solidFill>
                  <a:srgbClr val="5B6E7B"/>
                </a:solidFill>
                <a:latin typeface="Arial" pitchFamily="34" charset="0"/>
                <a:ea typeface="Arial" pitchFamily="34" charset="-122"/>
                <a:cs typeface="Arial" pitchFamily="34" charset="-120"/>
              </a:rPr>
              <a:t>Amazon S3</a:t>
            </a:r>
            <a:endParaRPr lang="en-US" sz="920" dirty="0"/>
          </a:p>
        </p:txBody>
      </p:sp>
      <p:sp>
        <p:nvSpPr>
          <p:cNvPr id="39" name="Shape 36"/>
          <p:cNvSpPr/>
          <p:nvPr/>
        </p:nvSpPr>
        <p:spPr>
          <a:xfrm>
            <a:off x="6245352" y="3429000"/>
            <a:ext cx="1508760" cy="640080"/>
          </a:xfrm>
          <a:prstGeom prst="rect">
            <a:avLst>
              <a:gd name="adj" fmla="val 8571"/>
            </a:avLst>
          </a:prstGeom>
          <a:solidFill>
            <a:srgbClr val="FFFFFF"/>
          </a:solidFill>
          <a:ln w="10160">
            <a:solidFill>
              <a:srgbClr val="D4E0E5"/>
            </a:solidFill>
            <a:prstDash val="solid"/>
          </a:ln>
        </p:spPr>
      </p:sp>
      <p:sp>
        <p:nvSpPr>
          <p:cNvPr id="40" name="Text 37"/>
          <p:cNvSpPr/>
          <p:nvPr/>
        </p:nvSpPr>
        <p:spPr>
          <a:xfrm>
            <a:off x="6327648" y="3557016"/>
            <a:ext cx="1353312" cy="210312"/>
          </a:xfrm>
          <a:prstGeom prst="rect">
            <a:avLst/>
          </a:prstGeom>
          <a:noFill/>
          <a:ln/>
        </p:spPr>
        <p:txBody>
          <a:bodyPr wrap="square" lIns="0" tIns="0" rIns="0" bIns="0" rtlCol="0" anchor="t"/>
          <a:lstStyle/>
          <a:p>
            <a:pPr indent="0" marL="0">
              <a:buNone/>
            </a:pPr>
            <a:r>
              <a:rPr lang="en-US" sz="1140" b="1" dirty="0">
                <a:solidFill>
                  <a:srgbClr val="008782"/>
                </a:solidFill>
                <a:latin typeface="Arial" pitchFamily="34" charset="0"/>
                <a:ea typeface="Arial" pitchFamily="34" charset="-122"/>
                <a:cs typeface="Arial" pitchFamily="34" charset="-120"/>
              </a:rPr>
              <a:t>Sales + inventory</a:t>
            </a:r>
            <a:endParaRPr lang="en-US" sz="1140" dirty="0"/>
          </a:p>
        </p:txBody>
      </p:sp>
      <p:sp>
        <p:nvSpPr>
          <p:cNvPr id="41" name="Text 38"/>
          <p:cNvSpPr/>
          <p:nvPr/>
        </p:nvSpPr>
        <p:spPr>
          <a:xfrm>
            <a:off x="6327648" y="3822192"/>
            <a:ext cx="1353312" cy="173736"/>
          </a:xfrm>
          <a:prstGeom prst="rect">
            <a:avLst/>
          </a:prstGeom>
          <a:noFill/>
          <a:ln/>
        </p:spPr>
        <p:txBody>
          <a:bodyPr wrap="square" lIns="0" tIns="0" rIns="0" bIns="0" rtlCol="0" anchor="t"/>
          <a:lstStyle/>
          <a:p>
            <a:pPr indent="0" marL="0">
              <a:buNone/>
            </a:pPr>
            <a:r>
              <a:rPr lang="en-US" sz="920" dirty="0">
                <a:solidFill>
                  <a:srgbClr val="5B6E7B"/>
                </a:solidFill>
                <a:latin typeface="Arial" pitchFamily="34" charset="0"/>
                <a:ea typeface="Arial" pitchFamily="34" charset="-122"/>
                <a:cs typeface="Arial" pitchFamily="34" charset="-120"/>
              </a:rPr>
              <a:t>Analytics data layer</a:t>
            </a:r>
            <a:endParaRPr lang="en-US" sz="920" dirty="0"/>
          </a:p>
        </p:txBody>
      </p:sp>
      <p:sp>
        <p:nvSpPr>
          <p:cNvPr id="42" name="Text 39"/>
          <p:cNvSpPr/>
          <p:nvPr/>
        </p:nvSpPr>
        <p:spPr>
          <a:xfrm>
            <a:off x="2880360" y="4279392"/>
            <a:ext cx="4892040" cy="173736"/>
          </a:xfrm>
          <a:prstGeom prst="rect">
            <a:avLst/>
          </a:prstGeom>
          <a:noFill/>
          <a:ln/>
        </p:spPr>
        <p:txBody>
          <a:bodyPr wrap="square" lIns="0" tIns="0" rIns="0" bIns="0" rtlCol="0" anchor="t"/>
          <a:lstStyle/>
          <a:p>
            <a:pPr indent="0" marL="0">
              <a:buNone/>
            </a:pPr>
            <a:r>
              <a:rPr lang="en-US" sz="980" dirty="0">
                <a:solidFill>
                  <a:srgbClr val="5B6E7B"/>
                </a:solidFill>
                <a:latin typeface="Arial" pitchFamily="34" charset="0"/>
                <a:ea typeface="Arial" pitchFamily="34" charset="-122"/>
                <a:cs typeface="Arial" pitchFamily="34" charset="-120"/>
              </a:rPr>
              <a:t>Client isolation  |  Monitoring  |  Backups  |  Protected credentials</a:t>
            </a:r>
            <a:endParaRPr lang="en-US" sz="980" dirty="0"/>
          </a:p>
        </p:txBody>
      </p:sp>
      <p:sp>
        <p:nvSpPr>
          <p:cNvPr id="43" name="Text 40"/>
          <p:cNvSpPr/>
          <p:nvPr/>
        </p:nvSpPr>
        <p:spPr>
          <a:xfrm>
            <a:off x="8266176" y="1956816"/>
            <a:ext cx="3410712" cy="301752"/>
          </a:xfrm>
          <a:prstGeom prst="rect">
            <a:avLst/>
          </a:prstGeom>
          <a:noFill/>
          <a:ln/>
        </p:spPr>
        <p:txBody>
          <a:bodyPr wrap="square" lIns="0" tIns="0" rIns="0" bIns="0" rtlCol="0" anchor="t"/>
          <a:lstStyle/>
          <a:p>
            <a:pPr indent="0" marL="0">
              <a:buNone/>
            </a:pPr>
            <a:r>
              <a:rPr lang="en-US" sz="1800" b="1" dirty="0">
                <a:solidFill>
                  <a:srgbClr val="183544"/>
                </a:solidFill>
                <a:latin typeface="Arial" pitchFamily="34" charset="0"/>
                <a:ea typeface="Arial" pitchFamily="34" charset="-122"/>
                <a:cs typeface="Arial" pitchFamily="34" charset="-120"/>
              </a:rPr>
              <a:t>What field teams need</a:t>
            </a:r>
            <a:endParaRPr lang="en-US" sz="1800" dirty="0"/>
          </a:p>
        </p:txBody>
      </p:sp>
      <p:sp>
        <p:nvSpPr>
          <p:cNvPr id="44" name="Text 41"/>
          <p:cNvSpPr/>
          <p:nvPr/>
        </p:nvSpPr>
        <p:spPr>
          <a:xfrm>
            <a:off x="8275320" y="2441448"/>
            <a:ext cx="3410712" cy="219456"/>
          </a:xfrm>
          <a:prstGeom prst="rect">
            <a:avLst/>
          </a:prstGeom>
          <a:noFill/>
          <a:ln/>
        </p:spPr>
        <p:txBody>
          <a:bodyPr wrap="square" lIns="0" tIns="0" rIns="0" bIns="0" rtlCol="0" anchor="t"/>
          <a:lstStyle/>
          <a:p>
            <a:pPr indent="0" marL="0">
              <a:buNone/>
            </a:pPr>
            <a:r>
              <a:rPr lang="en-US" sz="1170" b="1" dirty="0">
                <a:solidFill>
                  <a:srgbClr val="F37017"/>
                </a:solidFill>
                <a:latin typeface="Arial" pitchFamily="34" charset="0"/>
                <a:ea typeface="Arial" pitchFamily="34" charset="-122"/>
                <a:cs typeface="Arial" pitchFamily="34" charset="-120"/>
              </a:rPr>
              <a:t>SALES REPS</a:t>
            </a:r>
            <a:endParaRPr lang="en-US" sz="1170" dirty="0"/>
          </a:p>
        </p:txBody>
      </p:sp>
      <p:sp>
        <p:nvSpPr>
          <p:cNvPr id="45" name="Text 42"/>
          <p:cNvSpPr/>
          <p:nvPr/>
        </p:nvSpPr>
        <p:spPr>
          <a:xfrm>
            <a:off x="8275320" y="2761488"/>
            <a:ext cx="3410712" cy="667512"/>
          </a:xfrm>
          <a:prstGeom prst="rect">
            <a:avLst/>
          </a:prstGeom>
          <a:noFill/>
          <a:ln/>
        </p:spPr>
        <p:txBody>
          <a:bodyPr wrap="square" lIns="0" tIns="0" rIns="0" bIns="0" rtlCol="0" anchor="t"/>
          <a:lstStyle/>
          <a:p>
            <a:pPr indent="0" marL="0">
              <a:buNone/>
            </a:pPr>
            <a:r>
              <a:rPr lang="en-US" sz="1320" dirty="0">
                <a:solidFill>
                  <a:srgbClr val="183544"/>
                </a:solidFill>
                <a:latin typeface="Arial" pitchFamily="34" charset="0"/>
                <a:ea typeface="Arial" pitchFamily="34" charset="-122"/>
                <a:cs typeface="Arial" pitchFamily="34" charset="-120"/>
              </a:rPr>
              <a:t>Call cycle and store context;</a:t>
            </a:r>
            <a:endParaRPr lang="en-US" sz="1320" dirty="0"/>
          </a:p>
          <a:p>
            <a:pPr indent="0" marL="0">
              <a:buNone/>
            </a:pPr>
            <a:r>
              <a:rPr lang="en-US" sz="1320" dirty="0">
                <a:solidFill>
                  <a:srgbClr val="183544"/>
                </a:solidFill>
                <a:latin typeface="Arial" pitchFamily="34" charset="0"/>
                <a:ea typeface="Arial" pitchFamily="34" charset="-122"/>
                <a:cs typeface="Arial" pitchFamily="34" charset="-120"/>
              </a:rPr>
              <a:t>quotes, orders and returns;</a:t>
            </a:r>
            <a:endParaRPr lang="en-US" sz="1320" dirty="0"/>
          </a:p>
          <a:p>
            <a:pPr indent="0" marL="0">
              <a:buNone/>
            </a:pPr>
            <a:r>
              <a:rPr lang="en-US" sz="1320" dirty="0">
                <a:solidFill>
                  <a:srgbClr val="183544"/>
                </a:solidFill>
                <a:latin typeface="Arial" pitchFamily="34" charset="0"/>
                <a:ea typeface="Arial" pitchFamily="34" charset="-122"/>
                <a:cs typeface="Arial" pitchFamily="34" charset="-120"/>
              </a:rPr>
              <a:t>clear approval and fulfilment status.</a:t>
            </a:r>
            <a:endParaRPr lang="en-US" sz="1320" dirty="0"/>
          </a:p>
        </p:txBody>
      </p:sp>
      <p:sp>
        <p:nvSpPr>
          <p:cNvPr id="46" name="Text 43"/>
          <p:cNvSpPr/>
          <p:nvPr/>
        </p:nvSpPr>
        <p:spPr>
          <a:xfrm>
            <a:off x="8275320" y="3575304"/>
            <a:ext cx="3410712" cy="219456"/>
          </a:xfrm>
          <a:prstGeom prst="rect">
            <a:avLst/>
          </a:prstGeom>
          <a:noFill/>
          <a:ln/>
        </p:spPr>
        <p:txBody>
          <a:bodyPr wrap="square" lIns="0" tIns="0" rIns="0" bIns="0" rtlCol="0" anchor="t"/>
          <a:lstStyle/>
          <a:p>
            <a:pPr indent="0" marL="0">
              <a:buNone/>
            </a:pPr>
            <a:r>
              <a:rPr lang="en-US" sz="1170" b="1" dirty="0">
                <a:solidFill>
                  <a:srgbClr val="008782"/>
                </a:solidFill>
                <a:latin typeface="Arial" pitchFamily="34" charset="0"/>
                <a:ea typeface="Arial" pitchFamily="34" charset="-122"/>
                <a:cs typeface="Arial" pitchFamily="34" charset="-120"/>
              </a:rPr>
              <a:t>MERCHANDISERS</a:t>
            </a:r>
            <a:endParaRPr lang="en-US" sz="1170" dirty="0"/>
          </a:p>
        </p:txBody>
      </p:sp>
      <p:sp>
        <p:nvSpPr>
          <p:cNvPr id="47" name="Text 44"/>
          <p:cNvSpPr/>
          <p:nvPr/>
        </p:nvSpPr>
        <p:spPr>
          <a:xfrm>
            <a:off x="8275320" y="3877056"/>
            <a:ext cx="3410712" cy="667512"/>
          </a:xfrm>
          <a:prstGeom prst="rect">
            <a:avLst/>
          </a:prstGeom>
          <a:noFill/>
          <a:ln/>
        </p:spPr>
        <p:txBody>
          <a:bodyPr wrap="square" lIns="0" tIns="0" rIns="0" bIns="0" rtlCol="0" anchor="t"/>
          <a:lstStyle/>
          <a:p>
            <a:pPr indent="0" marL="0">
              <a:buNone/>
            </a:pPr>
            <a:r>
              <a:rPr lang="en-US" sz="1320" dirty="0">
                <a:solidFill>
                  <a:srgbClr val="183544"/>
                </a:solidFill>
                <a:latin typeface="Arial" pitchFamily="34" charset="0"/>
                <a:ea typeface="Arial" pitchFamily="34" charset="-122"/>
                <a:cs typeface="Arial" pitchFamily="34" charset="-120"/>
              </a:rPr>
              <a:t>Attendance, shelf availability,</a:t>
            </a:r>
            <a:endParaRPr lang="en-US" sz="1320" dirty="0"/>
          </a:p>
          <a:p>
            <a:pPr indent="0" marL="0">
              <a:buNone/>
            </a:pPr>
            <a:r>
              <a:rPr lang="en-US" sz="1320" dirty="0">
                <a:solidFill>
                  <a:srgbClr val="183544"/>
                </a:solidFill>
                <a:latin typeface="Arial" pitchFamily="34" charset="0"/>
                <a:ea typeface="Arial" pitchFamily="34" charset="-122"/>
                <a:cs typeface="Arial" pitchFamily="34" charset="-120"/>
              </a:rPr>
              <a:t>price and promotion checks;</a:t>
            </a:r>
            <a:endParaRPr lang="en-US" sz="1320" dirty="0"/>
          </a:p>
          <a:p>
            <a:pPr indent="0" marL="0">
              <a:buNone/>
            </a:pPr>
            <a:r>
              <a:rPr lang="en-US" sz="1320" dirty="0">
                <a:solidFill>
                  <a:srgbClr val="183544"/>
                </a:solidFill>
                <a:latin typeface="Arial" pitchFamily="34" charset="0"/>
                <a:ea typeface="Arial" pitchFamily="34" charset="-122"/>
                <a:cs typeface="Arial" pitchFamily="34" charset="-120"/>
              </a:rPr>
              <a:t>Stock Fix tasks with photo proof.</a:t>
            </a:r>
            <a:endParaRPr lang="en-US" sz="1320" dirty="0"/>
          </a:p>
        </p:txBody>
      </p:sp>
      <p:sp>
        <p:nvSpPr>
          <p:cNvPr id="48" name="Shape 45"/>
          <p:cNvSpPr/>
          <p:nvPr/>
        </p:nvSpPr>
        <p:spPr>
          <a:xfrm>
            <a:off x="457200" y="4809744"/>
            <a:ext cx="36576" cy="1408176"/>
          </a:xfrm>
          <a:prstGeom prst="rect">
            <a:avLst>
              <a:gd name="adj" fmla="val 150000"/>
            </a:avLst>
          </a:prstGeom>
          <a:solidFill>
            <a:srgbClr val="F37017"/>
          </a:solidFill>
          <a:ln w="10160">
            <a:solidFill>
              <a:srgbClr val="F37017"/>
            </a:solidFill>
            <a:prstDash val="solid"/>
          </a:ln>
        </p:spPr>
      </p:sp>
      <p:sp>
        <p:nvSpPr>
          <p:cNvPr id="49" name="Text 46"/>
          <p:cNvSpPr/>
          <p:nvPr/>
        </p:nvSpPr>
        <p:spPr>
          <a:xfrm>
            <a:off x="594360" y="4828032"/>
            <a:ext cx="3493008" cy="219456"/>
          </a:xfrm>
          <a:prstGeom prst="rect">
            <a:avLst/>
          </a:prstGeom>
          <a:noFill/>
          <a:ln/>
        </p:spPr>
        <p:txBody>
          <a:bodyPr wrap="square" lIns="0" tIns="0" rIns="0" bIns="0" rtlCol="0" anchor="t"/>
          <a:lstStyle/>
          <a:p>
            <a:pPr indent="0" marL="0">
              <a:buNone/>
            </a:pPr>
            <a:r>
              <a:rPr lang="en-US" sz="1170" b="1" dirty="0">
                <a:solidFill>
                  <a:srgbClr val="F37017"/>
                </a:solidFill>
                <a:latin typeface="Arial" pitchFamily="34" charset="0"/>
                <a:ea typeface="Arial" pitchFamily="34" charset="-122"/>
                <a:cs typeface="Arial" pitchFamily="34" charset="-120"/>
              </a:rPr>
              <a:t>FIELD VALUE</a:t>
            </a:r>
            <a:endParaRPr lang="en-US" sz="1170" dirty="0"/>
          </a:p>
        </p:txBody>
      </p:sp>
      <p:sp>
        <p:nvSpPr>
          <p:cNvPr id="50" name="Text 47"/>
          <p:cNvSpPr/>
          <p:nvPr/>
        </p:nvSpPr>
        <p:spPr>
          <a:xfrm>
            <a:off x="594360" y="5175504"/>
            <a:ext cx="3474720" cy="914400"/>
          </a:xfrm>
          <a:prstGeom prst="rect">
            <a:avLst/>
          </a:prstGeom>
          <a:noFill/>
          <a:ln/>
        </p:spPr>
        <p:txBody>
          <a:bodyPr wrap="square" lIns="0" tIns="0" rIns="0" bIns="0" rtlCol="0" anchor="t"/>
          <a:lstStyle/>
          <a:p>
            <a:pPr indent="0" marL="0">
              <a:buNone/>
            </a:pPr>
            <a:r>
              <a:rPr lang="en-US" sz="1320" dirty="0">
                <a:solidFill>
                  <a:srgbClr val="183544"/>
                </a:solidFill>
                <a:latin typeface="Arial" pitchFamily="34" charset="0"/>
                <a:ea typeface="Arial" pitchFamily="34" charset="-122"/>
                <a:cs typeface="Arial" pitchFamily="34" charset="-120"/>
              </a:rPr>
              <a:t>Accepted orders, verified shelf work</a:t>
            </a:r>
            <a:endParaRPr lang="en-US" sz="1320" dirty="0"/>
          </a:p>
          <a:p>
            <a:pPr indent="0" marL="0">
              <a:buNone/>
            </a:pPr>
            <a:r>
              <a:rPr lang="en-US" sz="1320" dirty="0">
                <a:solidFill>
                  <a:srgbClr val="183544"/>
                </a:solidFill>
                <a:latin typeface="Arial" pitchFamily="34" charset="0"/>
                <a:ea typeface="Arial" pitchFamily="34" charset="-122"/>
                <a:cs typeface="Arial" pitchFamily="34" charset="-120"/>
              </a:rPr>
              <a:t>and clear ownership of follow-ups.</a:t>
            </a:r>
            <a:endParaRPr lang="en-US" sz="1320" dirty="0"/>
          </a:p>
          <a:p>
            <a:pPr indent="0" marL="0">
              <a:buNone/>
            </a:pPr>
            <a:r>
              <a:rPr lang="en-US" sz="1320" dirty="0">
                <a:solidFill>
                  <a:srgbClr val="183544"/>
                </a:solidFill>
                <a:latin typeface="Arial" pitchFamily="34" charset="0"/>
                <a:ea typeface="Arial" pitchFamily="34" charset="-122"/>
                <a:cs typeface="Arial" pitchFamily="34" charset="-120"/>
              </a:rPr>
              <a:t>Measure coverage, availability</a:t>
            </a:r>
            <a:endParaRPr lang="en-US" sz="1320" dirty="0"/>
          </a:p>
          <a:p>
            <a:pPr indent="0" marL="0">
              <a:buNone/>
            </a:pPr>
            <a:r>
              <a:rPr lang="en-US" sz="1320" dirty="0">
                <a:solidFill>
                  <a:srgbClr val="183544"/>
                </a:solidFill>
                <a:latin typeface="Arial" pitchFamily="34" charset="0"/>
                <a:ea typeface="Arial" pitchFamily="34" charset="-122"/>
                <a:cs typeface="Arial" pitchFamily="34" charset="-120"/>
              </a:rPr>
              <a:t>and task closure.</a:t>
            </a:r>
            <a:endParaRPr lang="en-US" sz="1320" dirty="0"/>
          </a:p>
        </p:txBody>
      </p:sp>
      <p:sp>
        <p:nvSpPr>
          <p:cNvPr id="51" name="Shape 48"/>
          <p:cNvSpPr/>
          <p:nvPr/>
        </p:nvSpPr>
        <p:spPr>
          <a:xfrm>
            <a:off x="4334256" y="4809744"/>
            <a:ext cx="36576" cy="1408176"/>
          </a:xfrm>
          <a:prstGeom prst="rect">
            <a:avLst>
              <a:gd name="adj" fmla="val 150000"/>
            </a:avLst>
          </a:prstGeom>
          <a:solidFill>
            <a:srgbClr val="008782"/>
          </a:solidFill>
          <a:ln w="10160">
            <a:solidFill>
              <a:srgbClr val="008782"/>
            </a:solidFill>
            <a:prstDash val="solid"/>
          </a:ln>
        </p:spPr>
      </p:sp>
      <p:sp>
        <p:nvSpPr>
          <p:cNvPr id="52" name="Text 49"/>
          <p:cNvSpPr/>
          <p:nvPr/>
        </p:nvSpPr>
        <p:spPr>
          <a:xfrm>
            <a:off x="4471416" y="4828032"/>
            <a:ext cx="3401568" cy="219456"/>
          </a:xfrm>
          <a:prstGeom prst="rect">
            <a:avLst/>
          </a:prstGeom>
          <a:noFill/>
          <a:ln/>
        </p:spPr>
        <p:txBody>
          <a:bodyPr wrap="square" lIns="0" tIns="0" rIns="0" bIns="0" rtlCol="0" anchor="t"/>
          <a:lstStyle/>
          <a:p>
            <a:pPr indent="0" marL="0">
              <a:buNone/>
            </a:pPr>
            <a:r>
              <a:rPr lang="en-US" sz="1170" b="1" dirty="0">
                <a:solidFill>
                  <a:srgbClr val="008782"/>
                </a:solidFill>
                <a:latin typeface="Arial" pitchFamily="34" charset="0"/>
                <a:ea typeface="Arial" pitchFamily="34" charset="-122"/>
                <a:cs typeface="Arial" pitchFamily="34" charset="-120"/>
              </a:rPr>
              <a:t>NON-NEGOTIABLE</a:t>
            </a:r>
            <a:endParaRPr lang="en-US" sz="1170" dirty="0"/>
          </a:p>
        </p:txBody>
      </p:sp>
      <p:sp>
        <p:nvSpPr>
          <p:cNvPr id="53" name="Text 50"/>
          <p:cNvSpPr/>
          <p:nvPr/>
        </p:nvSpPr>
        <p:spPr>
          <a:xfrm>
            <a:off x="4471416" y="5175504"/>
            <a:ext cx="3383280" cy="914400"/>
          </a:xfrm>
          <a:prstGeom prst="rect">
            <a:avLst/>
          </a:prstGeom>
          <a:noFill/>
          <a:ln/>
        </p:spPr>
        <p:txBody>
          <a:bodyPr wrap="square" lIns="0" tIns="0" rIns="0" bIns="0" rtlCol="0" anchor="t"/>
          <a:lstStyle/>
          <a:p>
            <a:pPr indent="0" marL="0">
              <a:buNone/>
            </a:pPr>
            <a:r>
              <a:rPr lang="en-US" sz="1300" dirty="0">
                <a:solidFill>
                  <a:srgbClr val="183544"/>
                </a:solidFill>
                <a:latin typeface="Arial" pitchFamily="34" charset="0"/>
                <a:ea typeface="Arial" pitchFamily="34" charset="-122"/>
                <a:cs typeface="Arial" pitchFamily="34" charset="-120"/>
              </a:rPr>
              <a:t>Offline capture, reliable photo sync,</a:t>
            </a:r>
            <a:endParaRPr lang="en-US" sz="1300" dirty="0"/>
          </a:p>
          <a:p>
            <a:pPr indent="0" marL="0">
              <a:buNone/>
            </a:pPr>
            <a:r>
              <a:rPr lang="en-US" sz="1300" dirty="0">
                <a:solidFill>
                  <a:srgbClr val="183544"/>
                </a:solidFill>
                <a:latin typeface="Arial" pitchFamily="34" charset="0"/>
                <a:ea typeface="Arial" pitchFamily="34" charset="-122"/>
                <a:cs typeface="Arial" pitchFamily="34" charset="-120"/>
              </a:rPr>
              <a:t>one sign-in and client/store access.</a:t>
            </a:r>
            <a:endParaRPr lang="en-US" sz="1300" dirty="0"/>
          </a:p>
          <a:p>
            <a:pPr indent="0" marL="0">
              <a:buNone/>
            </a:pPr>
            <a:r>
              <a:rPr lang="en-US" sz="1300" dirty="0">
                <a:solidFill>
                  <a:srgbClr val="183544"/>
                </a:solidFill>
                <a:latin typeface="Arial" pitchFamily="34" charset="0"/>
                <a:ea typeface="Arial" pitchFamily="34" charset="-122"/>
                <a:cs typeface="Arial" pitchFamily="34" charset="-120"/>
              </a:rPr>
              <a:t>About 1,000 total users; field, office</a:t>
            </a:r>
            <a:endParaRPr lang="en-US" sz="1300" dirty="0"/>
          </a:p>
          <a:p>
            <a:pPr indent="0" marL="0">
              <a:buNone/>
            </a:pPr>
            <a:r>
              <a:rPr lang="en-US" sz="1300" dirty="0">
                <a:solidFill>
                  <a:srgbClr val="183544"/>
                </a:solidFill>
                <a:latin typeface="Arial" pitchFamily="34" charset="0"/>
                <a:ea typeface="Arial" pitchFamily="34" charset="-122"/>
                <a:cs typeface="Arial" pitchFamily="34" charset="-120"/>
              </a:rPr>
              <a:t>and client licence split to confirm.</a:t>
            </a:r>
            <a:endParaRPr lang="en-US" sz="1300" dirty="0"/>
          </a:p>
        </p:txBody>
      </p:sp>
      <p:sp>
        <p:nvSpPr>
          <p:cNvPr id="54" name="Shape 51"/>
          <p:cNvSpPr/>
          <p:nvPr/>
        </p:nvSpPr>
        <p:spPr>
          <a:xfrm>
            <a:off x="8193024" y="4809744"/>
            <a:ext cx="36576" cy="1408176"/>
          </a:xfrm>
          <a:prstGeom prst="rect">
            <a:avLst>
              <a:gd name="adj" fmla="val 150000"/>
            </a:avLst>
          </a:prstGeom>
          <a:solidFill>
            <a:srgbClr val="226B92"/>
          </a:solidFill>
          <a:ln w="10160">
            <a:solidFill>
              <a:srgbClr val="226B92"/>
            </a:solidFill>
            <a:prstDash val="solid"/>
          </a:ln>
        </p:spPr>
      </p:sp>
      <p:sp>
        <p:nvSpPr>
          <p:cNvPr id="55" name="Text 52"/>
          <p:cNvSpPr/>
          <p:nvPr/>
        </p:nvSpPr>
        <p:spPr>
          <a:xfrm>
            <a:off x="8330184" y="4828032"/>
            <a:ext cx="3383280" cy="219456"/>
          </a:xfrm>
          <a:prstGeom prst="rect">
            <a:avLst/>
          </a:prstGeom>
          <a:noFill/>
          <a:ln/>
        </p:spPr>
        <p:txBody>
          <a:bodyPr wrap="square" lIns="0" tIns="0" rIns="0" bIns="0" rtlCol="0" anchor="t"/>
          <a:lstStyle/>
          <a:p>
            <a:pPr indent="0" marL="0">
              <a:buNone/>
            </a:pPr>
            <a:r>
              <a:rPr lang="en-US" sz="1170" b="1" dirty="0">
                <a:solidFill>
                  <a:srgbClr val="226B92"/>
                </a:solidFill>
                <a:latin typeface="Arial" pitchFamily="34" charset="0"/>
                <a:ea typeface="Arial" pitchFamily="34" charset="-122"/>
                <a:cs typeface="Arial" pitchFamily="34" charset="-120"/>
              </a:rPr>
              <a:t>HOSTING DECISION</a:t>
            </a:r>
            <a:endParaRPr lang="en-US" sz="1170" dirty="0"/>
          </a:p>
        </p:txBody>
      </p:sp>
      <p:sp>
        <p:nvSpPr>
          <p:cNvPr id="56" name="Text 53"/>
          <p:cNvSpPr/>
          <p:nvPr/>
        </p:nvSpPr>
        <p:spPr>
          <a:xfrm>
            <a:off x="8330184" y="5175504"/>
            <a:ext cx="3364992" cy="914400"/>
          </a:xfrm>
          <a:prstGeom prst="rect">
            <a:avLst/>
          </a:prstGeom>
          <a:noFill/>
          <a:ln/>
        </p:spPr>
        <p:txBody>
          <a:bodyPr wrap="square" lIns="0" tIns="0" rIns="0" bIns="0" rtlCol="0" anchor="t"/>
          <a:lstStyle/>
          <a:p>
            <a:pPr indent="0" marL="0">
              <a:buNone/>
            </a:pPr>
            <a:r>
              <a:rPr lang="en-US" sz="1270" dirty="0">
                <a:solidFill>
                  <a:srgbClr val="183544"/>
                </a:solidFill>
                <a:latin typeface="Arial" pitchFamily="34" charset="0"/>
                <a:ea typeface="Arial" pitchFamily="34" charset="-122"/>
                <a:cs typeface="Arial" pitchFamily="34" charset="-120"/>
              </a:rPr>
              <a:t>Move Nexus to AWS with Geo Rep.</a:t>
            </a:r>
            <a:endParaRPr lang="en-US" sz="1270" dirty="0"/>
          </a:p>
          <a:p>
            <a:pPr indent="0" marL="0">
              <a:buNone/>
            </a:pPr>
            <a:r>
              <a:rPr lang="en-US" sz="1270" dirty="0">
                <a:solidFill>
                  <a:srgbClr val="183544"/>
                </a:solidFill>
                <a:latin typeface="Arial" pitchFamily="34" charset="0"/>
                <a:ea typeface="Arial" pitchFamily="34" charset="-122"/>
                <a:cs typeface="Arial" pitchFamily="34" charset="-120"/>
              </a:rPr>
              <a:t>Meridian-owned account recommended;</a:t>
            </a:r>
            <a:endParaRPr lang="en-US" sz="1270" dirty="0"/>
          </a:p>
          <a:p>
            <a:pPr indent="0" marL="0">
              <a:buNone/>
            </a:pPr>
            <a:r>
              <a:rPr lang="en-US" sz="1270" dirty="0">
                <a:solidFill>
                  <a:srgbClr val="183544"/>
                </a:solidFill>
                <a:latin typeface="Arial" pitchFamily="34" charset="0"/>
                <a:ea typeface="Arial" pitchFamily="34" charset="-122"/>
                <a:cs typeface="Arial" pitchFamily="34" charset="-120"/>
              </a:rPr>
              <a:t>controlled provider access. Account</a:t>
            </a:r>
            <a:endParaRPr lang="en-US" sz="1270" dirty="0"/>
          </a:p>
          <a:p>
            <a:pPr indent="0" marL="0">
              <a:buNone/>
            </a:pPr>
            <a:r>
              <a:rPr lang="en-US" sz="1270" dirty="0">
                <a:solidFill>
                  <a:srgbClr val="183544"/>
                </a:solidFill>
                <a:latin typeface="Arial" pitchFamily="34" charset="0"/>
                <a:ea typeface="Arial" pitchFamily="34" charset="-122"/>
                <a:cs typeface="Arial" pitchFamily="34" charset="-120"/>
              </a:rPr>
              <a:t>ownership and operating scope: TBC.</a:t>
            </a:r>
            <a:endParaRPr lang="en-US" sz="1270" dirty="0"/>
          </a:p>
        </p:txBody>
      </p:sp>
      <p:sp>
        <p:nvSpPr>
          <p:cNvPr id="57" name="Text 54">
            <a:hlinkClick r:id="rId2" tooltip=""/>
          </p:cNvPr>
          <p:cNvSpPr/>
          <p:nvPr/>
        </p:nvSpPr>
        <p:spPr>
          <a:xfrm>
            <a:off x="466344" y="6263640"/>
            <a:ext cx="10716768" cy="219456"/>
          </a:xfrm>
          <a:prstGeom prst="rect">
            <a:avLst/>
          </a:prstGeom>
          <a:noFill/>
          <a:ln/>
        </p:spPr>
        <p:txBody>
          <a:bodyPr wrap="square" lIns="0" tIns="0" rIns="0" bIns="0" rtlCol="0" anchor="t"/>
          <a:lstStyle/>
          <a:p>
            <a:pPr indent="0" marL="0">
              <a:buNone/>
            </a:pPr>
            <a:r>
              <a:rPr lang="en-US" sz="920" u="sng" dirty="0">
                <a:solidFill>
                  <a:srgbClr val="226B92"/>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Target architecture, not a completed migration. AWS SA Region: Cape Town (af-south-1); Geo Rep region to confirm. [1]</a:t>
            </a:r>
            <a:endParaRPr lang="en-US" sz="9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0"/>
          </a:xfrm>
          <a:prstGeom prst="rect">
            <a:avLst>
              <a:gd name="adj" fmla="val 8571"/>
            </a:avLst>
          </a:prstGeom>
          <a:solidFill>
            <a:srgbClr val="08253D"/>
          </a:solidFill>
          <a:ln w="10160">
            <a:solidFill>
              <a:srgbClr val="08253D"/>
            </a:solidFill>
            <a:prstDash val="solid"/>
          </a:ln>
        </p:spPr>
      </p:sp>
      <p:sp>
        <p:nvSpPr>
          <p:cNvPr id="3" name="Shape 1"/>
          <p:cNvSpPr/>
          <p:nvPr/>
        </p:nvSpPr>
        <p:spPr>
          <a:xfrm>
            <a:off x="0" y="640080"/>
            <a:ext cx="12191695" cy="41148"/>
          </a:xfrm>
          <a:prstGeom prst="rect">
            <a:avLst>
              <a:gd name="adj" fmla="val 133333"/>
            </a:avLst>
          </a:prstGeom>
          <a:solidFill>
            <a:srgbClr val="F37017"/>
          </a:solidFill>
          <a:ln w="10160">
            <a:solidFill>
              <a:srgbClr val="F37017"/>
            </a:solidFill>
            <a:prstDash val="solid"/>
          </a:ln>
        </p:spPr>
      </p:sp>
      <p:pic>
        <p:nvPicPr>
          <p:cNvPr id="4" name="Image 0" descr="C:\Users\PC\MeridianNexus\public\assets\callcycle\meridian.png">    </p:cNvPr>
          <p:cNvPicPr>
            <a:picLocks noChangeAspect="1"/>
          </p:cNvPicPr>
          <p:nvPr/>
        </p:nvPicPr>
        <p:blipFill>
          <a:blip r:embed="rId1"/>
          <a:stretch>
            <a:fillRect/>
          </a:stretch>
        </p:blipFill>
        <p:spPr>
          <a:xfrm>
            <a:off x="420624" y="100584"/>
            <a:ext cx="1306830" cy="448056"/>
          </a:xfrm>
          <a:prstGeom prst="rect">
            <a:avLst/>
          </a:prstGeom>
        </p:spPr>
      </p:pic>
      <p:sp>
        <p:nvSpPr>
          <p:cNvPr id="5" name="Text 2"/>
          <p:cNvSpPr/>
          <p:nvPr/>
        </p:nvSpPr>
        <p:spPr>
          <a:xfrm>
            <a:off x="2194560" y="219456"/>
            <a:ext cx="4800600" cy="210312"/>
          </a:xfrm>
          <a:prstGeom prst="rect">
            <a:avLst/>
          </a:prstGeom>
          <a:noFill/>
          <a:ln/>
        </p:spPr>
        <p:txBody>
          <a:bodyPr wrap="square" lIns="0" tIns="0" rIns="0" bIns="0" rtlCol="0" anchor="t"/>
          <a:lstStyle/>
          <a:p>
            <a:pPr indent="0" marL="0">
              <a:buNone/>
            </a:pPr>
            <a:r>
              <a:rPr lang="en-US" sz="1180" b="1" dirty="0">
                <a:solidFill>
                  <a:srgbClr val="FFFFFF"/>
                </a:solidFill>
                <a:latin typeface="Arial" pitchFamily="34" charset="0"/>
                <a:ea typeface="Arial" pitchFamily="34" charset="-122"/>
                <a:cs typeface="Arial" pitchFamily="34" charset="-120"/>
              </a:rPr>
              <a:t>NEXUS  /  FIELD OPERATIONS</a:t>
            </a:r>
            <a:endParaRPr lang="en-US" sz="1180" dirty="0"/>
          </a:p>
        </p:txBody>
      </p:sp>
      <p:sp>
        <p:nvSpPr>
          <p:cNvPr id="6" name="Text 3"/>
          <p:cNvSpPr/>
          <p:nvPr/>
        </p:nvSpPr>
        <p:spPr>
          <a:xfrm>
            <a:off x="8394192" y="219456"/>
            <a:ext cx="3337560" cy="210312"/>
          </a:xfrm>
          <a:prstGeom prst="rect">
            <a:avLst/>
          </a:prstGeom>
          <a:noFill/>
          <a:ln/>
        </p:spPr>
        <p:txBody>
          <a:bodyPr wrap="square" lIns="0" tIns="0" rIns="0" bIns="0" rtlCol="0" anchor="t"/>
          <a:lstStyle/>
          <a:p>
            <a:pPr algn="r" indent="0" marL="0">
              <a:buNone/>
            </a:pPr>
            <a:r>
              <a:rPr lang="en-US" sz="1060" dirty="0">
                <a:solidFill>
                  <a:srgbClr val="D8E5ED"/>
                </a:solidFill>
                <a:latin typeface="Arial" pitchFamily="34" charset="0"/>
                <a:ea typeface="Arial" pitchFamily="34" charset="-122"/>
                <a:cs typeface="Arial" pitchFamily="34" charset="-120"/>
              </a:rPr>
              <a:t>CEO &amp; MD  |  08 SEPTEMBER 2026</a:t>
            </a:r>
            <a:endParaRPr lang="en-US" sz="1060" dirty="0"/>
          </a:p>
        </p:txBody>
      </p:sp>
      <p:sp>
        <p:nvSpPr>
          <p:cNvPr id="7" name="Text 4"/>
          <p:cNvSpPr/>
          <p:nvPr/>
        </p:nvSpPr>
        <p:spPr>
          <a:xfrm>
            <a:off x="438912" y="886968"/>
            <a:ext cx="11311128" cy="420624"/>
          </a:xfrm>
          <a:prstGeom prst="rect">
            <a:avLst/>
          </a:prstGeom>
          <a:noFill/>
          <a:ln/>
        </p:spPr>
        <p:txBody>
          <a:bodyPr wrap="square" lIns="0" tIns="0" rIns="0" bIns="0" rtlCol="0" anchor="t"/>
          <a:lstStyle/>
          <a:p>
            <a:pPr indent="0" marL="0">
              <a:buNone/>
            </a:pPr>
            <a:r>
              <a:rPr lang="en-US" sz="2800" b="1" dirty="0">
                <a:solidFill>
                  <a:srgbClr val="183544"/>
                </a:solidFill>
                <a:latin typeface="Arial" pitchFamily="34" charset="0"/>
                <a:ea typeface="Arial" pitchFamily="34" charset="-122"/>
                <a:cs typeface="Arial" pitchFamily="34" charset="-120"/>
              </a:rPr>
              <a:t>Geo Rep should run the field experience</a:t>
            </a:r>
            <a:endParaRPr lang="en-US" sz="2800" dirty="0"/>
          </a:p>
        </p:txBody>
      </p:sp>
      <p:sp>
        <p:nvSpPr>
          <p:cNvPr id="8" name="Text 5"/>
          <p:cNvSpPr/>
          <p:nvPr/>
        </p:nvSpPr>
        <p:spPr>
          <a:xfrm>
            <a:off x="457200" y="1408176"/>
            <a:ext cx="11155680" cy="384048"/>
          </a:xfrm>
          <a:prstGeom prst="rect">
            <a:avLst/>
          </a:prstGeom>
          <a:noFill/>
          <a:ln/>
        </p:spPr>
        <p:txBody>
          <a:bodyPr wrap="square" lIns="0" tIns="0" rIns="0" bIns="0" rtlCol="0" anchor="t"/>
          <a:lstStyle/>
          <a:p>
            <a:pPr indent="0" marL="0">
              <a:buNone/>
            </a:pPr>
            <a:r>
              <a:rPr lang="en-US" sz="1380" dirty="0">
                <a:solidFill>
                  <a:srgbClr val="5B6E7B"/>
                </a:solidFill>
                <a:latin typeface="Arial" pitchFamily="34" charset="0"/>
                <a:ea typeface="Arial" pitchFamily="34" charset="-122"/>
                <a:cs typeface="Arial" pitchFamily="34" charset="-120"/>
              </a:rPr>
              <a:t>Build on the existing product; accept the mobile-to-Nexus workflow only after a representative field pilot.</a:t>
            </a:r>
            <a:endParaRPr lang="en-US" sz="1380" dirty="0"/>
          </a:p>
        </p:txBody>
      </p:sp>
      <p:sp>
        <p:nvSpPr>
          <p:cNvPr id="9" name="Shape 6"/>
          <p:cNvSpPr/>
          <p:nvPr/>
        </p:nvSpPr>
        <p:spPr>
          <a:xfrm>
            <a:off x="438912" y="6473952"/>
            <a:ext cx="11320272" cy="0"/>
          </a:xfrm>
          <a:prstGeom prst="line">
            <a:avLst/>
          </a:prstGeom>
          <a:noFill/>
          <a:ln w="19050">
            <a:solidFill>
              <a:srgbClr val="D4E0E5"/>
            </a:solidFill>
            <a:prstDash val="solid"/>
          </a:ln>
        </p:spPr>
      </p:sp>
      <p:sp>
        <p:nvSpPr>
          <p:cNvPr id="10" name="Text 7"/>
          <p:cNvSpPr/>
          <p:nvPr/>
        </p:nvSpPr>
        <p:spPr>
          <a:xfrm>
            <a:off x="457200" y="6583680"/>
            <a:ext cx="9875520" cy="164592"/>
          </a:xfrm>
          <a:prstGeom prst="rect">
            <a:avLst/>
          </a:prstGeom>
          <a:noFill/>
          <a:ln/>
        </p:spPr>
        <p:txBody>
          <a:bodyPr wrap="square" lIns="0" tIns="0" rIns="0" bIns="0" rtlCol="0" anchor="t"/>
          <a:lstStyle/>
          <a:p>
            <a:pPr indent="0" marL="0">
              <a:buNone/>
            </a:pPr>
            <a:r>
              <a:rPr lang="en-US" sz="860" dirty="0">
                <a:solidFill>
                  <a:srgbClr val="5B6E7B"/>
                </a:solidFill>
                <a:latin typeface="Arial" pitchFamily="34" charset="0"/>
                <a:ea typeface="Arial" pitchFamily="34" charset="-122"/>
                <a:cs typeface="Arial" pitchFamily="34" charset="-120"/>
              </a:rPr>
              <a:t>CONFIDENTIAL  |  2. GEO REP DELIVERY AND ACCEPTANCE</a:t>
            </a:r>
            <a:endParaRPr lang="en-US" sz="860" dirty="0"/>
          </a:p>
        </p:txBody>
      </p:sp>
      <p:sp>
        <p:nvSpPr>
          <p:cNvPr id="11" name="Text 8"/>
          <p:cNvSpPr/>
          <p:nvPr/>
        </p:nvSpPr>
        <p:spPr>
          <a:xfrm>
            <a:off x="11064240" y="6537960"/>
            <a:ext cx="676656" cy="228600"/>
          </a:xfrm>
          <a:prstGeom prst="rect">
            <a:avLst/>
          </a:prstGeom>
          <a:noFill/>
          <a:ln/>
        </p:spPr>
        <p:txBody>
          <a:bodyPr wrap="square" lIns="0" tIns="0" rIns="0" bIns="0" rtlCol="0" anchor="t"/>
          <a:lstStyle/>
          <a:p>
            <a:pPr algn="r" indent="0" marL="0">
              <a:buNone/>
            </a:pPr>
            <a:r>
              <a:rPr lang="en-US" sz="1150" b="1" dirty="0">
                <a:solidFill>
                  <a:srgbClr val="183544"/>
                </a:solidFill>
                <a:latin typeface="Arial" pitchFamily="34" charset="0"/>
                <a:ea typeface="Arial" pitchFamily="34" charset="-122"/>
                <a:cs typeface="Arial" pitchFamily="34" charset="-120"/>
              </a:rPr>
              <a:t>2 / 3</a:t>
            </a:r>
            <a:endParaRPr lang="en-US" sz="1150" dirty="0"/>
          </a:p>
        </p:txBody>
      </p:sp>
      <p:sp>
        <p:nvSpPr>
          <p:cNvPr id="12" name="Shape 9"/>
          <p:cNvSpPr/>
          <p:nvPr/>
        </p:nvSpPr>
        <p:spPr>
          <a:xfrm>
            <a:off x="457200" y="1920240"/>
            <a:ext cx="11283696" cy="2039112"/>
          </a:xfrm>
          <a:prstGeom prst="rect">
            <a:avLst>
              <a:gd name="adj" fmla="val 2691"/>
            </a:avLst>
          </a:prstGeom>
          <a:solidFill>
            <a:srgbClr val="F2F6F8"/>
          </a:solidFill>
          <a:ln w="10160">
            <a:solidFill>
              <a:srgbClr val="F2F6F8"/>
            </a:solidFill>
            <a:prstDash val="solid"/>
          </a:ln>
        </p:spPr>
      </p:sp>
      <p:sp>
        <p:nvSpPr>
          <p:cNvPr id="13" name="Shape 10"/>
          <p:cNvSpPr/>
          <p:nvPr/>
        </p:nvSpPr>
        <p:spPr>
          <a:xfrm>
            <a:off x="667512" y="2414016"/>
            <a:ext cx="2697480" cy="923544"/>
          </a:xfrm>
          <a:prstGeom prst="rect">
            <a:avLst>
              <a:gd name="adj" fmla="val 5941"/>
            </a:avLst>
          </a:prstGeom>
          <a:solidFill>
            <a:srgbClr val="FFFFFF"/>
          </a:solidFill>
          <a:ln w="10160">
            <a:solidFill>
              <a:srgbClr val="E8B28B"/>
            </a:solidFill>
            <a:prstDash val="solid"/>
          </a:ln>
        </p:spPr>
      </p:sp>
      <p:sp>
        <p:nvSpPr>
          <p:cNvPr id="14" name="Text 11"/>
          <p:cNvSpPr/>
          <p:nvPr/>
        </p:nvSpPr>
        <p:spPr>
          <a:xfrm>
            <a:off x="832104" y="2578608"/>
            <a:ext cx="2377440" cy="228600"/>
          </a:xfrm>
          <a:prstGeom prst="rect">
            <a:avLst/>
          </a:prstGeom>
          <a:noFill/>
          <a:ln/>
        </p:spPr>
        <p:txBody>
          <a:bodyPr wrap="square" lIns="0" tIns="0" rIns="0" bIns="0" rtlCol="0" anchor="t"/>
          <a:lstStyle/>
          <a:p>
            <a:pPr indent="0" marL="0">
              <a:buNone/>
            </a:pPr>
            <a:r>
              <a:rPr lang="en-US" sz="1450" b="1" dirty="0">
                <a:solidFill>
                  <a:srgbClr val="F37017"/>
                </a:solidFill>
                <a:latin typeface="Arial" pitchFamily="34" charset="0"/>
                <a:ea typeface="Arial" pitchFamily="34" charset="-122"/>
                <a:cs typeface="Arial" pitchFamily="34" charset="-120"/>
              </a:rPr>
              <a:t>FIELD MOBILE APP</a:t>
            </a:r>
            <a:endParaRPr lang="en-US" sz="1450" dirty="0"/>
          </a:p>
        </p:txBody>
      </p:sp>
      <p:sp>
        <p:nvSpPr>
          <p:cNvPr id="15" name="Text 12"/>
          <p:cNvSpPr/>
          <p:nvPr/>
        </p:nvSpPr>
        <p:spPr>
          <a:xfrm>
            <a:off x="832104" y="2916936"/>
            <a:ext cx="2377440" cy="356616"/>
          </a:xfrm>
          <a:prstGeom prst="rect">
            <a:avLst/>
          </a:prstGeom>
          <a:noFill/>
          <a:ln/>
        </p:spPr>
        <p:txBody>
          <a:bodyPr wrap="square" lIns="0" tIns="0" rIns="0" bIns="0" rtlCol="0" anchor="t"/>
          <a:lstStyle/>
          <a:p>
            <a:pPr indent="0" marL="0">
              <a:buNone/>
            </a:pPr>
            <a:r>
              <a:rPr lang="en-US" sz="1170" dirty="0">
                <a:solidFill>
                  <a:srgbClr val="183544"/>
                </a:solidFill>
                <a:latin typeface="Arial" pitchFamily="34" charset="0"/>
                <a:ea typeface="Arial" pitchFamily="34" charset="-122"/>
                <a:cs typeface="Arial" pitchFamily="34" charset="-120"/>
              </a:rPr>
              <a:t>Offline visits, photos and orders</a:t>
            </a:r>
            <a:endParaRPr lang="en-US" sz="1170" dirty="0"/>
          </a:p>
          <a:p>
            <a:pPr indent="0" marL="0">
              <a:buNone/>
            </a:pPr>
            <a:r>
              <a:rPr lang="en-US" sz="1170" dirty="0">
                <a:solidFill>
                  <a:srgbClr val="183544"/>
                </a:solidFill>
                <a:latin typeface="Arial" pitchFamily="34" charset="0"/>
                <a:ea typeface="Arial" pitchFamily="34" charset="-122"/>
                <a:cs typeface="Arial" pitchFamily="34" charset="-120"/>
              </a:rPr>
              <a:t>Nexus Field branding proposed</a:t>
            </a:r>
            <a:endParaRPr lang="en-US" sz="1170" dirty="0"/>
          </a:p>
        </p:txBody>
      </p:sp>
      <p:sp>
        <p:nvSpPr>
          <p:cNvPr id="16" name="Shape 13"/>
          <p:cNvSpPr/>
          <p:nvPr/>
        </p:nvSpPr>
        <p:spPr>
          <a:xfrm>
            <a:off x="3392424" y="2880360"/>
            <a:ext cx="438912" cy="0"/>
          </a:xfrm>
          <a:prstGeom prst="line">
            <a:avLst/>
          </a:prstGeom>
          <a:noFill/>
          <a:ln w="19050">
            <a:solidFill>
              <a:srgbClr val="F37017"/>
            </a:solidFill>
            <a:prstDash val="solid"/>
            <a:tailEnd type="triangle"/>
          </a:ln>
        </p:spPr>
      </p:sp>
      <p:sp>
        <p:nvSpPr>
          <p:cNvPr id="17" name="Shape 14"/>
          <p:cNvSpPr/>
          <p:nvPr/>
        </p:nvSpPr>
        <p:spPr>
          <a:xfrm>
            <a:off x="3867912" y="2093976"/>
            <a:ext cx="4032504" cy="1783080"/>
          </a:xfrm>
          <a:prstGeom prst="rect">
            <a:avLst>
              <a:gd name="adj" fmla="val 3077"/>
            </a:avLst>
          </a:prstGeom>
          <a:solidFill>
            <a:srgbClr val="FFFFFF"/>
          </a:solidFill>
          <a:ln w="10160">
            <a:solidFill>
              <a:srgbClr val="226B92"/>
            </a:solidFill>
            <a:prstDash val="solid"/>
          </a:ln>
        </p:spPr>
      </p:sp>
      <p:sp>
        <p:nvSpPr>
          <p:cNvPr id="18" name="Text 15"/>
          <p:cNvSpPr/>
          <p:nvPr/>
        </p:nvSpPr>
        <p:spPr>
          <a:xfrm>
            <a:off x="4050792" y="2240280"/>
            <a:ext cx="3657600" cy="219456"/>
          </a:xfrm>
          <a:prstGeom prst="rect">
            <a:avLst/>
          </a:prstGeom>
          <a:noFill/>
          <a:ln/>
        </p:spPr>
        <p:txBody>
          <a:bodyPr wrap="square" lIns="0" tIns="0" rIns="0" bIns="0" rtlCol="0" anchor="t"/>
          <a:lstStyle/>
          <a:p>
            <a:pPr indent="0" marL="0">
              <a:buNone/>
            </a:pPr>
            <a:r>
              <a:rPr lang="en-US" sz="1170" b="1" dirty="0">
                <a:solidFill>
                  <a:srgbClr val="226B92"/>
                </a:solidFill>
                <a:latin typeface="Arial" pitchFamily="34" charset="0"/>
                <a:ea typeface="Arial" pitchFamily="34" charset="-122"/>
                <a:cs typeface="Arial" pitchFamily="34" charset="-120"/>
              </a:rPr>
              <a:t>EXTERNAL GEO REP  |  AWS</a:t>
            </a:r>
            <a:endParaRPr lang="en-US" sz="1170" dirty="0"/>
          </a:p>
        </p:txBody>
      </p:sp>
      <p:sp>
        <p:nvSpPr>
          <p:cNvPr id="19" name="Text 16"/>
          <p:cNvSpPr/>
          <p:nvPr/>
        </p:nvSpPr>
        <p:spPr>
          <a:xfrm>
            <a:off x="4050792" y="2706624"/>
            <a:ext cx="3657600" cy="530352"/>
          </a:xfrm>
          <a:prstGeom prst="rect">
            <a:avLst/>
          </a:prstGeom>
          <a:noFill/>
          <a:ln/>
        </p:spPr>
        <p:txBody>
          <a:bodyPr wrap="square" lIns="0" tIns="0" rIns="0" bIns="0" rtlCol="0" anchor="t"/>
          <a:lstStyle/>
          <a:p>
            <a:pPr indent="0" marL="0">
              <a:buNone/>
            </a:pPr>
            <a:r>
              <a:rPr lang="en-US" sz="1320" b="1" dirty="0">
                <a:solidFill>
                  <a:srgbClr val="183544"/>
                </a:solidFill>
                <a:latin typeface="Arial" pitchFamily="34" charset="0"/>
                <a:ea typeface="Arial" pitchFamily="34" charset="-122"/>
                <a:cs typeface="Arial" pitchFamily="34" charset="-120"/>
              </a:rPr>
              <a:t>Field records and mobile sync</a:t>
            </a:r>
            <a:endParaRPr lang="en-US" sz="1320" dirty="0"/>
          </a:p>
          <a:p>
            <a:pPr indent="0" marL="0">
              <a:buNone/>
            </a:pPr>
            <a:r>
              <a:rPr lang="en-US" sz="1320" b="1" dirty="0">
                <a:solidFill>
                  <a:srgbClr val="183544"/>
                </a:solidFill>
                <a:latin typeface="Arial" pitchFamily="34" charset="0"/>
                <a:ea typeface="Arial" pitchFamily="34" charset="-122"/>
                <a:cs typeface="Arial" pitchFamily="34" charset="-120"/>
              </a:rPr>
              <a:t>Visits, attendance, forms, tasks, orders</a:t>
            </a:r>
            <a:endParaRPr lang="en-US" sz="1320" dirty="0"/>
          </a:p>
        </p:txBody>
      </p:sp>
      <p:sp>
        <p:nvSpPr>
          <p:cNvPr id="20" name="Text 17"/>
          <p:cNvSpPr/>
          <p:nvPr/>
        </p:nvSpPr>
        <p:spPr>
          <a:xfrm>
            <a:off x="4050792" y="3410712"/>
            <a:ext cx="3657600" cy="164592"/>
          </a:xfrm>
          <a:prstGeom prst="rect">
            <a:avLst/>
          </a:prstGeom>
          <a:noFill/>
          <a:ln/>
        </p:spPr>
        <p:txBody>
          <a:bodyPr wrap="square" lIns="0" tIns="0" rIns="0" bIns="0" rtlCol="0" anchor="t"/>
          <a:lstStyle/>
          <a:p>
            <a:pPr indent="0" marL="0">
              <a:buNone/>
            </a:pPr>
            <a:r>
              <a:rPr lang="en-US" sz="1020" dirty="0">
                <a:solidFill>
                  <a:srgbClr val="5B6E7B"/>
                </a:solidFill>
                <a:latin typeface="Arial" pitchFamily="34" charset="0"/>
                <a:ea typeface="Arial" pitchFamily="34" charset="-122"/>
                <a:cs typeface="Arial" pitchFamily="34" charset="-120"/>
              </a:rPr>
              <a:t>Existing product; Meridian API scope to confirm</a:t>
            </a:r>
            <a:endParaRPr lang="en-US" sz="1020" dirty="0"/>
          </a:p>
        </p:txBody>
      </p:sp>
      <p:sp>
        <p:nvSpPr>
          <p:cNvPr id="21" name="Shape 18"/>
          <p:cNvSpPr/>
          <p:nvPr/>
        </p:nvSpPr>
        <p:spPr>
          <a:xfrm>
            <a:off x="7927848" y="2880360"/>
            <a:ext cx="466344" cy="0"/>
          </a:xfrm>
          <a:prstGeom prst="line">
            <a:avLst/>
          </a:prstGeom>
          <a:noFill/>
          <a:ln w="19050">
            <a:solidFill>
              <a:srgbClr val="226B92"/>
            </a:solidFill>
            <a:prstDash val="solid"/>
            <a:tailEnd type="triangle"/>
          </a:ln>
        </p:spPr>
      </p:sp>
      <p:sp>
        <p:nvSpPr>
          <p:cNvPr id="22" name="Text 19"/>
          <p:cNvSpPr/>
          <p:nvPr/>
        </p:nvSpPr>
        <p:spPr>
          <a:xfrm>
            <a:off x="7946136" y="2551176"/>
            <a:ext cx="402336" cy="164592"/>
          </a:xfrm>
          <a:prstGeom prst="rect">
            <a:avLst/>
          </a:prstGeom>
          <a:noFill/>
          <a:ln/>
        </p:spPr>
        <p:txBody>
          <a:bodyPr wrap="square" lIns="0" tIns="0" rIns="0" bIns="0" rtlCol="0" anchor="t"/>
          <a:lstStyle/>
          <a:p>
            <a:pPr algn="ctr" indent="0" marL="0">
              <a:buNone/>
            </a:pPr>
            <a:r>
              <a:rPr lang="en-US" sz="950" b="1" dirty="0">
                <a:solidFill>
                  <a:srgbClr val="226B92"/>
                </a:solidFill>
                <a:latin typeface="Arial" pitchFamily="34" charset="0"/>
                <a:ea typeface="Arial" pitchFamily="34" charset="-122"/>
                <a:cs typeface="Arial" pitchFamily="34" charset="-120"/>
              </a:rPr>
              <a:t>API</a:t>
            </a:r>
            <a:endParaRPr lang="en-US" sz="950" dirty="0"/>
          </a:p>
        </p:txBody>
      </p:sp>
      <p:sp>
        <p:nvSpPr>
          <p:cNvPr id="23" name="Shape 20"/>
          <p:cNvSpPr/>
          <p:nvPr/>
        </p:nvSpPr>
        <p:spPr>
          <a:xfrm>
            <a:off x="8430768" y="2414016"/>
            <a:ext cx="3090672" cy="923544"/>
          </a:xfrm>
          <a:prstGeom prst="rect">
            <a:avLst>
              <a:gd name="adj" fmla="val 5941"/>
            </a:avLst>
          </a:prstGeom>
          <a:solidFill>
            <a:srgbClr val="EAF5F3"/>
          </a:solidFill>
          <a:ln w="10160">
            <a:solidFill>
              <a:srgbClr val="A7D2CD"/>
            </a:solidFill>
            <a:prstDash val="solid"/>
          </a:ln>
        </p:spPr>
      </p:sp>
      <p:sp>
        <p:nvSpPr>
          <p:cNvPr id="24" name="Text 21"/>
          <p:cNvSpPr/>
          <p:nvPr/>
        </p:nvSpPr>
        <p:spPr>
          <a:xfrm>
            <a:off x="8595360" y="2587752"/>
            <a:ext cx="2743200" cy="219456"/>
          </a:xfrm>
          <a:prstGeom prst="rect">
            <a:avLst/>
          </a:prstGeom>
          <a:noFill/>
          <a:ln/>
        </p:spPr>
        <p:txBody>
          <a:bodyPr wrap="square" lIns="0" tIns="0" rIns="0" bIns="0" rtlCol="0" anchor="t"/>
          <a:lstStyle/>
          <a:p>
            <a:pPr indent="0" marL="0">
              <a:buNone/>
            </a:pPr>
            <a:r>
              <a:rPr lang="en-US" sz="1270" b="1" dirty="0">
                <a:solidFill>
                  <a:srgbClr val="008782"/>
                </a:solidFill>
                <a:latin typeface="Arial" pitchFamily="34" charset="0"/>
                <a:ea typeface="Arial" pitchFamily="34" charset="-122"/>
                <a:cs typeface="Arial" pitchFamily="34" charset="-120"/>
              </a:rPr>
              <a:t>MERIDIAN NEXUS  |  AWS</a:t>
            </a:r>
            <a:endParaRPr lang="en-US" sz="1270" dirty="0"/>
          </a:p>
        </p:txBody>
      </p:sp>
      <p:sp>
        <p:nvSpPr>
          <p:cNvPr id="25" name="Text 22"/>
          <p:cNvSpPr/>
          <p:nvPr/>
        </p:nvSpPr>
        <p:spPr>
          <a:xfrm>
            <a:off x="8595360" y="2935224"/>
            <a:ext cx="2743200" cy="329184"/>
          </a:xfrm>
          <a:prstGeom prst="rect">
            <a:avLst/>
          </a:prstGeom>
          <a:noFill/>
          <a:ln/>
        </p:spPr>
        <p:txBody>
          <a:bodyPr wrap="square" lIns="0" tIns="0" rIns="0" bIns="0" rtlCol="0" anchor="t"/>
          <a:lstStyle/>
          <a:p>
            <a:pPr indent="0" marL="0">
              <a:buNone/>
            </a:pPr>
            <a:r>
              <a:rPr lang="en-US" sz="1180" dirty="0">
                <a:solidFill>
                  <a:srgbClr val="183544"/>
                </a:solidFill>
                <a:latin typeface="Arial" pitchFamily="34" charset="0"/>
                <a:ea typeface="Arial" pitchFamily="34" charset="-122"/>
                <a:cs typeface="Arial" pitchFamily="34" charset="-120"/>
              </a:rPr>
              <a:t>Exceptions, Insights and client evidence</a:t>
            </a:r>
            <a:endParaRPr lang="en-US" sz="1180" dirty="0"/>
          </a:p>
        </p:txBody>
      </p:sp>
      <p:sp>
        <p:nvSpPr>
          <p:cNvPr id="26" name="Shape 23"/>
          <p:cNvSpPr/>
          <p:nvPr/>
        </p:nvSpPr>
        <p:spPr>
          <a:xfrm>
            <a:off x="9976104" y="3374136"/>
            <a:ext cx="0" cy="384048"/>
          </a:xfrm>
          <a:prstGeom prst="line">
            <a:avLst/>
          </a:prstGeom>
          <a:noFill/>
          <a:ln w="19050">
            <a:solidFill>
              <a:srgbClr val="008782"/>
            </a:solidFill>
            <a:prstDash val="dash"/>
          </a:ln>
        </p:spPr>
      </p:sp>
      <p:sp>
        <p:nvSpPr>
          <p:cNvPr id="27" name="Shape 24"/>
          <p:cNvSpPr/>
          <p:nvPr/>
        </p:nvSpPr>
        <p:spPr>
          <a:xfrm flipH="1">
            <a:off x="7918704" y="3758184"/>
            <a:ext cx="2057400" cy="0"/>
          </a:xfrm>
          <a:prstGeom prst="line">
            <a:avLst/>
          </a:prstGeom>
          <a:noFill/>
          <a:ln w="19050">
            <a:solidFill>
              <a:srgbClr val="008782"/>
            </a:solidFill>
            <a:prstDash val="dash"/>
            <a:tailEnd type="triangle"/>
          </a:ln>
        </p:spPr>
      </p:sp>
      <p:sp>
        <p:nvSpPr>
          <p:cNvPr id="28" name="Text 25"/>
          <p:cNvSpPr/>
          <p:nvPr/>
        </p:nvSpPr>
        <p:spPr>
          <a:xfrm>
            <a:off x="8010144" y="3374136"/>
            <a:ext cx="1847088" cy="347472"/>
          </a:xfrm>
          <a:prstGeom prst="rect">
            <a:avLst/>
          </a:prstGeom>
          <a:noFill/>
          <a:ln/>
        </p:spPr>
        <p:txBody>
          <a:bodyPr wrap="square" lIns="0" tIns="0" rIns="0" bIns="0" rtlCol="0" anchor="t"/>
          <a:lstStyle/>
          <a:p>
            <a:pPr indent="0" marL="0">
              <a:buNone/>
            </a:pPr>
            <a:r>
              <a:rPr lang="en-US" sz="940" dirty="0">
                <a:solidFill>
                  <a:srgbClr val="5B6E7B"/>
                </a:solidFill>
                <a:latin typeface="Arial" pitchFamily="34" charset="0"/>
                <a:ea typeface="Arial" pitchFamily="34" charset="-122"/>
                <a:cs typeface="Arial" pitchFamily="34" charset="-120"/>
              </a:rPr>
              <a:t>Task / order write-back</a:t>
            </a:r>
            <a:endParaRPr lang="en-US" sz="940" dirty="0"/>
          </a:p>
          <a:p>
            <a:pPr indent="0" marL="0">
              <a:buNone/>
            </a:pPr>
            <a:r>
              <a:rPr lang="en-US" sz="940" dirty="0">
                <a:solidFill>
                  <a:srgbClr val="5B6E7B"/>
                </a:solidFill>
                <a:latin typeface="Arial" pitchFamily="34" charset="0"/>
                <a:ea typeface="Arial" pitchFamily="34" charset="-122"/>
                <a:cs typeface="Arial" pitchFamily="34" charset="-120"/>
              </a:rPr>
              <a:t>API access to prove</a:t>
            </a:r>
            <a:endParaRPr lang="en-US" sz="940" dirty="0"/>
          </a:p>
        </p:txBody>
      </p:sp>
      <p:sp>
        <p:nvSpPr>
          <p:cNvPr id="29" name="Text 26">
            <a:hlinkClick r:id="rId2" tooltip=""/>
          </p:cNvPr>
          <p:cNvSpPr/>
          <p:nvPr/>
        </p:nvSpPr>
        <p:spPr>
          <a:xfrm>
            <a:off x="475488" y="4087368"/>
            <a:ext cx="11155680" cy="219456"/>
          </a:xfrm>
          <a:prstGeom prst="rect">
            <a:avLst/>
          </a:prstGeom>
          <a:noFill/>
          <a:ln/>
        </p:spPr>
        <p:txBody>
          <a:bodyPr wrap="square" lIns="0" tIns="0" rIns="0" bIns="0" rtlCol="0" anchor="t"/>
          <a:lstStyle/>
          <a:p>
            <a:pPr indent="0" marL="0">
              <a:buNone/>
            </a:pPr>
            <a:r>
              <a:rPr lang="en-US" sz="920" u="sng" dirty="0">
                <a:solidFill>
                  <a:srgbClr val="226B92"/>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Geo Rep advertises offline field capture and sales [2]. API access, LMS feeds, SSO and white-label rights require confirmation.</a:t>
            </a:r>
            <a:endParaRPr lang="en-US" sz="920" dirty="0"/>
          </a:p>
        </p:txBody>
      </p:sp>
      <p:sp>
        <p:nvSpPr>
          <p:cNvPr id="30" name="Shape 27"/>
          <p:cNvSpPr/>
          <p:nvPr/>
        </p:nvSpPr>
        <p:spPr>
          <a:xfrm>
            <a:off x="457200" y="4535424"/>
            <a:ext cx="36576" cy="1408176"/>
          </a:xfrm>
          <a:prstGeom prst="rect">
            <a:avLst>
              <a:gd name="adj" fmla="val 150000"/>
            </a:avLst>
          </a:prstGeom>
          <a:solidFill>
            <a:srgbClr val="F37017"/>
          </a:solidFill>
          <a:ln w="10160">
            <a:solidFill>
              <a:srgbClr val="F37017"/>
            </a:solidFill>
            <a:prstDash val="solid"/>
          </a:ln>
        </p:spPr>
      </p:sp>
      <p:sp>
        <p:nvSpPr>
          <p:cNvPr id="31" name="Text 28"/>
          <p:cNvSpPr/>
          <p:nvPr/>
        </p:nvSpPr>
        <p:spPr>
          <a:xfrm>
            <a:off x="594360" y="4553712"/>
            <a:ext cx="3447288" cy="219456"/>
          </a:xfrm>
          <a:prstGeom prst="rect">
            <a:avLst/>
          </a:prstGeom>
          <a:noFill/>
          <a:ln/>
        </p:spPr>
        <p:txBody>
          <a:bodyPr wrap="square" lIns="0" tIns="0" rIns="0" bIns="0" rtlCol="0" anchor="t"/>
          <a:lstStyle/>
          <a:p>
            <a:pPr indent="0" marL="0">
              <a:buNone/>
            </a:pPr>
            <a:r>
              <a:rPr lang="en-US" sz="1170" b="1" dirty="0">
                <a:solidFill>
                  <a:srgbClr val="F37017"/>
                </a:solidFill>
                <a:latin typeface="Arial" pitchFamily="34" charset="0"/>
                <a:ea typeface="Arial" pitchFamily="34" charset="-122"/>
                <a:cs typeface="Arial" pitchFamily="34" charset="-120"/>
              </a:rPr>
              <a:t>BENEFIT / DISADVANTAGE</a:t>
            </a:r>
            <a:endParaRPr lang="en-US" sz="1170" dirty="0"/>
          </a:p>
        </p:txBody>
      </p:sp>
      <p:sp>
        <p:nvSpPr>
          <p:cNvPr id="32" name="Text 29"/>
          <p:cNvSpPr/>
          <p:nvPr/>
        </p:nvSpPr>
        <p:spPr>
          <a:xfrm>
            <a:off x="594360" y="4901184"/>
            <a:ext cx="3429000" cy="969264"/>
          </a:xfrm>
          <a:prstGeom prst="rect">
            <a:avLst/>
          </a:prstGeom>
          <a:noFill/>
          <a:ln/>
        </p:spPr>
        <p:txBody>
          <a:bodyPr wrap="square" lIns="0" tIns="0" rIns="0" bIns="0" rtlCol="0" anchor="t"/>
          <a:lstStyle/>
          <a:p>
            <a:pPr indent="0" marL="0">
              <a:buNone/>
            </a:pPr>
            <a:r>
              <a:rPr lang="en-US" sz="1300" dirty="0">
                <a:solidFill>
                  <a:srgbClr val="183544"/>
                </a:solidFill>
                <a:latin typeface="Arial" pitchFamily="34" charset="0"/>
                <a:ea typeface="Arial" pitchFamily="34" charset="-122"/>
                <a:cs typeface="Arial" pitchFamily="34" charset="-120"/>
              </a:rPr>
              <a:t>Reuse established field workflows.</a:t>
            </a:r>
            <a:endParaRPr lang="en-US" sz="1300" dirty="0"/>
          </a:p>
          <a:p>
            <a:pPr indent="0" marL="0">
              <a:buNone/>
            </a:pPr>
            <a:r>
              <a:rPr lang="en-US" sz="1300" dirty="0">
                <a:solidFill>
                  <a:srgbClr val="183544"/>
                </a:solidFill>
                <a:latin typeface="Arial" pitchFamily="34" charset="0"/>
                <a:ea typeface="Arial" pitchFamily="34" charset="-122"/>
                <a:cs typeface="Arial" pitchFamily="34" charset="-120"/>
              </a:rPr>
              <a:t>Reduce duplicate capture and app</a:t>
            </a:r>
            <a:endParaRPr lang="en-US" sz="1300" dirty="0"/>
          </a:p>
          <a:p>
            <a:pPr indent="0" marL="0">
              <a:buNone/>
            </a:pPr>
            <a:r>
              <a:rPr lang="en-US" sz="1300" dirty="0">
                <a:solidFill>
                  <a:srgbClr val="183544"/>
                </a:solidFill>
                <a:latin typeface="Arial" pitchFamily="34" charset="0"/>
                <a:ea typeface="Arial" pitchFamily="34" charset="-122"/>
                <a:cs typeface="Arial" pitchFamily="34" charset="-120"/>
              </a:rPr>
              <a:t>switching. Trade-off: dependence</a:t>
            </a:r>
            <a:endParaRPr lang="en-US" sz="1300" dirty="0"/>
          </a:p>
          <a:p>
            <a:pPr indent="0" marL="0">
              <a:buNone/>
            </a:pPr>
            <a:r>
              <a:rPr lang="en-US" sz="1300" dirty="0">
                <a:solidFill>
                  <a:srgbClr val="183544"/>
                </a:solidFill>
                <a:latin typeface="Arial" pitchFamily="34" charset="0"/>
                <a:ea typeface="Arial" pitchFamily="34" charset="-122"/>
                <a:cs typeface="Arial" pitchFamily="34" charset="-120"/>
              </a:rPr>
              <a:t>on the supplier, its API and licences.</a:t>
            </a:r>
            <a:endParaRPr lang="en-US" sz="1300" dirty="0"/>
          </a:p>
        </p:txBody>
      </p:sp>
      <p:sp>
        <p:nvSpPr>
          <p:cNvPr id="33" name="Shape 30"/>
          <p:cNvSpPr/>
          <p:nvPr/>
        </p:nvSpPr>
        <p:spPr>
          <a:xfrm>
            <a:off x="4334256" y="4535424"/>
            <a:ext cx="36576" cy="1408176"/>
          </a:xfrm>
          <a:prstGeom prst="rect">
            <a:avLst>
              <a:gd name="adj" fmla="val 150000"/>
            </a:avLst>
          </a:prstGeom>
          <a:solidFill>
            <a:srgbClr val="008782"/>
          </a:solidFill>
          <a:ln w="10160">
            <a:solidFill>
              <a:srgbClr val="008782"/>
            </a:solidFill>
            <a:prstDash val="solid"/>
          </a:ln>
        </p:spPr>
      </p:sp>
      <p:sp>
        <p:nvSpPr>
          <p:cNvPr id="34" name="Text 31"/>
          <p:cNvSpPr/>
          <p:nvPr/>
        </p:nvSpPr>
        <p:spPr>
          <a:xfrm>
            <a:off x="4471416" y="4553712"/>
            <a:ext cx="3447288" cy="219456"/>
          </a:xfrm>
          <a:prstGeom prst="rect">
            <a:avLst/>
          </a:prstGeom>
          <a:noFill/>
          <a:ln/>
        </p:spPr>
        <p:txBody>
          <a:bodyPr wrap="square" lIns="0" tIns="0" rIns="0" bIns="0" rtlCol="0" anchor="t"/>
          <a:lstStyle/>
          <a:p>
            <a:pPr indent="0" marL="0">
              <a:buNone/>
            </a:pPr>
            <a:r>
              <a:rPr lang="en-US" sz="1170" b="1" dirty="0">
                <a:solidFill>
                  <a:srgbClr val="008782"/>
                </a:solidFill>
                <a:latin typeface="Arial" pitchFamily="34" charset="0"/>
                <a:ea typeface="Arial" pitchFamily="34" charset="-122"/>
                <a:cs typeface="Arial" pitchFamily="34" charset="-120"/>
              </a:rPr>
              <a:t>PILOT ACCEPTANCE</a:t>
            </a:r>
            <a:endParaRPr lang="en-US" sz="1170" dirty="0"/>
          </a:p>
        </p:txBody>
      </p:sp>
      <p:sp>
        <p:nvSpPr>
          <p:cNvPr id="35" name="Text 32"/>
          <p:cNvSpPr/>
          <p:nvPr/>
        </p:nvSpPr>
        <p:spPr>
          <a:xfrm>
            <a:off x="4471416" y="4901184"/>
            <a:ext cx="3429000" cy="969264"/>
          </a:xfrm>
          <a:prstGeom prst="rect">
            <a:avLst/>
          </a:prstGeom>
          <a:noFill/>
          <a:ln/>
        </p:spPr>
        <p:txBody>
          <a:bodyPr wrap="square" lIns="0" tIns="0" rIns="0" bIns="0" rtlCol="0" anchor="t"/>
          <a:lstStyle/>
          <a:p>
            <a:pPr indent="0" marL="0">
              <a:buNone/>
            </a:pPr>
            <a:r>
              <a:rPr lang="en-US" sz="1300" dirty="0">
                <a:solidFill>
                  <a:srgbClr val="183544"/>
                </a:solidFill>
                <a:latin typeface="Arial" pitchFamily="34" charset="0"/>
                <a:ea typeface="Arial" pitchFamily="34" charset="-122"/>
                <a:cs typeface="Arial" pitchFamily="34" charset="-120"/>
              </a:rPr>
              <a:t>Capture offline for a full shift.</a:t>
            </a:r>
            <a:endParaRPr lang="en-US" sz="1300" dirty="0"/>
          </a:p>
          <a:p>
            <a:pPr indent="0" marL="0">
              <a:buNone/>
            </a:pPr>
            <a:r>
              <a:rPr lang="en-US" sz="1300" dirty="0">
                <a:solidFill>
                  <a:srgbClr val="183544"/>
                </a:solidFill>
                <a:latin typeface="Arial" pitchFamily="34" charset="0"/>
                <a:ea typeface="Arial" pitchFamily="34" charset="-122"/>
                <a:cs typeface="Arial" pitchFamily="34" charset="-120"/>
              </a:rPr>
              <a:t>Recover photo queues after restart.</a:t>
            </a:r>
            <a:endParaRPr lang="en-US" sz="1300" dirty="0"/>
          </a:p>
          <a:p>
            <a:pPr indent="0" marL="0">
              <a:buNone/>
            </a:pPr>
            <a:r>
              <a:rPr lang="en-US" sz="1300" dirty="0">
                <a:solidFill>
                  <a:srgbClr val="183544"/>
                </a:solidFill>
                <a:latin typeface="Arial" pitchFamily="34" charset="0"/>
                <a:ea typeface="Arial" pitchFamily="34" charset="-122"/>
                <a:cs typeface="Arial" pitchFamily="34" charset="-120"/>
              </a:rPr>
              <a:t>Retry without duplicate orders.</a:t>
            </a:r>
            <a:endParaRPr lang="en-US" sz="1300" dirty="0"/>
          </a:p>
          <a:p>
            <a:pPr indent="0" marL="0">
              <a:buNone/>
            </a:pPr>
            <a:r>
              <a:rPr lang="en-US" sz="1300" dirty="0">
                <a:solidFill>
                  <a:srgbClr val="183544"/>
                </a:solidFill>
                <a:latin typeface="Arial" pitchFamily="34" charset="0"/>
                <a:ea typeface="Arial" pitchFamily="34" charset="-122"/>
                <a:cs typeface="Arial" pitchFamily="34" charset="-120"/>
              </a:rPr>
              <a:t>Test speed on actual field devices.</a:t>
            </a:r>
            <a:endParaRPr lang="en-US" sz="1300" dirty="0"/>
          </a:p>
        </p:txBody>
      </p:sp>
      <p:sp>
        <p:nvSpPr>
          <p:cNvPr id="36" name="Shape 33"/>
          <p:cNvSpPr/>
          <p:nvPr/>
        </p:nvSpPr>
        <p:spPr>
          <a:xfrm>
            <a:off x="8193024" y="4535424"/>
            <a:ext cx="36576" cy="1408176"/>
          </a:xfrm>
          <a:prstGeom prst="rect">
            <a:avLst>
              <a:gd name="adj" fmla="val 150000"/>
            </a:avLst>
          </a:prstGeom>
          <a:solidFill>
            <a:srgbClr val="226B92"/>
          </a:solidFill>
          <a:ln w="10160">
            <a:solidFill>
              <a:srgbClr val="226B92"/>
            </a:solidFill>
            <a:prstDash val="solid"/>
          </a:ln>
        </p:spPr>
      </p:sp>
      <p:sp>
        <p:nvSpPr>
          <p:cNvPr id="37" name="Text 34"/>
          <p:cNvSpPr/>
          <p:nvPr/>
        </p:nvSpPr>
        <p:spPr>
          <a:xfrm>
            <a:off x="8330184" y="4553712"/>
            <a:ext cx="3383280" cy="219456"/>
          </a:xfrm>
          <a:prstGeom prst="rect">
            <a:avLst/>
          </a:prstGeom>
          <a:noFill/>
          <a:ln/>
        </p:spPr>
        <p:txBody>
          <a:bodyPr wrap="square" lIns="0" tIns="0" rIns="0" bIns="0" rtlCol="0" anchor="t"/>
          <a:lstStyle/>
          <a:p>
            <a:pPr indent="0" marL="0">
              <a:buNone/>
            </a:pPr>
            <a:r>
              <a:rPr lang="en-US" sz="1170" b="1" dirty="0">
                <a:solidFill>
                  <a:srgbClr val="226B92"/>
                </a:solidFill>
                <a:latin typeface="Arial" pitchFamily="34" charset="0"/>
                <a:ea typeface="Arial" pitchFamily="34" charset="-122"/>
                <a:cs typeface="Arial" pitchFamily="34" charset="-120"/>
              </a:rPr>
              <a:t>SECURITY + SERVICE</a:t>
            </a:r>
            <a:endParaRPr lang="en-US" sz="1170" dirty="0"/>
          </a:p>
        </p:txBody>
      </p:sp>
      <p:sp>
        <p:nvSpPr>
          <p:cNvPr id="38" name="Text 35"/>
          <p:cNvSpPr/>
          <p:nvPr/>
        </p:nvSpPr>
        <p:spPr>
          <a:xfrm>
            <a:off x="8330184" y="4901184"/>
            <a:ext cx="3364992" cy="969264"/>
          </a:xfrm>
          <a:prstGeom prst="rect">
            <a:avLst/>
          </a:prstGeom>
          <a:noFill/>
          <a:ln/>
        </p:spPr>
        <p:txBody>
          <a:bodyPr wrap="square" lIns="0" tIns="0" rIns="0" bIns="0" rtlCol="0" anchor="t"/>
          <a:lstStyle/>
          <a:p>
            <a:pPr indent="0" marL="0">
              <a:buNone/>
            </a:pPr>
            <a:r>
              <a:rPr lang="en-US" sz="1270" dirty="0">
                <a:solidFill>
                  <a:srgbClr val="183544"/>
                </a:solidFill>
                <a:latin typeface="Arial" pitchFamily="34" charset="0"/>
                <a:ea typeface="Arial" pitchFamily="34" charset="-122"/>
                <a:cs typeface="Arial" pitchFamily="34" charset="-120"/>
              </a:rPr>
              <a:t>Client isolation; encrypted device data.</a:t>
            </a:r>
            <a:endParaRPr lang="en-US" sz="1270" dirty="0"/>
          </a:p>
          <a:p>
            <a:pPr indent="0" marL="0">
              <a:buNone/>
            </a:pPr>
            <a:r>
              <a:rPr lang="en-US" sz="1270" dirty="0">
                <a:solidFill>
                  <a:srgbClr val="183544"/>
                </a:solidFill>
                <a:latin typeface="Arial" pitchFamily="34" charset="0"/>
                <a:ea typeface="Arial" pitchFamily="34" charset="-122"/>
                <a:cs typeface="Arial" pitchFamily="34" charset="-120"/>
              </a:rPr>
              <a:t>Lost-device controls; scoped GPS use.</a:t>
            </a:r>
            <a:endParaRPr lang="en-US" sz="1270" dirty="0"/>
          </a:p>
          <a:p>
            <a:pPr indent="0" marL="0">
              <a:buNone/>
            </a:pPr>
            <a:r>
              <a:rPr lang="en-US" sz="1270" dirty="0">
                <a:solidFill>
                  <a:srgbClr val="183544"/>
                </a:solidFill>
                <a:latin typeface="Arial" pitchFamily="34" charset="0"/>
                <a:ea typeface="Arial" pitchFamily="34" charset="-122"/>
                <a:cs typeface="Arial" pitchFamily="34" charset="-120"/>
              </a:rPr>
              <a:t>Named support and incident SLAs.</a:t>
            </a:r>
            <a:endParaRPr lang="en-US" sz="1270" dirty="0"/>
          </a:p>
          <a:p>
            <a:pPr indent="0" marL="0">
              <a:buNone/>
            </a:pPr>
            <a:r>
              <a:rPr lang="en-US" sz="1270" dirty="0">
                <a:solidFill>
                  <a:srgbClr val="183544"/>
                </a:solidFill>
                <a:latin typeface="Arial" pitchFamily="34" charset="0"/>
                <a:ea typeface="Arial" pitchFamily="34" charset="-122"/>
                <a:cs typeface="Arial" pitchFamily="34" charset="-120"/>
              </a:rPr>
              <a:t>Prove backups and restoration.</a:t>
            </a:r>
            <a:endParaRPr lang="en-US" sz="1270" dirty="0"/>
          </a:p>
        </p:txBody>
      </p:sp>
      <p:sp>
        <p:nvSpPr>
          <p:cNvPr id="39" name="Shape 36"/>
          <p:cNvSpPr/>
          <p:nvPr/>
        </p:nvSpPr>
        <p:spPr>
          <a:xfrm>
            <a:off x="457200" y="6007608"/>
            <a:ext cx="11283696" cy="365760"/>
          </a:xfrm>
          <a:prstGeom prst="rect">
            <a:avLst>
              <a:gd name="adj" fmla="val 15000"/>
            </a:avLst>
          </a:prstGeom>
          <a:solidFill>
            <a:srgbClr val="EAF5F3"/>
          </a:solidFill>
          <a:ln w="10160">
            <a:solidFill>
              <a:srgbClr val="EAF5F3"/>
            </a:solidFill>
            <a:prstDash val="solid"/>
          </a:ln>
        </p:spPr>
      </p:sp>
      <p:sp>
        <p:nvSpPr>
          <p:cNvPr id="40" name="Text 37"/>
          <p:cNvSpPr/>
          <p:nvPr/>
        </p:nvSpPr>
        <p:spPr>
          <a:xfrm>
            <a:off x="621792" y="6117336"/>
            <a:ext cx="10954512" cy="210312"/>
          </a:xfrm>
          <a:prstGeom prst="rect">
            <a:avLst/>
          </a:prstGeom>
          <a:noFill/>
          <a:ln/>
        </p:spPr>
        <p:txBody>
          <a:bodyPr wrap="square" lIns="0" tIns="0" rIns="0" bIns="0" rtlCol="0" anchor="t"/>
          <a:lstStyle/>
          <a:p>
            <a:pPr indent="0" marL="0">
              <a:buNone/>
            </a:pPr>
            <a:r>
              <a:rPr lang="en-US" sz="1240" b="1" dirty="0">
                <a:solidFill>
                  <a:srgbClr val="008782"/>
                </a:solidFill>
                <a:latin typeface="Arial" pitchFamily="34" charset="0"/>
                <a:ea typeface="Arial" pitchFamily="34" charset="-122"/>
                <a:cs typeface="Arial" pitchFamily="34" charset="-120"/>
              </a:rPr>
              <a:t>Geo Rep operates the service; Meridian retains product decisions, data access and release acceptance.</a:t>
            </a:r>
            <a:endParaRPr lang="en-US" sz="12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0"/>
          </a:xfrm>
          <a:prstGeom prst="rect">
            <a:avLst>
              <a:gd name="adj" fmla="val 8571"/>
            </a:avLst>
          </a:prstGeom>
          <a:solidFill>
            <a:srgbClr val="08253D"/>
          </a:solidFill>
          <a:ln w="10160">
            <a:solidFill>
              <a:srgbClr val="08253D"/>
            </a:solidFill>
            <a:prstDash val="solid"/>
          </a:ln>
        </p:spPr>
      </p:sp>
      <p:sp>
        <p:nvSpPr>
          <p:cNvPr id="3" name="Shape 1"/>
          <p:cNvSpPr/>
          <p:nvPr/>
        </p:nvSpPr>
        <p:spPr>
          <a:xfrm>
            <a:off x="0" y="640080"/>
            <a:ext cx="12191695" cy="41148"/>
          </a:xfrm>
          <a:prstGeom prst="rect">
            <a:avLst>
              <a:gd name="adj" fmla="val 133333"/>
            </a:avLst>
          </a:prstGeom>
          <a:solidFill>
            <a:srgbClr val="F37017"/>
          </a:solidFill>
          <a:ln w="10160">
            <a:solidFill>
              <a:srgbClr val="F37017"/>
            </a:solidFill>
            <a:prstDash val="solid"/>
          </a:ln>
        </p:spPr>
      </p:sp>
      <p:pic>
        <p:nvPicPr>
          <p:cNvPr id="4" name="Image 0" descr="C:\Users\PC\MeridianNexus\public\assets\callcycle\meridian.png">    </p:cNvPr>
          <p:cNvPicPr>
            <a:picLocks noChangeAspect="1"/>
          </p:cNvPicPr>
          <p:nvPr/>
        </p:nvPicPr>
        <p:blipFill>
          <a:blip r:embed="rId1"/>
          <a:stretch>
            <a:fillRect/>
          </a:stretch>
        </p:blipFill>
        <p:spPr>
          <a:xfrm>
            <a:off x="420624" y="100584"/>
            <a:ext cx="1306830" cy="448056"/>
          </a:xfrm>
          <a:prstGeom prst="rect">
            <a:avLst/>
          </a:prstGeom>
        </p:spPr>
      </p:pic>
      <p:sp>
        <p:nvSpPr>
          <p:cNvPr id="5" name="Text 2"/>
          <p:cNvSpPr/>
          <p:nvPr/>
        </p:nvSpPr>
        <p:spPr>
          <a:xfrm>
            <a:off x="2194560" y="219456"/>
            <a:ext cx="4800600" cy="210312"/>
          </a:xfrm>
          <a:prstGeom prst="rect">
            <a:avLst/>
          </a:prstGeom>
          <a:noFill/>
          <a:ln/>
        </p:spPr>
        <p:txBody>
          <a:bodyPr wrap="square" lIns="0" tIns="0" rIns="0" bIns="0" rtlCol="0" anchor="t"/>
          <a:lstStyle/>
          <a:p>
            <a:pPr indent="0" marL="0">
              <a:buNone/>
            </a:pPr>
            <a:r>
              <a:rPr lang="en-US" sz="1180" b="1" dirty="0">
                <a:solidFill>
                  <a:srgbClr val="FFFFFF"/>
                </a:solidFill>
                <a:latin typeface="Arial" pitchFamily="34" charset="0"/>
                <a:ea typeface="Arial" pitchFamily="34" charset="-122"/>
                <a:cs typeface="Arial" pitchFamily="34" charset="-120"/>
              </a:rPr>
              <a:t>NEXUS  /  FIELD OPERATIONS</a:t>
            </a:r>
            <a:endParaRPr lang="en-US" sz="1180" dirty="0"/>
          </a:p>
        </p:txBody>
      </p:sp>
      <p:sp>
        <p:nvSpPr>
          <p:cNvPr id="6" name="Text 3"/>
          <p:cNvSpPr/>
          <p:nvPr/>
        </p:nvSpPr>
        <p:spPr>
          <a:xfrm>
            <a:off x="8394192" y="219456"/>
            <a:ext cx="3337560" cy="210312"/>
          </a:xfrm>
          <a:prstGeom prst="rect">
            <a:avLst/>
          </a:prstGeom>
          <a:noFill/>
          <a:ln/>
        </p:spPr>
        <p:txBody>
          <a:bodyPr wrap="square" lIns="0" tIns="0" rIns="0" bIns="0" rtlCol="0" anchor="t"/>
          <a:lstStyle/>
          <a:p>
            <a:pPr algn="r" indent="0" marL="0">
              <a:buNone/>
            </a:pPr>
            <a:r>
              <a:rPr lang="en-US" sz="1060" dirty="0">
                <a:solidFill>
                  <a:srgbClr val="D8E5ED"/>
                </a:solidFill>
                <a:latin typeface="Arial" pitchFamily="34" charset="0"/>
                <a:ea typeface="Arial" pitchFamily="34" charset="-122"/>
                <a:cs typeface="Arial" pitchFamily="34" charset="-120"/>
              </a:rPr>
              <a:t>CEO &amp; MD  |  08 SEPTEMBER 2026</a:t>
            </a:r>
            <a:endParaRPr lang="en-US" sz="1060" dirty="0"/>
          </a:p>
        </p:txBody>
      </p:sp>
      <p:sp>
        <p:nvSpPr>
          <p:cNvPr id="7" name="Text 4"/>
          <p:cNvSpPr/>
          <p:nvPr/>
        </p:nvSpPr>
        <p:spPr>
          <a:xfrm>
            <a:off x="438912" y="886968"/>
            <a:ext cx="11311128" cy="420624"/>
          </a:xfrm>
          <a:prstGeom prst="rect">
            <a:avLst/>
          </a:prstGeom>
          <a:noFill/>
          <a:ln/>
        </p:spPr>
        <p:txBody>
          <a:bodyPr wrap="square" lIns="0" tIns="0" rIns="0" bIns="0" rtlCol="0" anchor="t"/>
          <a:lstStyle/>
          <a:p>
            <a:pPr indent="0" marL="0">
              <a:buNone/>
            </a:pPr>
            <a:r>
              <a:rPr lang="en-US" sz="2800" b="1" dirty="0">
                <a:solidFill>
                  <a:srgbClr val="183544"/>
                </a:solidFill>
                <a:latin typeface="Arial" pitchFamily="34" charset="0"/>
                <a:ea typeface="Arial" pitchFamily="34" charset="-122"/>
                <a:cs typeface="Arial" pitchFamily="34" charset="-120"/>
              </a:rPr>
              <a:t>Catalyst data must drive action in store</a:t>
            </a:r>
            <a:endParaRPr lang="en-US" sz="2800" dirty="0"/>
          </a:p>
        </p:txBody>
      </p:sp>
      <p:sp>
        <p:nvSpPr>
          <p:cNvPr id="8" name="Text 5"/>
          <p:cNvSpPr/>
          <p:nvPr/>
        </p:nvSpPr>
        <p:spPr>
          <a:xfrm>
            <a:off x="457200" y="1408176"/>
            <a:ext cx="11155680" cy="384048"/>
          </a:xfrm>
          <a:prstGeom prst="rect">
            <a:avLst/>
          </a:prstGeom>
          <a:noFill/>
          <a:ln/>
        </p:spPr>
        <p:txBody>
          <a:bodyPr wrap="square" lIns="0" tIns="0" rIns="0" bIns="0" rtlCol="0" anchor="t"/>
          <a:lstStyle/>
          <a:p>
            <a:pPr indent="0" marL="0">
              <a:buNone/>
            </a:pPr>
            <a:r>
              <a:rPr lang="en-US" sz="1380" dirty="0">
                <a:solidFill>
                  <a:srgbClr val="5B6E7B"/>
                </a:solidFill>
                <a:latin typeface="Arial" pitchFamily="34" charset="0"/>
                <a:ea typeface="Arial" pitchFamily="34" charset="-122"/>
                <a:cs typeface="Arial" pitchFamily="34" charset="-120"/>
              </a:rPr>
              <a:t>Retailer sales and inventory identify the issue; the field visit verifies it, resolves it and provides evidence.</a:t>
            </a:r>
            <a:endParaRPr lang="en-US" sz="1380" dirty="0"/>
          </a:p>
        </p:txBody>
      </p:sp>
      <p:sp>
        <p:nvSpPr>
          <p:cNvPr id="9" name="Shape 6"/>
          <p:cNvSpPr/>
          <p:nvPr/>
        </p:nvSpPr>
        <p:spPr>
          <a:xfrm>
            <a:off x="438912" y="6473952"/>
            <a:ext cx="11320272" cy="0"/>
          </a:xfrm>
          <a:prstGeom prst="line">
            <a:avLst/>
          </a:prstGeom>
          <a:noFill/>
          <a:ln w="19050">
            <a:solidFill>
              <a:srgbClr val="D4E0E5"/>
            </a:solidFill>
            <a:prstDash val="solid"/>
          </a:ln>
        </p:spPr>
      </p:sp>
      <p:sp>
        <p:nvSpPr>
          <p:cNvPr id="10" name="Text 7"/>
          <p:cNvSpPr/>
          <p:nvPr/>
        </p:nvSpPr>
        <p:spPr>
          <a:xfrm>
            <a:off x="11064240" y="6537960"/>
            <a:ext cx="676656" cy="228600"/>
          </a:xfrm>
          <a:prstGeom prst="rect">
            <a:avLst/>
          </a:prstGeom>
          <a:noFill/>
          <a:ln/>
        </p:spPr>
        <p:txBody>
          <a:bodyPr wrap="square" lIns="0" tIns="0" rIns="0" bIns="0" rtlCol="0" anchor="t"/>
          <a:lstStyle/>
          <a:p>
            <a:pPr algn="r" indent="0" marL="0">
              <a:buNone/>
            </a:pPr>
            <a:r>
              <a:rPr lang="en-US" sz="1150" b="1" dirty="0">
                <a:solidFill>
                  <a:srgbClr val="183544"/>
                </a:solidFill>
                <a:latin typeface="Arial" pitchFamily="34" charset="0"/>
                <a:ea typeface="Arial" pitchFamily="34" charset="-122"/>
                <a:cs typeface="Arial" pitchFamily="34" charset="-120"/>
              </a:rPr>
              <a:t>3 / 3</a:t>
            </a:r>
            <a:endParaRPr lang="en-US" sz="1150" dirty="0"/>
          </a:p>
        </p:txBody>
      </p:sp>
      <p:sp>
        <p:nvSpPr>
          <p:cNvPr id="11" name="Shape 8"/>
          <p:cNvSpPr/>
          <p:nvPr/>
        </p:nvSpPr>
        <p:spPr>
          <a:xfrm>
            <a:off x="457200" y="2322576"/>
            <a:ext cx="2176272" cy="1197864"/>
          </a:xfrm>
          <a:prstGeom prst="rect">
            <a:avLst>
              <a:gd name="adj" fmla="val 4580"/>
            </a:avLst>
          </a:prstGeom>
          <a:solidFill>
            <a:srgbClr val="FFF3E9"/>
          </a:solidFill>
          <a:ln w="10160">
            <a:solidFill>
              <a:srgbClr val="D4E0E5"/>
            </a:solidFill>
            <a:prstDash val="solid"/>
          </a:ln>
        </p:spPr>
      </p:sp>
      <p:sp>
        <p:nvSpPr>
          <p:cNvPr id="12" name="Text 9"/>
          <p:cNvSpPr/>
          <p:nvPr/>
        </p:nvSpPr>
        <p:spPr>
          <a:xfrm>
            <a:off x="603504" y="2532888"/>
            <a:ext cx="1901952" cy="228600"/>
          </a:xfrm>
          <a:prstGeom prst="rect">
            <a:avLst/>
          </a:prstGeom>
          <a:noFill/>
          <a:ln/>
        </p:spPr>
        <p:txBody>
          <a:bodyPr wrap="square" lIns="0" tIns="0" rIns="0" bIns="0" rtlCol="0" anchor="t"/>
          <a:lstStyle/>
          <a:p>
            <a:pPr indent="0" marL="0">
              <a:buNone/>
            </a:pPr>
            <a:r>
              <a:rPr lang="en-US" sz="1330" b="1" dirty="0">
                <a:solidFill>
                  <a:srgbClr val="F37017"/>
                </a:solidFill>
                <a:latin typeface="Arial" pitchFamily="34" charset="0"/>
                <a:ea typeface="Arial" pitchFamily="34" charset="-122"/>
                <a:cs typeface="Arial" pitchFamily="34" charset="-120"/>
              </a:rPr>
              <a:t>RETAILERS</a:t>
            </a:r>
            <a:endParaRPr lang="en-US" sz="1330" dirty="0"/>
          </a:p>
        </p:txBody>
      </p:sp>
      <p:sp>
        <p:nvSpPr>
          <p:cNvPr id="13" name="Text 10"/>
          <p:cNvSpPr/>
          <p:nvPr/>
        </p:nvSpPr>
        <p:spPr>
          <a:xfrm>
            <a:off x="603504" y="2953512"/>
            <a:ext cx="1901952" cy="402336"/>
          </a:xfrm>
          <a:prstGeom prst="rect">
            <a:avLst/>
          </a:prstGeom>
          <a:noFill/>
          <a:ln/>
        </p:spPr>
        <p:txBody>
          <a:bodyPr wrap="square" lIns="0" tIns="0" rIns="0" bIns="0" rtlCol="0" anchor="t"/>
          <a:lstStyle/>
          <a:p>
            <a:pPr indent="0" marL="0">
              <a:buNone/>
            </a:pPr>
            <a:r>
              <a:rPr lang="en-US" sz="1160" dirty="0">
                <a:solidFill>
                  <a:srgbClr val="183544"/>
                </a:solidFill>
                <a:latin typeface="Arial" pitchFamily="34" charset="0"/>
                <a:ea typeface="Arial" pitchFamily="34" charset="-122"/>
                <a:cs typeface="Arial" pitchFamily="34" charset="-120"/>
              </a:rPr>
              <a:t>Clicks, Shoprite + others</a:t>
            </a:r>
            <a:endParaRPr lang="en-US" sz="1160" dirty="0"/>
          </a:p>
          <a:p>
            <a:pPr indent="0" marL="0">
              <a:buNone/>
            </a:pPr>
            <a:r>
              <a:rPr lang="en-US" sz="1160" dirty="0">
                <a:solidFill>
                  <a:srgbClr val="183544"/>
                </a:solidFill>
                <a:latin typeface="Arial" pitchFamily="34" charset="0"/>
                <a:ea typeface="Arial" pitchFamily="34" charset="-122"/>
                <a:cs typeface="Arial" pitchFamily="34" charset="-120"/>
              </a:rPr>
              <a:t>Sales + inventory exports</a:t>
            </a:r>
            <a:endParaRPr lang="en-US" sz="1160" dirty="0"/>
          </a:p>
        </p:txBody>
      </p:sp>
      <p:sp>
        <p:nvSpPr>
          <p:cNvPr id="14" name="Shape 11"/>
          <p:cNvSpPr/>
          <p:nvPr/>
        </p:nvSpPr>
        <p:spPr>
          <a:xfrm>
            <a:off x="2999232" y="2322576"/>
            <a:ext cx="2350008" cy="1197864"/>
          </a:xfrm>
          <a:prstGeom prst="rect">
            <a:avLst>
              <a:gd name="adj" fmla="val 4580"/>
            </a:avLst>
          </a:prstGeom>
          <a:solidFill>
            <a:srgbClr val="F2F6F8"/>
          </a:solidFill>
          <a:ln w="10160">
            <a:solidFill>
              <a:srgbClr val="D4E0E5"/>
            </a:solidFill>
            <a:prstDash val="solid"/>
          </a:ln>
        </p:spPr>
      </p:sp>
      <p:sp>
        <p:nvSpPr>
          <p:cNvPr id="15" name="Text 12"/>
          <p:cNvSpPr/>
          <p:nvPr/>
        </p:nvSpPr>
        <p:spPr>
          <a:xfrm>
            <a:off x="3145536" y="2532888"/>
            <a:ext cx="2075688" cy="228600"/>
          </a:xfrm>
          <a:prstGeom prst="rect">
            <a:avLst/>
          </a:prstGeom>
          <a:noFill/>
          <a:ln/>
        </p:spPr>
        <p:txBody>
          <a:bodyPr wrap="square" lIns="0" tIns="0" rIns="0" bIns="0" rtlCol="0" anchor="t"/>
          <a:lstStyle/>
          <a:p>
            <a:pPr indent="0" marL="0">
              <a:buNone/>
            </a:pPr>
            <a:r>
              <a:rPr lang="en-US" sz="1330" b="1" dirty="0">
                <a:solidFill>
                  <a:srgbClr val="226B92"/>
                </a:solidFill>
                <a:latin typeface="Arial" pitchFamily="34" charset="0"/>
                <a:ea typeface="Arial" pitchFamily="34" charset="-122"/>
                <a:cs typeface="Arial" pitchFamily="34" charset="-120"/>
              </a:rPr>
              <a:t>CATALYST  |  AWS</a:t>
            </a:r>
            <a:endParaRPr lang="en-US" sz="1330" dirty="0"/>
          </a:p>
        </p:txBody>
      </p:sp>
      <p:sp>
        <p:nvSpPr>
          <p:cNvPr id="16" name="Text 13"/>
          <p:cNvSpPr/>
          <p:nvPr/>
        </p:nvSpPr>
        <p:spPr>
          <a:xfrm>
            <a:off x="3145536" y="2953512"/>
            <a:ext cx="2075688" cy="402336"/>
          </a:xfrm>
          <a:prstGeom prst="rect">
            <a:avLst/>
          </a:prstGeom>
          <a:noFill/>
          <a:ln/>
        </p:spPr>
        <p:txBody>
          <a:bodyPr wrap="square" lIns="0" tIns="0" rIns="0" bIns="0" rtlCol="0" anchor="t"/>
          <a:lstStyle/>
          <a:p>
            <a:pPr indent="0" marL="0">
              <a:buNone/>
            </a:pPr>
            <a:r>
              <a:rPr lang="en-US" sz="1160" dirty="0">
                <a:solidFill>
                  <a:srgbClr val="183544"/>
                </a:solidFill>
                <a:latin typeface="Arial" pitchFamily="34" charset="0"/>
                <a:ea typeface="Arial" pitchFamily="34" charset="-122"/>
                <a:cs typeface="Arial" pitchFamily="34" charset="-120"/>
              </a:rPr>
              <a:t>External service provider</a:t>
            </a:r>
            <a:endParaRPr lang="en-US" sz="1160" dirty="0"/>
          </a:p>
          <a:p>
            <a:pPr indent="0" marL="0">
              <a:buNone/>
            </a:pPr>
            <a:r>
              <a:rPr lang="en-US" sz="1160" dirty="0">
                <a:solidFill>
                  <a:srgbClr val="183544"/>
                </a:solidFill>
                <a:latin typeface="Arial" pitchFamily="34" charset="0"/>
                <a:ea typeface="Arial" pitchFamily="34" charset="-122"/>
                <a:cs typeface="Arial" pitchFamily="34" charset="-120"/>
              </a:rPr>
              <a:t>API access pending</a:t>
            </a:r>
            <a:endParaRPr lang="en-US" sz="1160" dirty="0"/>
          </a:p>
        </p:txBody>
      </p:sp>
      <p:sp>
        <p:nvSpPr>
          <p:cNvPr id="17" name="Shape 14"/>
          <p:cNvSpPr/>
          <p:nvPr/>
        </p:nvSpPr>
        <p:spPr>
          <a:xfrm>
            <a:off x="5715000" y="2322576"/>
            <a:ext cx="2578608" cy="1197864"/>
          </a:xfrm>
          <a:prstGeom prst="rect">
            <a:avLst>
              <a:gd name="adj" fmla="val 4580"/>
            </a:avLst>
          </a:prstGeom>
          <a:solidFill>
            <a:srgbClr val="EAF5F3"/>
          </a:solidFill>
          <a:ln w="10160">
            <a:solidFill>
              <a:srgbClr val="D4E0E5"/>
            </a:solidFill>
            <a:prstDash val="solid"/>
          </a:ln>
        </p:spPr>
      </p:sp>
      <p:sp>
        <p:nvSpPr>
          <p:cNvPr id="18" name="Text 15"/>
          <p:cNvSpPr/>
          <p:nvPr/>
        </p:nvSpPr>
        <p:spPr>
          <a:xfrm>
            <a:off x="5861304" y="2532888"/>
            <a:ext cx="2304288" cy="228600"/>
          </a:xfrm>
          <a:prstGeom prst="rect">
            <a:avLst/>
          </a:prstGeom>
          <a:noFill/>
          <a:ln/>
        </p:spPr>
        <p:txBody>
          <a:bodyPr wrap="square" lIns="0" tIns="0" rIns="0" bIns="0" rtlCol="0" anchor="t"/>
          <a:lstStyle/>
          <a:p>
            <a:pPr indent="0" marL="0">
              <a:buNone/>
            </a:pPr>
            <a:r>
              <a:rPr lang="en-US" sz="1330" b="1" dirty="0">
                <a:solidFill>
                  <a:srgbClr val="008782"/>
                </a:solidFill>
                <a:latin typeface="Arial" pitchFamily="34" charset="0"/>
                <a:ea typeface="Arial" pitchFamily="34" charset="-122"/>
                <a:cs typeface="Arial" pitchFamily="34" charset="-120"/>
              </a:rPr>
              <a:t>NEXUS  |  AWS</a:t>
            </a:r>
            <a:endParaRPr lang="en-US" sz="1330" dirty="0"/>
          </a:p>
        </p:txBody>
      </p:sp>
      <p:sp>
        <p:nvSpPr>
          <p:cNvPr id="19" name="Text 16"/>
          <p:cNvSpPr/>
          <p:nvPr/>
        </p:nvSpPr>
        <p:spPr>
          <a:xfrm>
            <a:off x="5861304" y="2953512"/>
            <a:ext cx="2304288" cy="402336"/>
          </a:xfrm>
          <a:prstGeom prst="rect">
            <a:avLst/>
          </a:prstGeom>
          <a:noFill/>
          <a:ln/>
        </p:spPr>
        <p:txBody>
          <a:bodyPr wrap="square" lIns="0" tIns="0" rIns="0" bIns="0" rtlCol="0" anchor="t"/>
          <a:lstStyle/>
          <a:p>
            <a:pPr indent="0" marL="0">
              <a:buNone/>
            </a:pPr>
            <a:r>
              <a:rPr lang="en-US" sz="1160" dirty="0">
                <a:solidFill>
                  <a:srgbClr val="183544"/>
                </a:solidFill>
                <a:latin typeface="Arial" pitchFamily="34" charset="0"/>
                <a:ea typeface="Arial" pitchFamily="34" charset="-122"/>
                <a:cs typeface="Arial" pitchFamily="34" charset="-120"/>
              </a:rPr>
              <a:t>Validate store / product data</a:t>
            </a:r>
            <a:endParaRPr lang="en-US" sz="1160" dirty="0"/>
          </a:p>
          <a:p>
            <a:pPr indent="0" marL="0">
              <a:buNone/>
            </a:pPr>
            <a:r>
              <a:rPr lang="en-US" sz="1160" dirty="0">
                <a:solidFill>
                  <a:srgbClr val="183544"/>
                </a:solidFill>
                <a:latin typeface="Arial" pitchFamily="34" charset="0"/>
                <a:ea typeface="Arial" pitchFamily="34" charset="-122"/>
                <a:cs typeface="Arial" pitchFamily="34" charset="-120"/>
              </a:rPr>
              <a:t>Insights + Stock Fix priorities</a:t>
            </a:r>
            <a:endParaRPr lang="en-US" sz="1160" dirty="0"/>
          </a:p>
        </p:txBody>
      </p:sp>
      <p:sp>
        <p:nvSpPr>
          <p:cNvPr id="20" name="Shape 17"/>
          <p:cNvSpPr/>
          <p:nvPr/>
        </p:nvSpPr>
        <p:spPr>
          <a:xfrm>
            <a:off x="8659368" y="2322576"/>
            <a:ext cx="3081528" cy="1197864"/>
          </a:xfrm>
          <a:prstGeom prst="rect">
            <a:avLst>
              <a:gd name="adj" fmla="val 4580"/>
            </a:avLst>
          </a:prstGeom>
          <a:solidFill>
            <a:srgbClr val="FFF3E9"/>
          </a:solidFill>
          <a:ln w="10160">
            <a:solidFill>
              <a:srgbClr val="D4E0E5"/>
            </a:solidFill>
            <a:prstDash val="solid"/>
          </a:ln>
        </p:spPr>
      </p:sp>
      <p:sp>
        <p:nvSpPr>
          <p:cNvPr id="21" name="Text 18"/>
          <p:cNvSpPr/>
          <p:nvPr/>
        </p:nvSpPr>
        <p:spPr>
          <a:xfrm>
            <a:off x="8805672" y="2532888"/>
            <a:ext cx="2807208" cy="228600"/>
          </a:xfrm>
          <a:prstGeom prst="rect">
            <a:avLst/>
          </a:prstGeom>
          <a:noFill/>
          <a:ln/>
        </p:spPr>
        <p:txBody>
          <a:bodyPr wrap="square" lIns="0" tIns="0" rIns="0" bIns="0" rtlCol="0" anchor="t"/>
          <a:lstStyle/>
          <a:p>
            <a:pPr indent="0" marL="0">
              <a:buNone/>
            </a:pPr>
            <a:r>
              <a:rPr lang="en-US" sz="1330" b="1" dirty="0">
                <a:solidFill>
                  <a:srgbClr val="F37017"/>
                </a:solidFill>
                <a:latin typeface="Arial" pitchFamily="34" charset="0"/>
                <a:ea typeface="Arial" pitchFamily="34" charset="-122"/>
                <a:cs typeface="Arial" pitchFamily="34" charset="-120"/>
              </a:rPr>
              <a:t>FIELD EXECUTION</a:t>
            </a:r>
            <a:endParaRPr lang="en-US" sz="1330" dirty="0"/>
          </a:p>
        </p:txBody>
      </p:sp>
      <p:sp>
        <p:nvSpPr>
          <p:cNvPr id="22" name="Text 19"/>
          <p:cNvSpPr/>
          <p:nvPr/>
        </p:nvSpPr>
        <p:spPr>
          <a:xfrm>
            <a:off x="8805672" y="2953512"/>
            <a:ext cx="2807208" cy="402336"/>
          </a:xfrm>
          <a:prstGeom prst="rect">
            <a:avLst/>
          </a:prstGeom>
          <a:noFill/>
          <a:ln/>
        </p:spPr>
        <p:txBody>
          <a:bodyPr wrap="square" lIns="0" tIns="0" rIns="0" bIns="0" rtlCol="0" anchor="t"/>
          <a:lstStyle/>
          <a:p>
            <a:pPr indent="0" marL="0">
              <a:buNone/>
            </a:pPr>
            <a:r>
              <a:rPr lang="en-US" sz="1160" dirty="0">
                <a:solidFill>
                  <a:srgbClr val="183544"/>
                </a:solidFill>
                <a:latin typeface="Arial" pitchFamily="34" charset="0"/>
                <a:ea typeface="Arial" pitchFamily="34" charset="-122"/>
                <a:cs typeface="Arial" pitchFamily="34" charset="-120"/>
              </a:rPr>
              <a:t>Task, shelf check and photo proof</a:t>
            </a:r>
            <a:endParaRPr lang="en-US" sz="1160" dirty="0"/>
          </a:p>
          <a:p>
            <a:pPr indent="0" marL="0">
              <a:buNone/>
            </a:pPr>
            <a:r>
              <a:rPr lang="en-US" sz="1160" dirty="0">
                <a:solidFill>
                  <a:srgbClr val="183544"/>
                </a:solidFill>
                <a:latin typeface="Arial" pitchFamily="34" charset="0"/>
                <a:ea typeface="Arial" pitchFamily="34" charset="-122"/>
                <a:cs typeface="Arial" pitchFamily="34" charset="-120"/>
              </a:rPr>
              <a:t>Manager confirms closure</a:t>
            </a:r>
            <a:endParaRPr lang="en-US" sz="1160" dirty="0"/>
          </a:p>
        </p:txBody>
      </p:sp>
      <p:sp>
        <p:nvSpPr>
          <p:cNvPr id="23" name="Text 20"/>
          <p:cNvSpPr/>
          <p:nvPr/>
        </p:nvSpPr>
        <p:spPr>
          <a:xfrm>
            <a:off x="466344" y="1975104"/>
            <a:ext cx="2468880" cy="219456"/>
          </a:xfrm>
          <a:prstGeom prst="rect">
            <a:avLst/>
          </a:prstGeom>
          <a:noFill/>
          <a:ln/>
        </p:spPr>
        <p:txBody>
          <a:bodyPr wrap="square" lIns="0" tIns="0" rIns="0" bIns="0" rtlCol="0" anchor="t"/>
          <a:lstStyle/>
          <a:p>
            <a:pPr indent="0" marL="0">
              <a:buNone/>
            </a:pPr>
            <a:r>
              <a:rPr lang="en-US" sz="1170" b="1" dirty="0">
                <a:solidFill>
                  <a:srgbClr val="5B6E7B"/>
                </a:solidFill>
                <a:latin typeface="Arial" pitchFamily="34" charset="0"/>
                <a:ea typeface="Arial" pitchFamily="34" charset="-122"/>
                <a:cs typeface="Arial" pitchFamily="34" charset="-120"/>
              </a:rPr>
              <a:t>RETAILER SOURCE</a:t>
            </a:r>
            <a:endParaRPr lang="en-US" sz="1170" dirty="0"/>
          </a:p>
        </p:txBody>
      </p:sp>
      <p:sp>
        <p:nvSpPr>
          <p:cNvPr id="24" name="Text 21"/>
          <p:cNvSpPr/>
          <p:nvPr/>
        </p:nvSpPr>
        <p:spPr>
          <a:xfrm>
            <a:off x="3008376" y="1975104"/>
            <a:ext cx="2514600" cy="219456"/>
          </a:xfrm>
          <a:prstGeom prst="rect">
            <a:avLst/>
          </a:prstGeom>
          <a:noFill/>
          <a:ln/>
        </p:spPr>
        <p:txBody>
          <a:bodyPr wrap="square" lIns="0" tIns="0" rIns="0" bIns="0" rtlCol="0" anchor="t"/>
          <a:lstStyle/>
          <a:p>
            <a:pPr indent="0" marL="0">
              <a:buNone/>
            </a:pPr>
            <a:r>
              <a:rPr lang="en-US" sz="1170" b="1" dirty="0">
                <a:solidFill>
                  <a:srgbClr val="5B6E7B"/>
                </a:solidFill>
                <a:latin typeface="Arial" pitchFamily="34" charset="0"/>
                <a:ea typeface="Arial" pitchFamily="34" charset="-122"/>
                <a:cs typeface="Arial" pitchFamily="34" charset="-120"/>
              </a:rPr>
              <a:t>SUPPLIER BOUNDARY</a:t>
            </a:r>
            <a:endParaRPr lang="en-US" sz="1170" dirty="0"/>
          </a:p>
        </p:txBody>
      </p:sp>
      <p:sp>
        <p:nvSpPr>
          <p:cNvPr id="25" name="Text 22"/>
          <p:cNvSpPr/>
          <p:nvPr/>
        </p:nvSpPr>
        <p:spPr>
          <a:xfrm>
            <a:off x="5724144" y="1975104"/>
            <a:ext cx="2743200" cy="219456"/>
          </a:xfrm>
          <a:prstGeom prst="rect">
            <a:avLst/>
          </a:prstGeom>
          <a:noFill/>
          <a:ln/>
        </p:spPr>
        <p:txBody>
          <a:bodyPr wrap="square" lIns="0" tIns="0" rIns="0" bIns="0" rtlCol="0" anchor="t"/>
          <a:lstStyle/>
          <a:p>
            <a:pPr indent="0" marL="0">
              <a:buNone/>
            </a:pPr>
            <a:r>
              <a:rPr lang="en-US" sz="1170" b="1" dirty="0">
                <a:solidFill>
                  <a:srgbClr val="5B6E7B"/>
                </a:solidFill>
                <a:latin typeface="Arial" pitchFamily="34" charset="0"/>
                <a:ea typeface="Arial" pitchFamily="34" charset="-122"/>
                <a:cs typeface="Arial" pitchFamily="34" charset="-120"/>
              </a:rPr>
              <a:t>MERIDIAN BUSINESS RULES</a:t>
            </a:r>
            <a:endParaRPr lang="en-US" sz="1170" dirty="0"/>
          </a:p>
        </p:txBody>
      </p:sp>
      <p:sp>
        <p:nvSpPr>
          <p:cNvPr id="26" name="Text 23"/>
          <p:cNvSpPr/>
          <p:nvPr/>
        </p:nvSpPr>
        <p:spPr>
          <a:xfrm>
            <a:off x="8668512" y="1975104"/>
            <a:ext cx="3081528" cy="219456"/>
          </a:xfrm>
          <a:prstGeom prst="rect">
            <a:avLst/>
          </a:prstGeom>
          <a:noFill/>
          <a:ln/>
        </p:spPr>
        <p:txBody>
          <a:bodyPr wrap="square" lIns="0" tIns="0" rIns="0" bIns="0" rtlCol="0" anchor="t"/>
          <a:lstStyle/>
          <a:p>
            <a:pPr indent="0" marL="0">
              <a:buNone/>
            </a:pPr>
            <a:r>
              <a:rPr lang="en-US" sz="1170" b="1" dirty="0">
                <a:solidFill>
                  <a:srgbClr val="5B6E7B"/>
                </a:solidFill>
                <a:latin typeface="Arial" pitchFamily="34" charset="0"/>
                <a:ea typeface="Arial" pitchFamily="34" charset="-122"/>
                <a:cs typeface="Arial" pitchFamily="34" charset="-120"/>
              </a:rPr>
              <a:t>GEO REP MOBILE / NEXUS FIELD</a:t>
            </a:r>
            <a:endParaRPr lang="en-US" sz="1170" dirty="0"/>
          </a:p>
        </p:txBody>
      </p:sp>
      <p:sp>
        <p:nvSpPr>
          <p:cNvPr id="27" name="Shape 24"/>
          <p:cNvSpPr/>
          <p:nvPr/>
        </p:nvSpPr>
        <p:spPr>
          <a:xfrm>
            <a:off x="2656332" y="2907792"/>
            <a:ext cx="310896" cy="0"/>
          </a:xfrm>
          <a:prstGeom prst="line">
            <a:avLst/>
          </a:prstGeom>
          <a:noFill/>
          <a:ln w="19050">
            <a:solidFill>
              <a:srgbClr val="226B92"/>
            </a:solidFill>
            <a:prstDash val="solid"/>
            <a:tailEnd type="triangle"/>
          </a:ln>
        </p:spPr>
      </p:sp>
      <p:sp>
        <p:nvSpPr>
          <p:cNvPr id="28" name="Shape 25"/>
          <p:cNvSpPr/>
          <p:nvPr/>
        </p:nvSpPr>
        <p:spPr>
          <a:xfrm>
            <a:off x="5372100" y="2907792"/>
            <a:ext cx="310896" cy="0"/>
          </a:xfrm>
          <a:prstGeom prst="line">
            <a:avLst/>
          </a:prstGeom>
          <a:noFill/>
          <a:ln w="19050">
            <a:solidFill>
              <a:srgbClr val="226B92"/>
            </a:solidFill>
            <a:prstDash val="solid"/>
            <a:tailEnd type="triangle"/>
          </a:ln>
        </p:spPr>
      </p:sp>
      <p:sp>
        <p:nvSpPr>
          <p:cNvPr id="29" name="Shape 26"/>
          <p:cNvSpPr/>
          <p:nvPr/>
        </p:nvSpPr>
        <p:spPr>
          <a:xfrm>
            <a:off x="8316468" y="2907792"/>
            <a:ext cx="310896" cy="0"/>
          </a:xfrm>
          <a:prstGeom prst="line">
            <a:avLst/>
          </a:prstGeom>
          <a:noFill/>
          <a:ln w="19050">
            <a:solidFill>
              <a:srgbClr val="226B92"/>
            </a:solidFill>
            <a:prstDash val="solid"/>
            <a:tailEnd type="triangle"/>
          </a:ln>
        </p:spPr>
      </p:sp>
      <p:sp>
        <p:nvSpPr>
          <p:cNvPr id="30" name="Shape 27"/>
          <p:cNvSpPr/>
          <p:nvPr/>
        </p:nvSpPr>
        <p:spPr>
          <a:xfrm>
            <a:off x="10149840" y="3557016"/>
            <a:ext cx="0" cy="256032"/>
          </a:xfrm>
          <a:prstGeom prst="line">
            <a:avLst/>
          </a:prstGeom>
          <a:noFill/>
          <a:ln w="19050">
            <a:solidFill>
              <a:srgbClr val="008782"/>
            </a:solidFill>
            <a:prstDash val="solid"/>
          </a:ln>
        </p:spPr>
      </p:sp>
      <p:sp>
        <p:nvSpPr>
          <p:cNvPr id="31" name="Shape 28"/>
          <p:cNvSpPr/>
          <p:nvPr/>
        </p:nvSpPr>
        <p:spPr>
          <a:xfrm flipH="1">
            <a:off x="7031736" y="3813048"/>
            <a:ext cx="3118104" cy="0"/>
          </a:xfrm>
          <a:prstGeom prst="line">
            <a:avLst/>
          </a:prstGeom>
          <a:noFill/>
          <a:ln w="19050">
            <a:solidFill>
              <a:srgbClr val="008782"/>
            </a:solidFill>
            <a:prstDash val="solid"/>
            <a:tailEnd type="triangle"/>
          </a:ln>
        </p:spPr>
      </p:sp>
      <p:sp>
        <p:nvSpPr>
          <p:cNvPr id="32" name="Text 29"/>
          <p:cNvSpPr/>
          <p:nvPr/>
        </p:nvSpPr>
        <p:spPr>
          <a:xfrm>
            <a:off x="7799832" y="3931920"/>
            <a:ext cx="3694176" cy="210312"/>
          </a:xfrm>
          <a:prstGeom prst="rect">
            <a:avLst/>
          </a:prstGeom>
          <a:noFill/>
          <a:ln/>
        </p:spPr>
        <p:txBody>
          <a:bodyPr wrap="square" lIns="0" tIns="0" rIns="0" bIns="0" rtlCol="0" anchor="t"/>
          <a:lstStyle/>
          <a:p>
            <a:pPr indent="0" marL="0">
              <a:buNone/>
            </a:pPr>
            <a:r>
              <a:rPr lang="en-US" sz="1110" dirty="0">
                <a:solidFill>
                  <a:srgbClr val="008782"/>
                </a:solidFill>
                <a:latin typeface="Arial" pitchFamily="34" charset="0"/>
                <a:ea typeface="Arial" pitchFamily="34" charset="-122"/>
                <a:cs typeface="Arial" pitchFamily="34" charset="-120"/>
              </a:rPr>
              <a:t>Completion evidence returns to Nexus</a:t>
            </a:r>
            <a:endParaRPr lang="en-US" sz="1110" dirty="0"/>
          </a:p>
        </p:txBody>
      </p:sp>
      <p:sp>
        <p:nvSpPr>
          <p:cNvPr id="33" name="Text 30"/>
          <p:cNvSpPr/>
          <p:nvPr/>
        </p:nvSpPr>
        <p:spPr>
          <a:xfrm>
            <a:off x="484632" y="4069080"/>
            <a:ext cx="7059168" cy="338328"/>
          </a:xfrm>
          <a:prstGeom prst="rect">
            <a:avLst/>
          </a:prstGeom>
          <a:noFill/>
          <a:ln/>
        </p:spPr>
        <p:txBody>
          <a:bodyPr wrap="square" lIns="0" tIns="0" rIns="0" bIns="0" rtlCol="0" anchor="t"/>
          <a:lstStyle/>
          <a:p>
            <a:pPr indent="0" marL="0">
              <a:buNone/>
            </a:pPr>
            <a:r>
              <a:rPr lang="en-US" sz="1190" dirty="0">
                <a:solidFill>
                  <a:srgbClr val="5B6E7B"/>
                </a:solidFill>
                <a:latin typeface="Arial" pitchFamily="34" charset="0"/>
                <a:ea typeface="Arial" pitchFamily="34" charset="-122"/>
                <a:cs typeface="Arial" pitchFamily="34" charset="-120"/>
              </a:rPr>
              <a:t>Retailer sell-out is not rep-captured orders. Show source dates; daily feeds are not real-time.</a:t>
            </a:r>
            <a:endParaRPr lang="en-US" sz="1190" dirty="0"/>
          </a:p>
        </p:txBody>
      </p:sp>
      <p:sp>
        <p:nvSpPr>
          <p:cNvPr id="34" name="Shape 31"/>
          <p:cNvSpPr/>
          <p:nvPr/>
        </p:nvSpPr>
        <p:spPr>
          <a:xfrm>
            <a:off x="457200" y="4553712"/>
            <a:ext cx="36576" cy="1408176"/>
          </a:xfrm>
          <a:prstGeom prst="rect">
            <a:avLst>
              <a:gd name="adj" fmla="val 150000"/>
            </a:avLst>
          </a:prstGeom>
          <a:solidFill>
            <a:srgbClr val="F37017"/>
          </a:solidFill>
          <a:ln w="10160">
            <a:solidFill>
              <a:srgbClr val="F37017"/>
            </a:solidFill>
            <a:prstDash val="solid"/>
          </a:ln>
        </p:spPr>
      </p:sp>
      <p:sp>
        <p:nvSpPr>
          <p:cNvPr id="35" name="Text 32"/>
          <p:cNvSpPr/>
          <p:nvPr/>
        </p:nvSpPr>
        <p:spPr>
          <a:xfrm>
            <a:off x="594360" y="4572000"/>
            <a:ext cx="3438144" cy="219456"/>
          </a:xfrm>
          <a:prstGeom prst="rect">
            <a:avLst/>
          </a:prstGeom>
          <a:noFill/>
          <a:ln/>
        </p:spPr>
        <p:txBody>
          <a:bodyPr wrap="square" lIns="0" tIns="0" rIns="0" bIns="0" rtlCol="0" anchor="t"/>
          <a:lstStyle/>
          <a:p>
            <a:pPr indent="0" marL="0">
              <a:buNone/>
            </a:pPr>
            <a:r>
              <a:rPr lang="en-US" sz="1170" b="1" dirty="0">
                <a:solidFill>
                  <a:srgbClr val="F37017"/>
                </a:solidFill>
                <a:latin typeface="Arial" pitchFamily="34" charset="0"/>
                <a:ea typeface="Arial" pitchFamily="34" charset="-122"/>
                <a:cs typeface="Arial" pitchFamily="34" charset="-120"/>
              </a:rPr>
              <a:t>BENEFITS + RISKS</a:t>
            </a:r>
            <a:endParaRPr lang="en-US" sz="1170" dirty="0"/>
          </a:p>
        </p:txBody>
      </p:sp>
      <p:sp>
        <p:nvSpPr>
          <p:cNvPr id="36" name="Text 33"/>
          <p:cNvSpPr/>
          <p:nvPr/>
        </p:nvSpPr>
        <p:spPr>
          <a:xfrm>
            <a:off x="594360" y="4919472"/>
            <a:ext cx="3419856" cy="950976"/>
          </a:xfrm>
          <a:prstGeom prst="rect">
            <a:avLst/>
          </a:prstGeom>
          <a:noFill/>
          <a:ln/>
        </p:spPr>
        <p:txBody>
          <a:bodyPr wrap="square" lIns="0" tIns="0" rIns="0" bIns="0" rtlCol="0" anchor="t"/>
          <a:lstStyle/>
          <a:p>
            <a:pPr indent="0" marL="0">
              <a:buNone/>
            </a:pPr>
            <a:r>
              <a:rPr lang="en-US" sz="1260" dirty="0">
                <a:solidFill>
                  <a:srgbClr val="183544"/>
                </a:solidFill>
                <a:latin typeface="Arial" pitchFamily="34" charset="0"/>
                <a:ea typeface="Arial" pitchFamily="34" charset="-122"/>
                <a:cs typeface="Arial" pitchFamily="34" charset="-120"/>
              </a:rPr>
              <a:t>Focus visits on stock and sales gaps.</a:t>
            </a:r>
            <a:endParaRPr lang="en-US" sz="1260" dirty="0"/>
          </a:p>
          <a:p>
            <a:pPr indent="0" marL="0">
              <a:buNone/>
            </a:pPr>
            <a:r>
              <a:rPr lang="en-US" sz="1260" dirty="0">
                <a:solidFill>
                  <a:srgbClr val="183544"/>
                </a:solidFill>
                <a:latin typeface="Arial" pitchFamily="34" charset="0"/>
                <a:ea typeface="Arial" pitchFamily="34" charset="-122"/>
                <a:cs typeface="Arial" pitchFamily="34" charset="-120"/>
              </a:rPr>
              <a:t>Risk: stale feeds, retailer access</a:t>
            </a:r>
            <a:endParaRPr lang="en-US" sz="1260" dirty="0"/>
          </a:p>
          <a:p>
            <a:pPr indent="0" marL="0">
              <a:buNone/>
            </a:pPr>
            <a:r>
              <a:rPr lang="en-US" sz="1260" dirty="0">
                <a:solidFill>
                  <a:srgbClr val="183544"/>
                </a:solidFill>
                <a:latin typeface="Arial" pitchFamily="34" charset="0"/>
                <a:ea typeface="Arial" pitchFamily="34" charset="-122"/>
                <a:cs typeface="Arial" pitchFamily="34" charset="-120"/>
              </a:rPr>
              <a:t>changes and incorrect SKU mapping.</a:t>
            </a:r>
            <a:endParaRPr lang="en-US" sz="1260" dirty="0"/>
          </a:p>
          <a:p>
            <a:pPr indent="0" marL="0">
              <a:buNone/>
            </a:pPr>
            <a:r>
              <a:rPr lang="en-US" sz="1260" dirty="0">
                <a:solidFill>
                  <a:srgbClr val="183544"/>
                </a:solidFill>
                <a:latin typeface="Arial" pitchFamily="34" charset="0"/>
                <a:ea typeface="Arial" pitchFamily="34" charset="-122"/>
                <a:cs typeface="Arial" pitchFamily="34" charset="-120"/>
              </a:rPr>
              <a:t>Retain source lineage and retry alerts.</a:t>
            </a:r>
            <a:endParaRPr lang="en-US" sz="1260" dirty="0"/>
          </a:p>
        </p:txBody>
      </p:sp>
      <p:sp>
        <p:nvSpPr>
          <p:cNvPr id="37" name="Shape 34"/>
          <p:cNvSpPr/>
          <p:nvPr/>
        </p:nvSpPr>
        <p:spPr>
          <a:xfrm>
            <a:off x="4334256" y="4553712"/>
            <a:ext cx="36576" cy="1408176"/>
          </a:xfrm>
          <a:prstGeom prst="rect">
            <a:avLst>
              <a:gd name="adj" fmla="val 150000"/>
            </a:avLst>
          </a:prstGeom>
          <a:solidFill>
            <a:srgbClr val="008782"/>
          </a:solidFill>
          <a:ln w="10160">
            <a:solidFill>
              <a:srgbClr val="008782"/>
            </a:solidFill>
            <a:prstDash val="solid"/>
          </a:ln>
        </p:spPr>
      </p:sp>
      <p:sp>
        <p:nvSpPr>
          <p:cNvPr id="38" name="Text 35"/>
          <p:cNvSpPr/>
          <p:nvPr/>
        </p:nvSpPr>
        <p:spPr>
          <a:xfrm>
            <a:off x="4471416" y="4572000"/>
            <a:ext cx="3447288" cy="219456"/>
          </a:xfrm>
          <a:prstGeom prst="rect">
            <a:avLst/>
          </a:prstGeom>
          <a:noFill/>
          <a:ln/>
        </p:spPr>
        <p:txBody>
          <a:bodyPr wrap="square" lIns="0" tIns="0" rIns="0" bIns="0" rtlCol="0" anchor="t"/>
          <a:lstStyle/>
          <a:p>
            <a:pPr indent="0" marL="0">
              <a:buNone/>
            </a:pPr>
            <a:r>
              <a:rPr lang="en-US" sz="1170" b="1" dirty="0">
                <a:solidFill>
                  <a:srgbClr val="008782"/>
                </a:solidFill>
                <a:latin typeface="Arial" pitchFamily="34" charset="0"/>
                <a:ea typeface="Arial" pitchFamily="34" charset="-122"/>
                <a:cs typeface="Arial" pitchFamily="34" charset="-120"/>
              </a:rPr>
              <a:t>COSTS: QUOTE REQUIRED</a:t>
            </a:r>
            <a:endParaRPr lang="en-US" sz="1170" dirty="0"/>
          </a:p>
        </p:txBody>
      </p:sp>
      <p:sp>
        <p:nvSpPr>
          <p:cNvPr id="39" name="Text 36"/>
          <p:cNvSpPr/>
          <p:nvPr/>
        </p:nvSpPr>
        <p:spPr>
          <a:xfrm>
            <a:off x="4471416" y="4919472"/>
            <a:ext cx="3429000" cy="950976"/>
          </a:xfrm>
          <a:prstGeom prst="rect">
            <a:avLst/>
          </a:prstGeom>
          <a:noFill/>
          <a:ln/>
        </p:spPr>
        <p:txBody>
          <a:bodyPr wrap="square" lIns="0" tIns="0" rIns="0" bIns="0" rtlCol="0" anchor="t"/>
          <a:lstStyle/>
          <a:p>
            <a:pPr indent="0" marL="0">
              <a:buNone/>
            </a:pPr>
            <a:r>
              <a:rPr lang="en-US" sz="1260" dirty="0">
                <a:solidFill>
                  <a:srgbClr val="183544"/>
                </a:solidFill>
                <a:latin typeface="Arial" pitchFamily="34" charset="0"/>
                <a:ea typeface="Arial" pitchFamily="34" charset="-122"/>
                <a:cs typeface="Arial" pitchFamily="34" charset="-120"/>
              </a:rPr>
              <a:t>36-month total: AWS + field licences</a:t>
            </a:r>
            <a:endParaRPr lang="en-US" sz="1260" dirty="0"/>
          </a:p>
          <a:p>
            <a:pPr indent="0" marL="0">
              <a:buNone/>
            </a:pPr>
            <a:r>
              <a:rPr lang="en-US" sz="1260" dirty="0">
                <a:solidFill>
                  <a:srgbClr val="183544"/>
                </a:solidFill>
                <a:latin typeface="Arial" pitchFamily="34" charset="0"/>
                <a:ea typeface="Arial" pitchFamily="34" charset="-122"/>
                <a:cs typeface="Arial" pitchFamily="34" charset="-120"/>
              </a:rPr>
              <a:t>+ support + retailer feeds + migration</a:t>
            </a:r>
            <a:endParaRPr lang="en-US" sz="1260" dirty="0"/>
          </a:p>
          <a:p>
            <a:pPr indent="0" marL="0">
              <a:buNone/>
            </a:pPr>
            <a:r>
              <a:rPr lang="en-US" sz="1260" dirty="0">
                <a:solidFill>
                  <a:srgbClr val="183544"/>
                </a:solidFill>
                <a:latin typeface="Arial" pitchFamily="34" charset="0"/>
                <a:ea typeface="Arial" pitchFamily="34" charset="-122"/>
                <a:cs typeface="Arial" pitchFamily="34" charset="-120"/>
              </a:rPr>
              <a:t>+ AI, image recognition and WhatsApp.</a:t>
            </a:r>
            <a:endParaRPr lang="en-US" sz="1260" dirty="0"/>
          </a:p>
          <a:p>
            <a:pPr indent="0" marL="0">
              <a:buNone/>
            </a:pPr>
            <a:r>
              <a:rPr lang="en-US" sz="1260" dirty="0">
                <a:solidFill>
                  <a:srgbClr val="183544"/>
                </a:solidFill>
                <a:latin typeface="Arial" pitchFamily="34" charset="0"/>
                <a:ea typeface="Arial" pitchFamily="34" charset="-122"/>
                <a:cs typeface="Arial" pitchFamily="34" charset="-120"/>
              </a:rPr>
              <a:t>Track cost per field user / store visit.</a:t>
            </a:r>
            <a:endParaRPr lang="en-US" sz="1260" dirty="0"/>
          </a:p>
        </p:txBody>
      </p:sp>
      <p:sp>
        <p:nvSpPr>
          <p:cNvPr id="40" name="Shape 37"/>
          <p:cNvSpPr/>
          <p:nvPr/>
        </p:nvSpPr>
        <p:spPr>
          <a:xfrm>
            <a:off x="8193024" y="4553712"/>
            <a:ext cx="36576" cy="1408176"/>
          </a:xfrm>
          <a:prstGeom prst="rect">
            <a:avLst>
              <a:gd name="adj" fmla="val 150000"/>
            </a:avLst>
          </a:prstGeom>
          <a:solidFill>
            <a:srgbClr val="226B92"/>
          </a:solidFill>
          <a:ln w="10160">
            <a:solidFill>
              <a:srgbClr val="226B92"/>
            </a:solidFill>
            <a:prstDash val="solid"/>
          </a:ln>
        </p:spPr>
      </p:sp>
      <p:sp>
        <p:nvSpPr>
          <p:cNvPr id="41" name="Text 38"/>
          <p:cNvSpPr/>
          <p:nvPr/>
        </p:nvSpPr>
        <p:spPr>
          <a:xfrm>
            <a:off x="8330184" y="4572000"/>
            <a:ext cx="3383280" cy="219456"/>
          </a:xfrm>
          <a:prstGeom prst="rect">
            <a:avLst/>
          </a:prstGeom>
          <a:noFill/>
          <a:ln/>
        </p:spPr>
        <p:txBody>
          <a:bodyPr wrap="square" lIns="0" tIns="0" rIns="0" bIns="0" rtlCol="0" anchor="t"/>
          <a:lstStyle/>
          <a:p>
            <a:pPr indent="0" marL="0">
              <a:buNone/>
            </a:pPr>
            <a:r>
              <a:rPr lang="en-US" sz="1170" b="1" dirty="0">
                <a:solidFill>
                  <a:srgbClr val="226B92"/>
                </a:solidFill>
                <a:latin typeface="Arial" pitchFamily="34" charset="0"/>
                <a:ea typeface="Arial" pitchFamily="34" charset="-122"/>
                <a:cs typeface="Arial" pitchFamily="34" charset="-120"/>
              </a:rPr>
              <a:t>APPROVAL GATES</a:t>
            </a:r>
            <a:endParaRPr lang="en-US" sz="1170" dirty="0"/>
          </a:p>
        </p:txBody>
      </p:sp>
      <p:sp>
        <p:nvSpPr>
          <p:cNvPr id="42" name="Text 39"/>
          <p:cNvSpPr/>
          <p:nvPr/>
        </p:nvSpPr>
        <p:spPr>
          <a:xfrm>
            <a:off x="8330184" y="4919472"/>
            <a:ext cx="3364992" cy="950976"/>
          </a:xfrm>
          <a:prstGeom prst="rect">
            <a:avLst/>
          </a:prstGeom>
          <a:noFill/>
          <a:ln/>
        </p:spPr>
        <p:txBody>
          <a:bodyPr wrap="square" lIns="0" tIns="0" rIns="0" bIns="0" rtlCol="0" anchor="t"/>
          <a:lstStyle/>
          <a:p>
            <a:pPr indent="0" marL="0">
              <a:buNone/>
            </a:pPr>
            <a:r>
              <a:rPr lang="en-US" sz="1210" dirty="0">
                <a:solidFill>
                  <a:srgbClr val="183544"/>
                </a:solidFill>
                <a:latin typeface="Arial" pitchFamily="34" charset="0"/>
                <a:ea typeface="Arial" pitchFamily="34" charset="-122"/>
                <a:cs typeface="Arial" pitchFamily="34" charset="-120"/>
              </a:rPr>
              <a:t>1  Pilot Stock Fix; retain current service.</a:t>
            </a:r>
            <a:endParaRPr lang="en-US" sz="1210" dirty="0"/>
          </a:p>
          <a:p>
            <a:pPr indent="0" marL="0">
              <a:buNone/>
            </a:pPr>
            <a:r>
              <a:rPr lang="en-US" sz="1210" dirty="0">
                <a:solidFill>
                  <a:srgbClr val="183544"/>
                </a:solidFill>
                <a:latin typeface="Arial" pitchFamily="34" charset="0"/>
                <a:ea typeface="Arial" pitchFamily="34" charset="-122"/>
                <a:cs typeface="Arial" pitchFamily="34" charset="-120"/>
              </a:rPr>
              <a:t>2  Reconcile feeds and test recovery.</a:t>
            </a:r>
            <a:endParaRPr lang="en-US" sz="1210" dirty="0"/>
          </a:p>
          <a:p>
            <a:pPr indent="0" marL="0">
              <a:buNone/>
            </a:pPr>
            <a:r>
              <a:rPr lang="en-US" sz="1210" dirty="0">
                <a:solidFill>
                  <a:srgbClr val="183544"/>
                </a:solidFill>
                <a:latin typeface="Arial" pitchFamily="34" charset="0"/>
                <a:ea typeface="Arial" pitchFamily="34" charset="-122"/>
                <a:cs typeface="Arial" pitchFamily="34" charset="-120"/>
              </a:rPr>
              <a:t>3  Prove ordering, then AI / IR / WhatsApp.</a:t>
            </a:r>
            <a:endParaRPr lang="en-US" sz="1210" dirty="0"/>
          </a:p>
          <a:p>
            <a:pPr indent="0" marL="0">
              <a:buNone/>
            </a:pPr>
            <a:r>
              <a:rPr lang="en-US" sz="1210" dirty="0">
                <a:solidFill>
                  <a:srgbClr val="183544"/>
                </a:solidFill>
                <a:latin typeface="Arial" pitchFamily="34" charset="0"/>
                <a:ea typeface="Arial" pitchFamily="34" charset="-122"/>
                <a:cs typeface="Arial" pitchFamily="34" charset="-120"/>
              </a:rPr>
              <a:t>Replace Catalyst only after acceptance.</a:t>
            </a:r>
            <a:endParaRPr lang="en-US" sz="1210" dirty="0"/>
          </a:p>
        </p:txBody>
      </p:sp>
      <p:sp>
        <p:nvSpPr>
          <p:cNvPr id="43" name="Shape 40"/>
          <p:cNvSpPr/>
          <p:nvPr/>
        </p:nvSpPr>
        <p:spPr>
          <a:xfrm>
            <a:off x="457200" y="6016752"/>
            <a:ext cx="11283696" cy="374904"/>
          </a:xfrm>
          <a:prstGeom prst="rect">
            <a:avLst>
              <a:gd name="adj" fmla="val 14634"/>
            </a:avLst>
          </a:prstGeom>
          <a:solidFill>
            <a:srgbClr val="08253D"/>
          </a:solidFill>
          <a:ln w="10160">
            <a:solidFill>
              <a:srgbClr val="08253D"/>
            </a:solidFill>
            <a:prstDash val="solid"/>
          </a:ln>
        </p:spPr>
      </p:sp>
      <p:sp>
        <p:nvSpPr>
          <p:cNvPr id="44" name="Text 41"/>
          <p:cNvSpPr/>
          <p:nvPr/>
        </p:nvSpPr>
        <p:spPr>
          <a:xfrm>
            <a:off x="640080" y="6117336"/>
            <a:ext cx="10917936" cy="22860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Approve a scoped Geo Rep-managed AWS pilot, not an unconditional platform handover.</a:t>
            </a:r>
            <a:endParaRPr lang="en-US" sz="1300" dirty="0"/>
          </a:p>
        </p:txBody>
      </p:sp>
      <p:sp>
        <p:nvSpPr>
          <p:cNvPr id="45" name="Text 42">
            <a:hlinkClick r:id="rId2" tooltip=""/>
          </p:cNvPr>
          <p:cNvSpPr/>
          <p:nvPr/>
        </p:nvSpPr>
        <p:spPr>
          <a:xfrm>
            <a:off x="484632" y="6574536"/>
            <a:ext cx="9966960" cy="219456"/>
          </a:xfrm>
          <a:prstGeom prst="rect">
            <a:avLst/>
          </a:prstGeom>
          <a:noFill/>
          <a:ln/>
        </p:spPr>
        <p:txBody>
          <a:bodyPr wrap="square" lIns="0" tIns="0" rIns="0" bIns="0" rtlCol="0" anchor="t"/>
          <a:lstStyle/>
          <a:p>
            <a:pPr indent="0" marL="0">
              <a:buNone/>
            </a:pPr>
            <a:r>
              <a:rPr lang="en-US" sz="920" u="sng" dirty="0">
                <a:solidFill>
                  <a:srgbClr val="226B92"/>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AWS consumption is usage-priced [3]; supplier fees, volumes and an approved budget remain unconfirmed.</a:t>
            </a:r>
            <a:endParaRPr lang="en-US" sz="9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Meridian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Meridian Nexus | Field Operations Executive Brief</dc:title>
  <dc:subject>Field-first Nexus and Geo Rep-managed AWS hosting</dc:subject>
  <dc:creator>Meridian | Software and AI</dc:creator>
  <cp:lastModifiedBy>Meridian | Software and AI</cp:lastModifiedBy>
  <cp:revision>1</cp:revision>
  <dcterms:created xsi:type="dcterms:W3CDTF">2026-09-08T09:57:16Z</dcterms:created>
  <dcterms:modified xsi:type="dcterms:W3CDTF">2026-09-08T09:57:16Z</dcterms:modified>
</cp:coreProperties>
</file>